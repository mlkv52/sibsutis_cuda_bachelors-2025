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Lobster"/>
      <p:regular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obster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500526a9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g20500526a99_0_16:notes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20500526a99_0_16:notes"/>
          <p:cNvSpPr txBox="1"/>
          <p:nvPr>
            <p:ph idx="1" type="body"/>
          </p:nvPr>
        </p:nvSpPr>
        <p:spPr>
          <a:xfrm>
            <a:off x="685800" y="4343400"/>
            <a:ext cx="54831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df71f3c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1df71f3c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7e2c338c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7e2c338c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7efa478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d7efa478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7efa478d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d7efa478d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a1c366f9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3a1c366f9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ac454f2f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3ac454f2f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3ac454f2f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3ac454f2f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c90bf05c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3c90bf05c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3cde2555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3cde2555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d7efa478d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d7efa478d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282ffb135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282ffb135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af4f12777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af4f12777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3cde25551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3cde25551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3cde25551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3cde25551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3cde25551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3cde25551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3cde25551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3cde25551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3db9df10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3db9df10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3cde25551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3cde25551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3a1c366f9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3a1c366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3cde25551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3cde25551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3cde255515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3cde255515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6800" lIns="90000" spcFirstLastPara="1" rIns="90000" wrap="square" tIns="468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rtl="0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>
              <a:spcBef>
                <a:spcPts val="7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0C3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3A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6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63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jpg"/><Relationship Id="rId4" Type="http://schemas.openxmlformats.org/officeDocument/2006/relationships/image" Target="../media/image23.jp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435425" y="119269"/>
            <a:ext cx="839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Лекция 15</a:t>
            </a:r>
            <a:endParaRPr b="1" sz="3600"/>
          </a:p>
        </p:txBody>
      </p:sp>
      <p:sp>
        <p:nvSpPr>
          <p:cNvPr id="70" name="Google Shape;70;p16"/>
          <p:cNvSpPr txBox="1"/>
          <p:nvPr/>
        </p:nvSpPr>
        <p:spPr>
          <a:xfrm>
            <a:off x="181900" y="1270250"/>
            <a:ext cx="8857500" cy="3042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Использование GPU при </a:t>
            </a:r>
            <a:r>
              <a:rPr b="1" i="1" lang="en" sz="2600"/>
              <a:t>глубоком обучении</a:t>
            </a:r>
            <a:r>
              <a:rPr lang="en" sz="2600"/>
              <a:t>.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74650" lvl="0" marL="13716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600">
                <a:solidFill>
                  <a:schemeClr val="dk1"/>
                </a:solidFill>
              </a:rPr>
              <a:t>Нейросети и глубокое обучение</a:t>
            </a:r>
            <a:r>
              <a:rPr lang="en" sz="2600">
                <a:solidFill>
                  <a:schemeClr val="dk1"/>
                </a:solidFill>
              </a:rPr>
              <a:t>.</a:t>
            </a:r>
            <a:endParaRPr b="1" i="1"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7"/>
          <p:cNvGrpSpPr/>
          <p:nvPr/>
        </p:nvGrpSpPr>
        <p:grpSpPr>
          <a:xfrm>
            <a:off x="4872156" y="1176190"/>
            <a:ext cx="4148075" cy="3111056"/>
            <a:chOff x="4338756" y="1557190"/>
            <a:chExt cx="4148075" cy="3111056"/>
          </a:xfrm>
        </p:grpSpPr>
        <p:pic>
          <p:nvPicPr>
            <p:cNvPr id="76" name="Google Shape;76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8756" y="1557190"/>
              <a:ext cx="4148075" cy="3111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Google Shape;77;p17"/>
            <p:cNvSpPr/>
            <p:nvPr/>
          </p:nvSpPr>
          <p:spPr>
            <a:xfrm>
              <a:off x="6838975" y="4303775"/>
              <a:ext cx="512100" cy="324000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</a:t>
              </a:r>
              <a:endParaRPr/>
            </a:p>
          </p:txBody>
        </p:sp>
      </p:grpSp>
      <p:sp>
        <p:nvSpPr>
          <p:cNvPr id="78" name="Google Shape;78;p17"/>
          <p:cNvSpPr txBox="1"/>
          <p:nvPr/>
        </p:nvSpPr>
        <p:spPr>
          <a:xfrm>
            <a:off x="990600" y="178828"/>
            <a:ext cx="7086600" cy="6948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Искусственные нейроны.</a:t>
            </a:r>
            <a:endParaRPr b="1" sz="22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700"/>
              <a:t>Перцептроны</a:t>
            </a:r>
            <a:r>
              <a:rPr b="1" lang="en" sz="1700"/>
              <a:t> и вентили. Логистические нейроны.</a:t>
            </a:r>
            <a:endParaRPr b="1" sz="1700"/>
          </a:p>
        </p:txBody>
      </p:sp>
      <p:sp>
        <p:nvSpPr>
          <p:cNvPr id="79" name="Google Shape;79;p17"/>
          <p:cNvSpPr txBox="1"/>
          <p:nvPr/>
        </p:nvSpPr>
        <p:spPr>
          <a:xfrm>
            <a:off x="4869650" y="4431500"/>
            <a:ext cx="4148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/>
              <a:t>Функция активации: </a:t>
            </a:r>
            <a:r>
              <a:rPr lang="en" sz="2400">
                <a:solidFill>
                  <a:schemeClr val="dk1"/>
                </a:solidFill>
                <a:latin typeface="Lobster"/>
                <a:ea typeface="Lobster"/>
                <a:cs typeface="Lobster"/>
                <a:sym typeface="Lobster"/>
              </a:rPr>
              <a:t>a(z)</a:t>
            </a:r>
            <a:r>
              <a:rPr i="1" lang="en" sz="1900"/>
              <a:t> </a:t>
            </a:r>
            <a:endParaRPr i="1" sz="1900"/>
          </a:p>
        </p:txBody>
      </p:sp>
      <p:grpSp>
        <p:nvGrpSpPr>
          <p:cNvPr id="80" name="Google Shape;80;p17"/>
          <p:cNvGrpSpPr/>
          <p:nvPr/>
        </p:nvGrpSpPr>
        <p:grpSpPr>
          <a:xfrm>
            <a:off x="457225" y="1821488"/>
            <a:ext cx="3828900" cy="3083163"/>
            <a:chOff x="457225" y="1821488"/>
            <a:chExt cx="3828900" cy="3083163"/>
          </a:xfrm>
        </p:grpSpPr>
        <p:cxnSp>
          <p:nvCxnSpPr>
            <p:cNvPr id="81" name="Google Shape;81;p17"/>
            <p:cNvCxnSpPr/>
            <p:nvPr/>
          </p:nvCxnSpPr>
          <p:spPr>
            <a:xfrm flipH="1" rot="10800000">
              <a:off x="3238525" y="2974275"/>
              <a:ext cx="1047600" cy="3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2" name="Google Shape;82;p17"/>
            <p:cNvSpPr/>
            <p:nvPr/>
          </p:nvSpPr>
          <p:spPr>
            <a:xfrm>
              <a:off x="2166925" y="2445525"/>
              <a:ext cx="1071600" cy="1035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3" name="Google Shape;83;p17"/>
            <p:cNvCxnSpPr>
              <a:stCxn id="84" idx="3"/>
            </p:cNvCxnSpPr>
            <p:nvPr/>
          </p:nvCxnSpPr>
          <p:spPr>
            <a:xfrm>
              <a:off x="873925" y="2195475"/>
              <a:ext cx="1373700" cy="477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5" name="Google Shape;85;p17"/>
            <p:cNvCxnSpPr/>
            <p:nvPr/>
          </p:nvCxnSpPr>
          <p:spPr>
            <a:xfrm>
              <a:off x="1012031" y="3040850"/>
              <a:ext cx="1200000" cy="135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6" name="Google Shape;86;p17"/>
            <p:cNvCxnSpPr>
              <a:endCxn id="82" idx="3"/>
            </p:cNvCxnSpPr>
            <p:nvPr/>
          </p:nvCxnSpPr>
          <p:spPr>
            <a:xfrm flipH="1" rot="10800000">
              <a:off x="1083357" y="3329721"/>
              <a:ext cx="1240500" cy="6042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4" name="Google Shape;84;p17"/>
            <p:cNvSpPr txBox="1"/>
            <p:nvPr/>
          </p:nvSpPr>
          <p:spPr>
            <a:xfrm>
              <a:off x="457225" y="1945425"/>
              <a:ext cx="4167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r>
                <a:rPr baseline="-25000" lang="en" sz="1800"/>
                <a:t>1</a:t>
              </a:r>
              <a:endParaRPr baseline="-25000" sz="1800"/>
            </a:p>
          </p:txBody>
        </p:sp>
        <p:sp>
          <p:nvSpPr>
            <p:cNvPr id="87" name="Google Shape;87;p17"/>
            <p:cNvSpPr txBox="1"/>
            <p:nvPr/>
          </p:nvSpPr>
          <p:spPr>
            <a:xfrm>
              <a:off x="490575" y="2797550"/>
              <a:ext cx="4167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r>
                <a:rPr baseline="-25000" lang="en" sz="1800"/>
                <a:t>2</a:t>
              </a:r>
              <a:endParaRPr baseline="-25000" sz="1800"/>
            </a:p>
          </p:txBody>
        </p:sp>
        <p:sp>
          <p:nvSpPr>
            <p:cNvPr id="88" name="Google Shape;88;p17"/>
            <p:cNvSpPr txBox="1"/>
            <p:nvPr/>
          </p:nvSpPr>
          <p:spPr>
            <a:xfrm>
              <a:off x="542950" y="3762375"/>
              <a:ext cx="4167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r>
                <a:rPr baseline="-25000" lang="en" sz="1800"/>
                <a:t>3</a:t>
              </a:r>
              <a:endParaRPr baseline="-25000" sz="1800"/>
            </a:p>
          </p:txBody>
        </p:sp>
        <p:sp>
          <p:nvSpPr>
            <p:cNvPr id="89" name="Google Shape;89;p17"/>
            <p:cNvSpPr txBox="1"/>
            <p:nvPr/>
          </p:nvSpPr>
          <p:spPr>
            <a:xfrm>
              <a:off x="1281050" y="1821488"/>
              <a:ext cx="5121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1</a:t>
              </a:r>
              <a:endParaRPr baseline="-25000" sz="1800"/>
            </a:p>
          </p:txBody>
        </p:sp>
        <p:sp>
          <p:nvSpPr>
            <p:cNvPr id="90" name="Google Shape;90;p17"/>
            <p:cNvSpPr txBox="1"/>
            <p:nvPr/>
          </p:nvSpPr>
          <p:spPr>
            <a:xfrm>
              <a:off x="1281050" y="2583650"/>
              <a:ext cx="5121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2</a:t>
              </a:r>
              <a:endParaRPr baseline="-25000" sz="1800"/>
            </a:p>
          </p:txBody>
        </p:sp>
        <p:sp>
          <p:nvSpPr>
            <p:cNvPr id="91" name="Google Shape;91;p17"/>
            <p:cNvSpPr txBox="1"/>
            <p:nvPr/>
          </p:nvSpPr>
          <p:spPr>
            <a:xfrm>
              <a:off x="1278325" y="3226075"/>
              <a:ext cx="5121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3</a:t>
              </a:r>
              <a:endParaRPr baseline="-25000" sz="1800"/>
            </a:p>
          </p:txBody>
        </p:sp>
        <p:sp>
          <p:nvSpPr>
            <p:cNvPr id="92" name="Google Shape;92;p17"/>
            <p:cNvSpPr txBox="1"/>
            <p:nvPr/>
          </p:nvSpPr>
          <p:spPr>
            <a:xfrm>
              <a:off x="2555088" y="2774144"/>
              <a:ext cx="345300" cy="43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T</a:t>
              </a:r>
              <a:endParaRPr sz="1800"/>
            </a:p>
          </p:txBody>
        </p:sp>
        <p:sp>
          <p:nvSpPr>
            <p:cNvPr id="93" name="Google Shape;93;p17"/>
            <p:cNvSpPr txBox="1"/>
            <p:nvPr/>
          </p:nvSpPr>
          <p:spPr>
            <a:xfrm>
              <a:off x="3464725" y="2428875"/>
              <a:ext cx="416700" cy="60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latin typeface="Lobster"/>
                  <a:ea typeface="Lobster"/>
                  <a:cs typeface="Lobster"/>
                  <a:sym typeface="Lobster"/>
                </a:rPr>
                <a:t>a</a:t>
              </a:r>
              <a:endParaRPr sz="2700">
                <a:latin typeface="Lobster"/>
                <a:ea typeface="Lobster"/>
                <a:cs typeface="Lobster"/>
                <a:sym typeface="Lobster"/>
              </a:endParaRPr>
            </a:p>
          </p:txBody>
        </p:sp>
        <p:sp>
          <p:nvSpPr>
            <p:cNvPr id="94" name="Google Shape;94;p17"/>
            <p:cNvSpPr txBox="1"/>
            <p:nvPr/>
          </p:nvSpPr>
          <p:spPr>
            <a:xfrm>
              <a:off x="1595450" y="4426750"/>
              <a:ext cx="2631300" cy="4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z=x</a:t>
              </a:r>
              <a:r>
                <a:rPr baseline="-25000" lang="en" sz="1800"/>
                <a:t>1</a:t>
              </a:r>
              <a:r>
                <a:rPr lang="en" sz="1800"/>
                <a:t>w</a:t>
              </a:r>
              <a:r>
                <a:rPr baseline="-25000" lang="en" sz="1800"/>
                <a:t>1</a:t>
              </a:r>
              <a:r>
                <a:rPr lang="en" sz="1800"/>
                <a:t>+ x</a:t>
              </a:r>
              <a:r>
                <a:rPr baseline="-25000" lang="en" sz="1800"/>
                <a:t> 2</a:t>
              </a:r>
              <a:r>
                <a:rPr lang="en" sz="1800"/>
                <a:t>w</a:t>
              </a:r>
              <a:r>
                <a:rPr baseline="-25000" lang="en" sz="1800"/>
                <a:t>2 </a:t>
              </a:r>
              <a:r>
                <a:rPr lang="en" sz="1800"/>
                <a:t>+ </a:t>
              </a:r>
              <a:r>
                <a:rPr lang="en" sz="1800">
                  <a:solidFill>
                    <a:schemeClr val="dk1"/>
                  </a:solidFill>
                </a:rPr>
                <a:t>x</a:t>
              </a:r>
              <a:r>
                <a:rPr baseline="-25000" lang="en" sz="1800">
                  <a:solidFill>
                    <a:schemeClr val="dk1"/>
                  </a:solidFill>
                </a:rPr>
                <a:t> 2</a:t>
              </a:r>
              <a:r>
                <a:rPr lang="en" sz="1800">
                  <a:solidFill>
                    <a:schemeClr val="dk1"/>
                  </a:solidFill>
                </a:rPr>
                <a:t>w</a:t>
              </a:r>
              <a:r>
                <a:rPr baseline="-25000" lang="en" sz="1800">
                  <a:solidFill>
                    <a:schemeClr val="dk1"/>
                  </a:solidFill>
                </a:rPr>
                <a:t>2 </a:t>
              </a:r>
              <a:endParaRPr baseline="-25000" sz="1800"/>
            </a:p>
          </p:txBody>
        </p:sp>
        <p:sp>
          <p:nvSpPr>
            <p:cNvPr id="95" name="Google Shape;95;p17"/>
            <p:cNvSpPr txBox="1"/>
            <p:nvPr/>
          </p:nvSpPr>
          <p:spPr>
            <a:xfrm>
              <a:off x="1600225" y="4002825"/>
              <a:ext cx="20313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r>
                <a:rPr baseline="-25000" lang="en" sz="1800"/>
                <a:t>1</a:t>
              </a:r>
              <a:r>
                <a:rPr lang="en" sz="1800"/>
                <a:t>, </a:t>
              </a:r>
              <a:r>
                <a:rPr lang="en" sz="1800">
                  <a:solidFill>
                    <a:schemeClr val="dk1"/>
                  </a:solidFill>
                </a:rPr>
                <a:t>X</a:t>
              </a:r>
              <a:r>
                <a:rPr baseline="-25000" lang="en" sz="1800">
                  <a:solidFill>
                    <a:schemeClr val="dk1"/>
                  </a:solidFill>
                </a:rPr>
                <a:t>2</a:t>
              </a:r>
              <a:r>
                <a:rPr lang="en" sz="1800"/>
                <a:t>, </a:t>
              </a:r>
              <a:r>
                <a:rPr baseline="-25000" lang="en" sz="1800">
                  <a:solidFill>
                    <a:schemeClr val="dk1"/>
                  </a:solidFill>
                </a:rPr>
                <a:t> </a:t>
              </a:r>
              <a:r>
                <a:rPr lang="en" sz="1800">
                  <a:solidFill>
                    <a:schemeClr val="dk1"/>
                  </a:solidFill>
                </a:rPr>
                <a:t>X</a:t>
              </a:r>
              <a:r>
                <a:rPr baseline="-25000" lang="en" sz="1800">
                  <a:solidFill>
                    <a:schemeClr val="dk1"/>
                  </a:solidFill>
                </a:rPr>
                <a:t>3 </a:t>
              </a:r>
              <a:r>
                <a:rPr lang="en" sz="1800"/>
                <a:t>∈ </a:t>
              </a:r>
              <a:r>
                <a:rPr i="1" lang="en" sz="1800"/>
                <a:t>Z</a:t>
              </a:r>
              <a:r>
                <a:rPr baseline="-25000" lang="en" sz="1800">
                  <a:solidFill>
                    <a:schemeClr val="dk1"/>
                  </a:solidFill>
                </a:rPr>
                <a:t> </a:t>
              </a:r>
              <a:r>
                <a:rPr lang="en" sz="1800"/>
                <a:t> </a:t>
              </a:r>
              <a:endParaRPr baseline="-25000" sz="18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5400" y="533400"/>
            <a:ext cx="3657600" cy="274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18"/>
          <p:cNvCxnSpPr/>
          <p:nvPr/>
        </p:nvCxnSpPr>
        <p:spPr>
          <a:xfrm flipH="1" rot="10800000">
            <a:off x="3238525" y="1907475"/>
            <a:ext cx="1047600" cy="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8"/>
          <p:cNvSpPr/>
          <p:nvPr/>
        </p:nvSpPr>
        <p:spPr>
          <a:xfrm>
            <a:off x="2166925" y="1378725"/>
            <a:ext cx="1071600" cy="10359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" name="Google Shape;103;p18"/>
          <p:cNvCxnSpPr>
            <a:stCxn id="104" idx="3"/>
          </p:cNvCxnSpPr>
          <p:nvPr/>
        </p:nvCxnSpPr>
        <p:spPr>
          <a:xfrm>
            <a:off x="873925" y="1128675"/>
            <a:ext cx="1373700" cy="477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8"/>
          <p:cNvCxnSpPr/>
          <p:nvPr/>
        </p:nvCxnSpPr>
        <p:spPr>
          <a:xfrm>
            <a:off x="1012031" y="1974050"/>
            <a:ext cx="1200000" cy="1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8"/>
          <p:cNvCxnSpPr>
            <a:endCxn id="102" idx="3"/>
          </p:cNvCxnSpPr>
          <p:nvPr/>
        </p:nvCxnSpPr>
        <p:spPr>
          <a:xfrm flipH="1" rot="10800000">
            <a:off x="1083357" y="2262921"/>
            <a:ext cx="1240500" cy="60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8"/>
          <p:cNvSpPr txBox="1"/>
          <p:nvPr/>
        </p:nvSpPr>
        <p:spPr>
          <a:xfrm>
            <a:off x="457225" y="878625"/>
            <a:ext cx="416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r>
              <a:rPr baseline="-25000" lang="en" sz="1800"/>
              <a:t>1</a:t>
            </a:r>
            <a:endParaRPr baseline="-25000" sz="1800"/>
          </a:p>
        </p:txBody>
      </p:sp>
      <p:sp>
        <p:nvSpPr>
          <p:cNvPr id="107" name="Google Shape;107;p18"/>
          <p:cNvSpPr txBox="1"/>
          <p:nvPr/>
        </p:nvSpPr>
        <p:spPr>
          <a:xfrm>
            <a:off x="490575" y="1730750"/>
            <a:ext cx="416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r>
              <a:rPr baseline="-25000" lang="en" sz="1800"/>
              <a:t>2</a:t>
            </a:r>
            <a:endParaRPr baseline="-25000" sz="1800"/>
          </a:p>
        </p:txBody>
      </p:sp>
      <p:sp>
        <p:nvSpPr>
          <p:cNvPr id="108" name="Google Shape;108;p18"/>
          <p:cNvSpPr txBox="1"/>
          <p:nvPr/>
        </p:nvSpPr>
        <p:spPr>
          <a:xfrm>
            <a:off x="542950" y="2695575"/>
            <a:ext cx="416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r>
              <a:rPr baseline="-25000" lang="en" sz="1800"/>
              <a:t>3</a:t>
            </a:r>
            <a:endParaRPr baseline="-25000" sz="1800"/>
          </a:p>
        </p:txBody>
      </p:sp>
      <p:sp>
        <p:nvSpPr>
          <p:cNvPr id="109" name="Google Shape;109;p18"/>
          <p:cNvSpPr txBox="1"/>
          <p:nvPr/>
        </p:nvSpPr>
        <p:spPr>
          <a:xfrm>
            <a:off x="1281050" y="754688"/>
            <a:ext cx="512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</a:t>
            </a:r>
            <a:r>
              <a:rPr baseline="-25000" lang="en" sz="1800"/>
              <a:t>1</a:t>
            </a:r>
            <a:endParaRPr baseline="-25000" sz="1800"/>
          </a:p>
        </p:txBody>
      </p:sp>
      <p:sp>
        <p:nvSpPr>
          <p:cNvPr id="110" name="Google Shape;110;p18"/>
          <p:cNvSpPr txBox="1"/>
          <p:nvPr/>
        </p:nvSpPr>
        <p:spPr>
          <a:xfrm>
            <a:off x="1281050" y="1516850"/>
            <a:ext cx="512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</a:t>
            </a:r>
            <a:r>
              <a:rPr baseline="-25000" lang="en" sz="1800"/>
              <a:t>2</a:t>
            </a:r>
            <a:endParaRPr baseline="-25000" sz="1800"/>
          </a:p>
        </p:txBody>
      </p:sp>
      <p:sp>
        <p:nvSpPr>
          <p:cNvPr id="111" name="Google Shape;111;p18"/>
          <p:cNvSpPr txBox="1"/>
          <p:nvPr/>
        </p:nvSpPr>
        <p:spPr>
          <a:xfrm>
            <a:off x="1278325" y="2159275"/>
            <a:ext cx="512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</a:t>
            </a:r>
            <a:r>
              <a:rPr baseline="-25000" lang="en" sz="1800"/>
              <a:t>3</a:t>
            </a:r>
            <a:endParaRPr baseline="-25000" sz="1800"/>
          </a:p>
        </p:txBody>
      </p:sp>
      <p:sp>
        <p:nvSpPr>
          <p:cNvPr id="112" name="Google Shape;112;p18"/>
          <p:cNvSpPr txBox="1"/>
          <p:nvPr/>
        </p:nvSpPr>
        <p:spPr>
          <a:xfrm>
            <a:off x="2555088" y="1707344"/>
            <a:ext cx="345300" cy="4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b</a:t>
            </a:r>
            <a:endParaRPr sz="1800"/>
          </a:p>
        </p:txBody>
      </p:sp>
      <p:sp>
        <p:nvSpPr>
          <p:cNvPr id="113" name="Google Shape;113;p18"/>
          <p:cNvSpPr txBox="1"/>
          <p:nvPr/>
        </p:nvSpPr>
        <p:spPr>
          <a:xfrm>
            <a:off x="3464725" y="1362075"/>
            <a:ext cx="4167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Lobster"/>
                <a:ea typeface="Lobster"/>
                <a:cs typeface="Lobster"/>
                <a:sym typeface="Lobster"/>
              </a:rPr>
              <a:t>a</a:t>
            </a:r>
            <a:endParaRPr sz="2700"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1595450" y="3359950"/>
            <a:ext cx="3226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z=x</a:t>
            </a:r>
            <a:r>
              <a:rPr baseline="-25000" lang="en" sz="2200"/>
              <a:t>1</a:t>
            </a:r>
            <a:r>
              <a:rPr lang="en" sz="2200"/>
              <a:t>w</a:t>
            </a:r>
            <a:r>
              <a:rPr baseline="-25000" lang="en" sz="2200"/>
              <a:t>1</a:t>
            </a:r>
            <a:r>
              <a:rPr lang="en" sz="2200"/>
              <a:t>+ x</a:t>
            </a:r>
            <a:r>
              <a:rPr baseline="-25000" lang="en" sz="2200"/>
              <a:t> 2</a:t>
            </a:r>
            <a:r>
              <a:rPr lang="en" sz="2200"/>
              <a:t>w</a:t>
            </a:r>
            <a:r>
              <a:rPr baseline="-25000" lang="en" sz="2200"/>
              <a:t>2 </a:t>
            </a:r>
            <a:r>
              <a:rPr lang="en" sz="2200"/>
              <a:t>+ </a:t>
            </a:r>
            <a:r>
              <a:rPr lang="en" sz="2200">
                <a:solidFill>
                  <a:schemeClr val="dk1"/>
                </a:solidFill>
              </a:rPr>
              <a:t>x</a:t>
            </a:r>
            <a:r>
              <a:rPr baseline="-25000" lang="en" sz="2200">
                <a:solidFill>
                  <a:schemeClr val="dk1"/>
                </a:solidFill>
              </a:rPr>
              <a:t> 2</a:t>
            </a:r>
            <a:r>
              <a:rPr lang="en" sz="2200">
                <a:solidFill>
                  <a:schemeClr val="dk1"/>
                </a:solidFill>
              </a:rPr>
              <a:t>w</a:t>
            </a:r>
            <a:r>
              <a:rPr baseline="-25000" lang="en" sz="2200">
                <a:solidFill>
                  <a:schemeClr val="dk1"/>
                </a:solidFill>
              </a:rPr>
              <a:t>2</a:t>
            </a:r>
            <a:r>
              <a:rPr lang="en" sz="2200"/>
              <a:t>+ b</a:t>
            </a:r>
            <a:r>
              <a:rPr baseline="-25000" lang="en" sz="2200">
                <a:solidFill>
                  <a:schemeClr val="dk1"/>
                </a:solidFill>
              </a:rPr>
              <a:t> </a:t>
            </a:r>
            <a:endParaRPr baseline="-25000" sz="2200"/>
          </a:p>
        </p:txBody>
      </p:sp>
      <p:sp>
        <p:nvSpPr>
          <p:cNvPr id="115" name="Google Shape;115;p18"/>
          <p:cNvSpPr txBox="1"/>
          <p:nvPr/>
        </p:nvSpPr>
        <p:spPr>
          <a:xfrm>
            <a:off x="1600225" y="2936025"/>
            <a:ext cx="2031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r>
              <a:rPr baseline="-25000" lang="en" sz="1800"/>
              <a:t>1</a:t>
            </a:r>
            <a:r>
              <a:rPr lang="en" sz="1800"/>
              <a:t>, </a:t>
            </a:r>
            <a:r>
              <a:rPr lang="en" sz="1800">
                <a:solidFill>
                  <a:schemeClr val="dk1"/>
                </a:solidFill>
              </a:rPr>
              <a:t>X</a:t>
            </a:r>
            <a:r>
              <a:rPr baseline="-25000" lang="en" sz="1800">
                <a:solidFill>
                  <a:schemeClr val="dk1"/>
                </a:solidFill>
              </a:rPr>
              <a:t>2</a:t>
            </a:r>
            <a:r>
              <a:rPr lang="en" sz="1800"/>
              <a:t>, </a:t>
            </a:r>
            <a:r>
              <a:rPr baseline="-25000" lang="en" sz="1800">
                <a:solidFill>
                  <a:schemeClr val="dk1"/>
                </a:solidFill>
              </a:rPr>
              <a:t> </a:t>
            </a:r>
            <a:r>
              <a:rPr lang="en" sz="1800">
                <a:solidFill>
                  <a:schemeClr val="dk1"/>
                </a:solidFill>
              </a:rPr>
              <a:t>X</a:t>
            </a:r>
            <a:r>
              <a:rPr baseline="-25000" lang="en" sz="1800">
                <a:solidFill>
                  <a:schemeClr val="dk1"/>
                </a:solidFill>
              </a:rPr>
              <a:t>3 </a:t>
            </a:r>
            <a:r>
              <a:rPr lang="en" sz="1800"/>
              <a:t>∈ </a:t>
            </a:r>
            <a:r>
              <a:rPr i="1" lang="en" sz="2400"/>
              <a:t>R</a:t>
            </a:r>
            <a:r>
              <a:rPr baseline="-25000" lang="en" sz="1800">
                <a:solidFill>
                  <a:schemeClr val="dk1"/>
                </a:solidFill>
              </a:rPr>
              <a:t> </a:t>
            </a:r>
            <a:r>
              <a:rPr lang="en" sz="1800"/>
              <a:t> </a:t>
            </a:r>
            <a:endParaRPr baseline="-25000" sz="1800"/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800" y="3614025"/>
            <a:ext cx="2743200" cy="587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990600" y="178828"/>
            <a:ext cx="70866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Нейронные сети: веса, смещения, слои.</a:t>
            </a:r>
            <a:endParaRPr b="1" sz="1700"/>
          </a:p>
        </p:txBody>
      </p:sp>
      <p:grpSp>
        <p:nvGrpSpPr>
          <p:cNvPr id="122" name="Google Shape;122;p19"/>
          <p:cNvGrpSpPr/>
          <p:nvPr/>
        </p:nvGrpSpPr>
        <p:grpSpPr>
          <a:xfrm>
            <a:off x="349500" y="1303325"/>
            <a:ext cx="5381025" cy="3399675"/>
            <a:chOff x="349500" y="1227125"/>
            <a:chExt cx="5381025" cy="3399675"/>
          </a:xfrm>
        </p:grpSpPr>
        <p:sp>
          <p:nvSpPr>
            <p:cNvPr id="123" name="Google Shape;123;p19"/>
            <p:cNvSpPr/>
            <p:nvPr/>
          </p:nvSpPr>
          <p:spPr>
            <a:xfrm>
              <a:off x="349500" y="1561250"/>
              <a:ext cx="582600" cy="5370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r>
                <a:rPr baseline="-25000" lang="en" sz="1800"/>
                <a:t>1</a:t>
              </a:r>
              <a:endParaRPr baseline="-25000" sz="1800"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377905" y="2317521"/>
              <a:ext cx="582600" cy="5370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r>
                <a:rPr baseline="-25000" lang="en" sz="1800"/>
                <a:t>2</a:t>
              </a:r>
              <a:endParaRPr baseline="-25000" sz="1800"/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405577" y="3100092"/>
              <a:ext cx="582600" cy="5370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r>
                <a:rPr baseline="-25000" lang="en" sz="1800"/>
                <a:t>3</a:t>
              </a:r>
              <a:endParaRPr baseline="-25000" sz="1800"/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415543" y="3924596"/>
              <a:ext cx="582600" cy="5370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x</a:t>
              </a:r>
              <a:r>
                <a:rPr baseline="-25000" lang="en" sz="1800"/>
                <a:t>4</a:t>
              </a:r>
              <a:endParaRPr baseline="-25000" sz="1800"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4116525" y="1322900"/>
              <a:ext cx="794700" cy="7131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r>
                <a:rPr baseline="-25000" lang="en" sz="1800"/>
                <a:t>1</a:t>
              </a:r>
              <a:r>
                <a:rPr baseline="30000" lang="en" sz="1800"/>
                <a:t>2</a:t>
              </a:r>
              <a:endParaRPr baseline="-25000" sz="1800"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4234549" y="2694500"/>
              <a:ext cx="794700" cy="7131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r>
                <a:rPr baseline="-25000" lang="en" sz="1800"/>
                <a:t>2</a:t>
              </a:r>
              <a:r>
                <a:rPr baseline="30000" lang="en" sz="1800"/>
                <a:t>2</a:t>
              </a:r>
              <a:endParaRPr baseline="-25000" sz="1800"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4268925" y="3913700"/>
              <a:ext cx="794700" cy="7131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r>
                <a:rPr baseline="-25000" lang="en" sz="1800"/>
                <a:t>3</a:t>
              </a:r>
              <a:r>
                <a:rPr baseline="30000" lang="en" sz="1800"/>
                <a:t>2</a:t>
              </a:r>
              <a:endParaRPr baseline="-25000" sz="1800"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1906725" y="1932500"/>
              <a:ext cx="794700" cy="7131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r>
                <a:rPr baseline="-25000" lang="en" sz="1800"/>
                <a:t>1</a:t>
              </a:r>
              <a:r>
                <a:rPr baseline="30000" lang="en" sz="1800"/>
                <a:t>1</a:t>
              </a:r>
              <a:endParaRPr baseline="-25000" sz="1800"/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1948549" y="3304100"/>
              <a:ext cx="794700" cy="7131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b</a:t>
              </a:r>
              <a:r>
                <a:rPr baseline="-25000" lang="en" sz="1800"/>
                <a:t>2</a:t>
              </a:r>
              <a:r>
                <a:rPr baseline="30000" lang="en" sz="1800"/>
                <a:t>1</a:t>
              </a:r>
              <a:endParaRPr baseline="-25000" sz="1800"/>
            </a:p>
          </p:txBody>
        </p:sp>
        <p:cxnSp>
          <p:nvCxnSpPr>
            <p:cNvPr id="132" name="Google Shape;132;p19"/>
            <p:cNvCxnSpPr>
              <a:stCxn id="123" idx="3"/>
              <a:endCxn id="130" idx="1"/>
            </p:cNvCxnSpPr>
            <p:nvPr/>
          </p:nvCxnSpPr>
          <p:spPr>
            <a:xfrm>
              <a:off x="932100" y="1829750"/>
              <a:ext cx="1091100" cy="207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3" name="Google Shape;133;p19"/>
            <p:cNvCxnSpPr>
              <a:stCxn id="123" idx="3"/>
              <a:endCxn id="131" idx="0"/>
            </p:cNvCxnSpPr>
            <p:nvPr/>
          </p:nvCxnSpPr>
          <p:spPr>
            <a:xfrm>
              <a:off x="932100" y="1829750"/>
              <a:ext cx="1413900" cy="147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4" name="Google Shape;134;p19"/>
            <p:cNvCxnSpPr>
              <a:stCxn id="124" idx="3"/>
              <a:endCxn id="130" idx="2"/>
            </p:cNvCxnSpPr>
            <p:nvPr/>
          </p:nvCxnSpPr>
          <p:spPr>
            <a:xfrm flipH="1" rot="10800000">
              <a:off x="960505" y="2289021"/>
              <a:ext cx="946200" cy="297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5" name="Google Shape;135;p19"/>
            <p:cNvCxnSpPr>
              <a:stCxn id="124" idx="3"/>
              <a:endCxn id="131" idx="1"/>
            </p:cNvCxnSpPr>
            <p:nvPr/>
          </p:nvCxnSpPr>
          <p:spPr>
            <a:xfrm>
              <a:off x="960505" y="2586021"/>
              <a:ext cx="1104300" cy="82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6" name="Google Shape;136;p19"/>
            <p:cNvCxnSpPr>
              <a:stCxn id="125" idx="3"/>
              <a:endCxn id="130" idx="3"/>
            </p:cNvCxnSpPr>
            <p:nvPr/>
          </p:nvCxnSpPr>
          <p:spPr>
            <a:xfrm flipH="1" rot="10800000">
              <a:off x="988177" y="2541192"/>
              <a:ext cx="1035000" cy="82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7" name="Google Shape;137;p19"/>
            <p:cNvCxnSpPr>
              <a:stCxn id="125" idx="3"/>
              <a:endCxn id="131" idx="2"/>
            </p:cNvCxnSpPr>
            <p:nvPr/>
          </p:nvCxnSpPr>
          <p:spPr>
            <a:xfrm>
              <a:off x="988177" y="3368592"/>
              <a:ext cx="960300" cy="29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8" name="Google Shape;138;p19"/>
            <p:cNvCxnSpPr>
              <a:stCxn id="126" idx="3"/>
              <a:endCxn id="130" idx="4"/>
            </p:cNvCxnSpPr>
            <p:nvPr/>
          </p:nvCxnSpPr>
          <p:spPr>
            <a:xfrm flipH="1" rot="10800000">
              <a:off x="998143" y="2645696"/>
              <a:ext cx="1305900" cy="154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9" name="Google Shape;139;p19"/>
            <p:cNvCxnSpPr>
              <a:stCxn id="126" idx="3"/>
              <a:endCxn id="131" idx="3"/>
            </p:cNvCxnSpPr>
            <p:nvPr/>
          </p:nvCxnSpPr>
          <p:spPr>
            <a:xfrm flipH="1" rot="10800000">
              <a:off x="998143" y="3912896"/>
              <a:ext cx="1066800" cy="280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0" name="Google Shape;140;p19"/>
            <p:cNvCxnSpPr>
              <a:stCxn id="130" idx="6"/>
              <a:endCxn id="127" idx="2"/>
            </p:cNvCxnSpPr>
            <p:nvPr/>
          </p:nvCxnSpPr>
          <p:spPr>
            <a:xfrm flipH="1" rot="10800000">
              <a:off x="2701425" y="1679450"/>
              <a:ext cx="14151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1" name="Google Shape;141;p19"/>
            <p:cNvCxnSpPr>
              <a:stCxn id="130" idx="6"/>
              <a:endCxn id="128" idx="1"/>
            </p:cNvCxnSpPr>
            <p:nvPr/>
          </p:nvCxnSpPr>
          <p:spPr>
            <a:xfrm>
              <a:off x="2701425" y="2289050"/>
              <a:ext cx="1649400" cy="51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2" name="Google Shape;142;p19"/>
            <p:cNvCxnSpPr>
              <a:stCxn id="130" idx="6"/>
              <a:endCxn id="129" idx="1"/>
            </p:cNvCxnSpPr>
            <p:nvPr/>
          </p:nvCxnSpPr>
          <p:spPr>
            <a:xfrm>
              <a:off x="2701425" y="2289050"/>
              <a:ext cx="1683900" cy="172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3" name="Google Shape;143;p19"/>
            <p:cNvCxnSpPr>
              <a:stCxn id="131" idx="7"/>
              <a:endCxn id="127" idx="3"/>
            </p:cNvCxnSpPr>
            <p:nvPr/>
          </p:nvCxnSpPr>
          <p:spPr>
            <a:xfrm flipH="1" rot="10800000">
              <a:off x="2626868" y="1931631"/>
              <a:ext cx="1605900" cy="147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4" name="Google Shape;144;p19"/>
            <p:cNvCxnSpPr>
              <a:stCxn id="131" idx="7"/>
              <a:endCxn id="128" idx="2"/>
            </p:cNvCxnSpPr>
            <p:nvPr/>
          </p:nvCxnSpPr>
          <p:spPr>
            <a:xfrm flipH="1" rot="10800000">
              <a:off x="2626868" y="3050931"/>
              <a:ext cx="1607700" cy="35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5" name="Google Shape;145;p19"/>
            <p:cNvCxnSpPr>
              <a:stCxn id="131" idx="7"/>
              <a:endCxn id="129" idx="2"/>
            </p:cNvCxnSpPr>
            <p:nvPr/>
          </p:nvCxnSpPr>
          <p:spPr>
            <a:xfrm>
              <a:off x="2626868" y="3408531"/>
              <a:ext cx="1642200" cy="86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6" name="Google Shape;146;p19"/>
            <p:cNvCxnSpPr>
              <a:stCxn id="127" idx="6"/>
            </p:cNvCxnSpPr>
            <p:nvPr/>
          </p:nvCxnSpPr>
          <p:spPr>
            <a:xfrm flipH="1" rot="10800000">
              <a:off x="4911225" y="1672550"/>
              <a:ext cx="639900" cy="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7" name="Google Shape;147;p19"/>
            <p:cNvCxnSpPr>
              <a:stCxn id="128" idx="6"/>
            </p:cNvCxnSpPr>
            <p:nvPr/>
          </p:nvCxnSpPr>
          <p:spPr>
            <a:xfrm flipH="1" rot="10800000">
              <a:off x="5029249" y="3027350"/>
              <a:ext cx="643800" cy="2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8" name="Google Shape;148;p19"/>
            <p:cNvCxnSpPr>
              <a:stCxn id="129" idx="6"/>
            </p:cNvCxnSpPr>
            <p:nvPr/>
          </p:nvCxnSpPr>
          <p:spPr>
            <a:xfrm flipH="1" rot="10800000">
              <a:off x="5063625" y="4252850"/>
              <a:ext cx="666900" cy="17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9" name="Google Shape;149;p19"/>
            <p:cNvSpPr txBox="1"/>
            <p:nvPr/>
          </p:nvSpPr>
          <p:spPr>
            <a:xfrm>
              <a:off x="3492075" y="1793450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12</a:t>
              </a:r>
              <a:r>
                <a:rPr baseline="30000" lang="en" sz="1800"/>
                <a:t>2</a:t>
              </a:r>
              <a:endParaRPr baseline="30000" sz="1800"/>
            </a:p>
          </p:txBody>
        </p:sp>
        <p:sp>
          <p:nvSpPr>
            <p:cNvPr id="150" name="Google Shape;150;p19"/>
            <p:cNvSpPr txBox="1"/>
            <p:nvPr/>
          </p:nvSpPr>
          <p:spPr>
            <a:xfrm>
              <a:off x="3427025" y="1303325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11</a:t>
              </a:r>
              <a:r>
                <a:rPr baseline="30000" lang="en" sz="1800"/>
                <a:t>2</a:t>
              </a:r>
              <a:endParaRPr baseline="30000" sz="1800"/>
            </a:p>
          </p:txBody>
        </p:sp>
        <p:sp>
          <p:nvSpPr>
            <p:cNvPr id="151" name="Google Shape;151;p19"/>
            <p:cNvSpPr txBox="1"/>
            <p:nvPr/>
          </p:nvSpPr>
          <p:spPr>
            <a:xfrm>
              <a:off x="3579425" y="2293925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2</a:t>
              </a:r>
              <a:r>
                <a:rPr baseline="-25000" lang="en" sz="1800"/>
                <a:t>1</a:t>
              </a:r>
              <a:r>
                <a:rPr baseline="30000" lang="en" sz="1800"/>
                <a:t>2</a:t>
              </a:r>
              <a:endParaRPr baseline="30000" sz="1800"/>
            </a:p>
          </p:txBody>
        </p:sp>
        <p:sp>
          <p:nvSpPr>
            <p:cNvPr id="152" name="Google Shape;152;p19"/>
            <p:cNvSpPr txBox="1"/>
            <p:nvPr/>
          </p:nvSpPr>
          <p:spPr>
            <a:xfrm>
              <a:off x="3579425" y="2674925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22</a:t>
              </a:r>
              <a:r>
                <a:rPr baseline="30000" lang="en" sz="1800"/>
                <a:t>2</a:t>
              </a:r>
              <a:endParaRPr baseline="30000" sz="1800"/>
            </a:p>
          </p:txBody>
        </p:sp>
        <p:sp>
          <p:nvSpPr>
            <p:cNvPr id="153" name="Google Shape;153;p19"/>
            <p:cNvSpPr txBox="1"/>
            <p:nvPr/>
          </p:nvSpPr>
          <p:spPr>
            <a:xfrm>
              <a:off x="3655625" y="3132125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31</a:t>
              </a:r>
              <a:r>
                <a:rPr baseline="30000" lang="en" sz="1800"/>
                <a:t>2</a:t>
              </a:r>
              <a:endParaRPr baseline="30000" sz="1800"/>
            </a:p>
          </p:txBody>
        </p:sp>
        <p:sp>
          <p:nvSpPr>
            <p:cNvPr id="154" name="Google Shape;154;p19"/>
            <p:cNvSpPr txBox="1"/>
            <p:nvPr/>
          </p:nvSpPr>
          <p:spPr>
            <a:xfrm>
              <a:off x="3690001" y="3612242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3</a:t>
              </a:r>
              <a:r>
                <a:rPr baseline="-25000" lang="en" sz="1800"/>
                <a:t>2</a:t>
              </a:r>
              <a:r>
                <a:rPr baseline="30000" lang="en" sz="1800"/>
                <a:t>2</a:t>
              </a:r>
              <a:endParaRPr baseline="30000" sz="1800"/>
            </a:p>
          </p:txBody>
        </p:sp>
        <p:sp>
          <p:nvSpPr>
            <p:cNvPr id="155" name="Google Shape;155;p19"/>
            <p:cNvSpPr txBox="1"/>
            <p:nvPr/>
          </p:nvSpPr>
          <p:spPr>
            <a:xfrm>
              <a:off x="1445825" y="1531925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11</a:t>
              </a:r>
              <a:r>
                <a:rPr baseline="30000" lang="en" sz="1800"/>
                <a:t>1</a:t>
              </a:r>
              <a:endParaRPr baseline="30000" sz="1800"/>
            </a:p>
          </p:txBody>
        </p:sp>
        <p:sp>
          <p:nvSpPr>
            <p:cNvPr id="156" name="Google Shape;156;p19"/>
            <p:cNvSpPr txBox="1"/>
            <p:nvPr/>
          </p:nvSpPr>
          <p:spPr>
            <a:xfrm>
              <a:off x="1445825" y="1912925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12</a:t>
              </a:r>
              <a:r>
                <a:rPr baseline="30000" lang="en" sz="1800"/>
                <a:t>1</a:t>
              </a:r>
              <a:endParaRPr baseline="30000" sz="1800"/>
            </a:p>
          </p:txBody>
        </p:sp>
        <p:sp>
          <p:nvSpPr>
            <p:cNvPr id="157" name="Google Shape;157;p19"/>
            <p:cNvSpPr txBox="1"/>
            <p:nvPr/>
          </p:nvSpPr>
          <p:spPr>
            <a:xfrm>
              <a:off x="1598225" y="3894125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2</a:t>
              </a:r>
              <a:r>
                <a:rPr baseline="-25000" lang="en" sz="1800"/>
                <a:t>4</a:t>
              </a:r>
              <a:r>
                <a:rPr baseline="30000" lang="en" sz="1800"/>
                <a:t>1</a:t>
              </a:r>
              <a:endParaRPr baseline="30000" sz="1800"/>
            </a:p>
          </p:txBody>
        </p:sp>
        <p:sp>
          <p:nvSpPr>
            <p:cNvPr id="158" name="Google Shape;158;p19"/>
            <p:cNvSpPr txBox="1"/>
            <p:nvPr/>
          </p:nvSpPr>
          <p:spPr>
            <a:xfrm>
              <a:off x="1522025" y="3436925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</a:t>
              </a:r>
              <a:r>
                <a:rPr baseline="-25000" lang="en" sz="1800"/>
                <a:t>23</a:t>
              </a:r>
              <a:r>
                <a:rPr baseline="30000" lang="en" sz="1800"/>
                <a:t>1</a:t>
              </a:r>
              <a:endParaRPr baseline="30000" sz="1800"/>
            </a:p>
          </p:txBody>
        </p:sp>
        <p:sp>
          <p:nvSpPr>
            <p:cNvPr id="159" name="Google Shape;159;p19"/>
            <p:cNvSpPr txBox="1"/>
            <p:nvPr/>
          </p:nvSpPr>
          <p:spPr>
            <a:xfrm>
              <a:off x="4951025" y="1227125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/>
                <a:t>a</a:t>
              </a:r>
              <a:r>
                <a:rPr b="1" baseline="-25000" lang="en" sz="1800"/>
                <a:t>1</a:t>
              </a:r>
              <a:r>
                <a:rPr b="1" baseline="30000" lang="en" sz="1800"/>
                <a:t>2</a:t>
              </a:r>
              <a:endParaRPr b="1" baseline="30000" sz="1800"/>
            </a:p>
          </p:txBody>
        </p:sp>
        <p:sp>
          <p:nvSpPr>
            <p:cNvPr id="160" name="Google Shape;160;p19"/>
            <p:cNvSpPr txBox="1"/>
            <p:nvPr/>
          </p:nvSpPr>
          <p:spPr>
            <a:xfrm>
              <a:off x="5027225" y="2522525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/>
                <a:t>a</a:t>
              </a:r>
              <a:r>
                <a:rPr b="1" baseline="-25000" lang="en" sz="1800"/>
                <a:t>2</a:t>
              </a:r>
              <a:r>
                <a:rPr b="1" baseline="30000" lang="en" sz="1800"/>
                <a:t>2</a:t>
              </a:r>
              <a:endParaRPr b="1" baseline="30000" sz="1800"/>
            </a:p>
          </p:txBody>
        </p:sp>
        <p:sp>
          <p:nvSpPr>
            <p:cNvPr id="161" name="Google Shape;161;p19"/>
            <p:cNvSpPr txBox="1"/>
            <p:nvPr/>
          </p:nvSpPr>
          <p:spPr>
            <a:xfrm>
              <a:off x="5103425" y="3741725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/>
                <a:t>a</a:t>
              </a:r>
              <a:r>
                <a:rPr b="1" baseline="-25000" lang="en" sz="1800"/>
                <a:t>3</a:t>
              </a:r>
              <a:r>
                <a:rPr b="1" baseline="30000" lang="en" sz="1800"/>
                <a:t>2</a:t>
              </a:r>
              <a:endParaRPr b="1" baseline="30000" sz="1800"/>
            </a:p>
          </p:txBody>
        </p:sp>
        <p:sp>
          <p:nvSpPr>
            <p:cNvPr id="162" name="Google Shape;162;p19"/>
            <p:cNvSpPr txBox="1"/>
            <p:nvPr/>
          </p:nvSpPr>
          <p:spPr>
            <a:xfrm>
              <a:off x="2665025" y="2019490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r>
                <a:rPr baseline="-25000" lang="en" sz="1800"/>
                <a:t>1</a:t>
              </a:r>
              <a:r>
                <a:rPr baseline="30000" lang="en" sz="1800"/>
                <a:t>1</a:t>
              </a:r>
              <a:endParaRPr baseline="30000" sz="1800"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2588825" y="3132125"/>
              <a:ext cx="5826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r>
                <a:rPr baseline="-25000" lang="en" sz="1800"/>
                <a:t>2</a:t>
              </a:r>
              <a:r>
                <a:rPr baseline="30000" lang="en" sz="1800"/>
                <a:t>1</a:t>
              </a:r>
              <a:endParaRPr baseline="30000" sz="1800"/>
            </a:p>
          </p:txBody>
        </p:sp>
      </p:grpSp>
      <p:pic>
        <p:nvPicPr>
          <p:cNvPr id="164" name="Google Shape;16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8838" y="2714625"/>
            <a:ext cx="3093244" cy="67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/>
        </p:nvSpPr>
        <p:spPr>
          <a:xfrm>
            <a:off x="990600" y="26428"/>
            <a:ext cx="7086600" cy="11103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Обучение НС: обучающие данные, функция потерь (затрат), [стохастический] градиентный спуск.</a:t>
            </a:r>
            <a:endParaRPr b="1" sz="1700"/>
          </a:p>
        </p:txBody>
      </p:sp>
      <p:grpSp>
        <p:nvGrpSpPr>
          <p:cNvPr id="170" name="Google Shape;170;p20"/>
          <p:cNvGrpSpPr/>
          <p:nvPr/>
        </p:nvGrpSpPr>
        <p:grpSpPr>
          <a:xfrm>
            <a:off x="1807385" y="1200150"/>
            <a:ext cx="5193540" cy="2423246"/>
            <a:chOff x="359585" y="1200150"/>
            <a:chExt cx="5193540" cy="2423246"/>
          </a:xfrm>
        </p:grpSpPr>
        <p:sp>
          <p:nvSpPr>
            <p:cNvPr id="171" name="Google Shape;171;p20"/>
            <p:cNvSpPr/>
            <p:nvPr/>
          </p:nvSpPr>
          <p:spPr>
            <a:xfrm>
              <a:off x="359585" y="1266535"/>
              <a:ext cx="582600" cy="5370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/>
                <a:t>t</a:t>
              </a:r>
              <a:r>
                <a:rPr b="1" baseline="-25000" lang="en" sz="1800"/>
                <a:t>1</a:t>
              </a:r>
              <a:endParaRPr b="1" baseline="-25000" sz="1800"/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377905" y="1860321"/>
              <a:ext cx="582600" cy="5370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/>
                <a:t>t</a:t>
              </a:r>
              <a:r>
                <a:rPr b="1" baseline="-25000" lang="en" sz="1800"/>
                <a:t>2</a:t>
              </a:r>
              <a:endParaRPr b="1" baseline="-25000" sz="1800"/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405577" y="2470322"/>
              <a:ext cx="582600" cy="5370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/>
                <a:t>t</a:t>
              </a:r>
              <a:r>
                <a:rPr b="1" baseline="-25000" lang="en" sz="1800"/>
                <a:t>3</a:t>
              </a:r>
              <a:endParaRPr b="1" baseline="-25000" sz="1800"/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415543" y="3086396"/>
              <a:ext cx="582600" cy="5370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/>
                <a:t>t</a:t>
              </a:r>
              <a:r>
                <a:rPr b="1" baseline="-25000" lang="en" sz="1800"/>
                <a:t>4</a:t>
              </a:r>
              <a:endParaRPr b="1" baseline="-25000" sz="1800"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3811725" y="1399100"/>
              <a:ext cx="635700" cy="582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aseline="-25000" sz="1800"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3829917" y="2137817"/>
              <a:ext cx="635700" cy="582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aseline="-25000" sz="1800"/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3857410" y="2828321"/>
              <a:ext cx="635700" cy="5820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aseline="-25000" sz="1800"/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1428750" y="1860325"/>
              <a:ext cx="2188500" cy="1056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F3F3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W</a:t>
              </a:r>
              <a:r>
                <a:rPr baseline="-25000" lang="en" sz="1800">
                  <a:solidFill>
                    <a:schemeClr val="dk1"/>
                  </a:solidFill>
                </a:rPr>
                <a:t>jk</a:t>
              </a:r>
              <a:r>
                <a:rPr baseline="30000" lang="en" sz="1800">
                  <a:solidFill>
                    <a:schemeClr val="dk1"/>
                  </a:solidFill>
                </a:rPr>
                <a:t>l</a:t>
              </a:r>
              <a:r>
                <a:rPr baseline="-25000" lang="en" sz="1800">
                  <a:solidFill>
                    <a:schemeClr val="dk1"/>
                  </a:solidFill>
                </a:rPr>
                <a:t> </a:t>
              </a:r>
              <a:r>
                <a:rPr lang="en" sz="1800">
                  <a:solidFill>
                    <a:schemeClr val="dk1"/>
                  </a:solidFill>
                </a:rPr>
                <a:t>, b</a:t>
              </a:r>
              <a:r>
                <a:rPr baseline="-25000" lang="en" sz="1800">
                  <a:solidFill>
                    <a:schemeClr val="dk1"/>
                  </a:solidFill>
                </a:rPr>
                <a:t>j</a:t>
              </a:r>
              <a:r>
                <a:rPr baseline="30000" lang="en" sz="1800">
                  <a:solidFill>
                    <a:schemeClr val="dk1"/>
                  </a:solidFill>
                </a:rPr>
                <a:t>l</a:t>
              </a:r>
              <a:endParaRPr baseline="30000" sz="1800">
                <a:solidFill>
                  <a:schemeClr val="dk1"/>
                </a:solidFill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>
              <a:off x="4466825" y="2571750"/>
              <a:ext cx="10863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r>
                <a:rPr baseline="-25000" lang="en" sz="1800"/>
                <a:t>3</a:t>
              </a:r>
              <a:r>
                <a:rPr baseline="30000" lang="en" sz="1800"/>
                <a:t>2</a:t>
              </a:r>
              <a:r>
                <a:rPr baseline="-25000" lang="en" sz="1800"/>
                <a:t>, </a:t>
              </a:r>
              <a:r>
                <a:rPr lang="en" sz="1800"/>
                <a:t>[ </a:t>
              </a:r>
              <a:r>
                <a:rPr b="1" lang="en" sz="1800"/>
                <a:t>y</a:t>
              </a:r>
              <a:r>
                <a:rPr b="1" baseline="-25000" lang="en" sz="1800"/>
                <a:t>3</a:t>
              </a:r>
              <a:r>
                <a:rPr b="1" lang="en" sz="1800"/>
                <a:t> </a:t>
              </a:r>
              <a:r>
                <a:rPr lang="en" sz="1800"/>
                <a:t>]</a:t>
              </a:r>
              <a:endParaRPr sz="1800"/>
            </a:p>
          </p:txBody>
        </p:sp>
        <p:cxnSp>
          <p:nvCxnSpPr>
            <p:cNvPr id="180" name="Google Shape;180;p20"/>
            <p:cNvCxnSpPr>
              <a:stCxn id="175" idx="6"/>
            </p:cNvCxnSpPr>
            <p:nvPr/>
          </p:nvCxnSpPr>
          <p:spPr>
            <a:xfrm flipH="1" rot="10800000">
              <a:off x="4447425" y="1684100"/>
              <a:ext cx="886500" cy="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1" name="Google Shape;181;p20"/>
            <p:cNvCxnSpPr>
              <a:stCxn id="176" idx="6"/>
            </p:cNvCxnSpPr>
            <p:nvPr/>
          </p:nvCxnSpPr>
          <p:spPr>
            <a:xfrm>
              <a:off x="4465617" y="2428817"/>
              <a:ext cx="906600" cy="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2" name="Google Shape;182;p20"/>
            <p:cNvCxnSpPr>
              <a:stCxn id="177" idx="6"/>
            </p:cNvCxnSpPr>
            <p:nvPr/>
          </p:nvCxnSpPr>
          <p:spPr>
            <a:xfrm flipH="1" rot="10800000">
              <a:off x="4493110" y="3103121"/>
              <a:ext cx="1012200" cy="16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3" name="Google Shape;183;p20"/>
            <p:cNvSpPr txBox="1"/>
            <p:nvPr/>
          </p:nvSpPr>
          <p:spPr>
            <a:xfrm>
              <a:off x="4466825" y="1200150"/>
              <a:ext cx="10863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r>
                <a:rPr baseline="-25000" lang="en" sz="1800"/>
                <a:t>1</a:t>
              </a:r>
              <a:r>
                <a:rPr baseline="30000" lang="en" sz="1800"/>
                <a:t>2</a:t>
              </a:r>
              <a:r>
                <a:rPr baseline="-25000" lang="en" sz="1800"/>
                <a:t>, </a:t>
              </a:r>
              <a:r>
                <a:rPr lang="en" sz="1800"/>
                <a:t>[</a:t>
              </a:r>
              <a:r>
                <a:rPr b="1" lang="en" sz="1800"/>
                <a:t> y</a:t>
              </a:r>
              <a:r>
                <a:rPr b="1" baseline="-25000" lang="en" sz="1800"/>
                <a:t>1</a:t>
              </a:r>
              <a:r>
                <a:rPr b="1" lang="en" sz="1800"/>
                <a:t> </a:t>
              </a:r>
              <a:r>
                <a:rPr lang="en" sz="1800"/>
                <a:t>]</a:t>
              </a:r>
              <a:endParaRPr sz="1800"/>
            </a:p>
          </p:txBody>
        </p:sp>
        <p:sp>
          <p:nvSpPr>
            <p:cNvPr id="184" name="Google Shape;184;p20"/>
            <p:cNvSpPr txBox="1"/>
            <p:nvPr/>
          </p:nvSpPr>
          <p:spPr>
            <a:xfrm>
              <a:off x="4466825" y="1962150"/>
              <a:ext cx="1086300" cy="5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r>
                <a:rPr baseline="-25000" lang="en" sz="1800"/>
                <a:t>2</a:t>
              </a:r>
              <a:r>
                <a:rPr baseline="30000" lang="en" sz="1800"/>
                <a:t>2</a:t>
              </a:r>
              <a:r>
                <a:rPr baseline="-25000" lang="en" sz="1800"/>
                <a:t>, </a:t>
              </a:r>
              <a:r>
                <a:rPr lang="en" sz="1800"/>
                <a:t>[</a:t>
              </a:r>
              <a:r>
                <a:rPr b="1" lang="en" sz="1800"/>
                <a:t> y</a:t>
              </a:r>
              <a:r>
                <a:rPr b="1" baseline="-25000" lang="en" sz="1800"/>
                <a:t>2</a:t>
              </a:r>
              <a:r>
                <a:rPr b="1" lang="en" sz="1800"/>
                <a:t> </a:t>
              </a:r>
              <a:r>
                <a:rPr lang="en" sz="1800"/>
                <a:t>]</a:t>
              </a:r>
              <a:endParaRPr sz="1800"/>
            </a:p>
          </p:txBody>
        </p:sp>
      </p:grpSp>
      <p:pic>
        <p:nvPicPr>
          <p:cNvPr id="185" name="Google Shape;18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3928196"/>
            <a:ext cx="6635115" cy="813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500" y="50188"/>
            <a:ext cx="4238812" cy="3213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1825" y="51550"/>
            <a:ext cx="4387436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416329"/>
            <a:ext cx="432435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4283104"/>
            <a:ext cx="3683265" cy="707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/>
          <p:nvPr/>
        </p:nvSpPr>
        <p:spPr>
          <a:xfrm>
            <a:off x="98000" y="26425"/>
            <a:ext cx="89481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Обучение НС: алгоритм обратного распространения ошибки.</a:t>
            </a:r>
            <a:endParaRPr b="1" sz="1700"/>
          </a:p>
        </p:txBody>
      </p:sp>
      <p:pic>
        <p:nvPicPr>
          <p:cNvPr id="199" name="Google Shape;1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560328"/>
            <a:ext cx="3849624" cy="733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2630" y="569728"/>
            <a:ext cx="3243345" cy="4040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997" y="536784"/>
            <a:ext cx="1514475" cy="801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2538" y="549825"/>
            <a:ext cx="1554445" cy="80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24100" y="2435097"/>
            <a:ext cx="2201724" cy="14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4163300" y="711150"/>
            <a:ext cx="490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(I)</a:t>
            </a:r>
            <a:endParaRPr b="1" sz="2000"/>
          </a:p>
        </p:txBody>
      </p:sp>
      <p:sp>
        <p:nvSpPr>
          <p:cNvPr id="205" name="Google Shape;205;p22"/>
          <p:cNvSpPr txBox="1"/>
          <p:nvPr/>
        </p:nvSpPr>
        <p:spPr>
          <a:xfrm>
            <a:off x="4163300" y="1701750"/>
            <a:ext cx="599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(II)</a:t>
            </a:r>
            <a:endParaRPr b="1" sz="2000"/>
          </a:p>
        </p:txBody>
      </p:sp>
      <p:sp>
        <p:nvSpPr>
          <p:cNvPr id="206" name="Google Shape;206;p22"/>
          <p:cNvSpPr txBox="1"/>
          <p:nvPr/>
        </p:nvSpPr>
        <p:spPr>
          <a:xfrm>
            <a:off x="4163300" y="1701750"/>
            <a:ext cx="599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(II)</a:t>
            </a:r>
            <a:endParaRPr b="1" sz="2000"/>
          </a:p>
        </p:txBody>
      </p:sp>
      <p:sp>
        <p:nvSpPr>
          <p:cNvPr id="207" name="Google Shape;207;p22"/>
          <p:cNvSpPr txBox="1"/>
          <p:nvPr/>
        </p:nvSpPr>
        <p:spPr>
          <a:xfrm>
            <a:off x="4163300" y="2616150"/>
            <a:ext cx="599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(III)</a:t>
            </a:r>
            <a:endParaRPr b="1" sz="2000"/>
          </a:p>
        </p:txBody>
      </p:sp>
      <p:sp>
        <p:nvSpPr>
          <p:cNvPr id="208" name="Google Shape;208;p22"/>
          <p:cNvSpPr txBox="1"/>
          <p:nvPr/>
        </p:nvSpPr>
        <p:spPr>
          <a:xfrm>
            <a:off x="4163300" y="3301950"/>
            <a:ext cx="599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(IV)</a:t>
            </a:r>
            <a:endParaRPr b="1" sz="2000"/>
          </a:p>
        </p:txBody>
      </p:sp>
      <p:sp>
        <p:nvSpPr>
          <p:cNvPr id="209" name="Google Shape;209;p22"/>
          <p:cNvSpPr/>
          <p:nvPr/>
        </p:nvSpPr>
        <p:spPr>
          <a:xfrm>
            <a:off x="4784525" y="1713725"/>
            <a:ext cx="882900" cy="3924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/>
        </p:nvSpPr>
        <p:spPr>
          <a:xfrm>
            <a:off x="152575" y="198350"/>
            <a:ext cx="9264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Итак:</a:t>
            </a:r>
            <a:endParaRPr sz="2400"/>
          </a:p>
        </p:txBody>
      </p:sp>
      <p:sp>
        <p:nvSpPr>
          <p:cNvPr id="215" name="Google Shape;215;p23"/>
          <p:cNvSpPr txBox="1"/>
          <p:nvPr/>
        </p:nvSpPr>
        <p:spPr>
          <a:xfrm>
            <a:off x="643025" y="754200"/>
            <a:ext cx="8304900" cy="25611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Задать активацию входного слоя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Прямое прохождение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Выходная ошибка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Обратное распространение ошибки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Вычисление градиента функции стоимости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Коррекция весов и смещений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2475" y="1241000"/>
            <a:ext cx="4555099" cy="37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4"/>
          <p:cNvSpPr txBox="1"/>
          <p:nvPr/>
        </p:nvSpPr>
        <p:spPr>
          <a:xfrm>
            <a:off x="523125" y="56768"/>
            <a:ext cx="8293800" cy="7629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Пример: сеть для распознавания цифр,</a:t>
            </a:r>
            <a:r>
              <a:rPr lang="en" sz="1800"/>
              <a:t> 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200"/>
              <a:t>Michael Nielsen,</a:t>
            </a:r>
            <a:r>
              <a:rPr lang="en" sz="1800"/>
              <a:t> http://neuralnetworksanddeeplearning.com/index.html</a:t>
            </a:r>
            <a:endParaRPr sz="1800"/>
          </a:p>
        </p:txBody>
      </p:sp>
      <p:pic>
        <p:nvPicPr>
          <p:cNvPr id="222" name="Google Shape;22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4200" y="2617768"/>
            <a:ext cx="809625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4"/>
          <p:cNvSpPr/>
          <p:nvPr/>
        </p:nvSpPr>
        <p:spPr>
          <a:xfrm>
            <a:off x="926400" y="2628680"/>
            <a:ext cx="152700" cy="819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224" name="Google Shape;224;p24"/>
          <p:cNvSpPr/>
          <p:nvPr/>
        </p:nvSpPr>
        <p:spPr>
          <a:xfrm rot="5400000">
            <a:off x="1424833" y="2095280"/>
            <a:ext cx="152700" cy="819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1031550" y="1869300"/>
            <a:ext cx="8868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28px</a:t>
            </a:r>
            <a:endParaRPr sz="2400"/>
          </a:p>
        </p:txBody>
      </p:sp>
      <p:sp>
        <p:nvSpPr>
          <p:cNvPr id="226" name="Google Shape;226;p24"/>
          <p:cNvSpPr txBox="1"/>
          <p:nvPr/>
        </p:nvSpPr>
        <p:spPr>
          <a:xfrm>
            <a:off x="117150" y="2740105"/>
            <a:ext cx="8868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28px</a:t>
            </a:r>
            <a:endParaRPr sz="2400"/>
          </a:p>
        </p:txBody>
      </p:sp>
      <p:sp>
        <p:nvSpPr>
          <p:cNvPr id="227" name="Google Shape;227;p24"/>
          <p:cNvSpPr/>
          <p:nvPr/>
        </p:nvSpPr>
        <p:spPr>
          <a:xfrm>
            <a:off x="6246775" y="2562833"/>
            <a:ext cx="108000" cy="1080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/>
          <p:nvPr/>
        </p:nvSpPr>
        <p:spPr>
          <a:xfrm>
            <a:off x="43600" y="13250"/>
            <a:ext cx="9100500" cy="9915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CCCCC"/>
                </a:highlight>
              </a:rPr>
              <a:t>malkov@192:~/&gt; </a:t>
            </a:r>
            <a:r>
              <a:rPr b="1" lang="en" sz="1800">
                <a:solidFill>
                  <a:schemeClr val="dk1"/>
                </a:solidFill>
                <a:highlight>
                  <a:srgbClr val="CCCCCC"/>
                </a:highlight>
              </a:rPr>
              <a:t>conda create --name </a:t>
            </a:r>
            <a:r>
              <a:rPr b="1" lang="en" sz="1800">
                <a:solidFill>
                  <a:srgbClr val="FF5454"/>
                </a:solidFill>
                <a:highlight>
                  <a:srgbClr val="CCCCCC"/>
                </a:highlight>
              </a:rPr>
              <a:t>tf-gpu</a:t>
            </a:r>
            <a:r>
              <a:rPr b="1" lang="en" sz="1800">
                <a:solidFill>
                  <a:schemeClr val="dk1"/>
                </a:solidFill>
                <a:highlight>
                  <a:srgbClr val="CCCCCC"/>
                </a:highlight>
              </a:rPr>
              <a:t> python=3.12  tensorflow-gpu</a:t>
            </a:r>
            <a:endParaRPr b="1" sz="18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CCCCCC"/>
                </a:highlight>
              </a:rPr>
              <a:t>malkov@192:~/PGP-2025/labs/Nilsen&gt; </a:t>
            </a:r>
            <a:r>
              <a:rPr b="1" lang="en" sz="1800">
                <a:solidFill>
                  <a:schemeClr val="dk1"/>
                </a:solidFill>
                <a:highlight>
                  <a:srgbClr val="CCCCCC"/>
                </a:highlight>
              </a:rPr>
              <a:t>conda activate tf-gpu </a:t>
            </a:r>
            <a:endParaRPr b="1" sz="18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CCCCCC"/>
                </a:highlight>
              </a:rPr>
              <a:t>(tf-gpu) malkov@192:~/PGP-2025/labs/Nilsen&gt; </a:t>
            </a:r>
            <a:r>
              <a:rPr b="1" lang="en" sz="1800">
                <a:solidFill>
                  <a:schemeClr val="dk1"/>
                </a:solidFill>
                <a:highlight>
                  <a:srgbClr val="CCCCCC"/>
                </a:highlight>
              </a:rPr>
              <a:t>spyder &amp;</a:t>
            </a:r>
            <a:endParaRPr b="1" sz="1800">
              <a:solidFill>
                <a:schemeClr val="dk1"/>
              </a:solidFill>
              <a:highlight>
                <a:srgbClr val="CCCC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233" name="Google Shape;2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200" y="1069951"/>
            <a:ext cx="4394526" cy="354957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5"/>
          <p:cNvSpPr txBox="1"/>
          <p:nvPr/>
        </p:nvSpPr>
        <p:spPr>
          <a:xfrm>
            <a:off x="544925" y="4684725"/>
            <a:ext cx="7650900" cy="458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[</a:t>
            </a:r>
            <a:r>
              <a:rPr lang="en" sz="2000">
                <a:solidFill>
                  <a:schemeClr val="dk1"/>
                </a:solidFill>
                <a:highlight>
                  <a:srgbClr val="FFF2CC"/>
                </a:highlight>
              </a:rPr>
              <a:t> </a:t>
            </a:r>
            <a:r>
              <a:rPr i="1" lang="en" sz="1900">
                <a:solidFill>
                  <a:schemeClr val="dk1"/>
                </a:solidFill>
                <a:highlight>
                  <a:srgbClr val="FFF2CC"/>
                </a:highlight>
              </a:rPr>
              <a:t>conda create --name </a:t>
            </a:r>
            <a:r>
              <a:rPr b="1" i="1" lang="en" sz="1900">
                <a:solidFill>
                  <a:srgbClr val="FF5454"/>
                </a:solidFill>
                <a:highlight>
                  <a:srgbClr val="FFF2CC"/>
                </a:highlight>
              </a:rPr>
              <a:t>tf-gpu</a:t>
            </a:r>
            <a:r>
              <a:rPr b="1" i="1" lang="en" sz="1900">
                <a:solidFill>
                  <a:srgbClr val="FF0000"/>
                </a:solidFill>
                <a:highlight>
                  <a:srgbClr val="FFF2CC"/>
                </a:highlight>
              </a:rPr>
              <a:t>2</a:t>
            </a:r>
            <a:r>
              <a:rPr i="1" lang="en" sz="1900">
                <a:solidFill>
                  <a:schemeClr val="dk1"/>
                </a:solidFill>
                <a:highlight>
                  <a:srgbClr val="FFF2CC"/>
                </a:highlight>
              </a:rPr>
              <a:t> python=2.7  tensorflow-gpu </a:t>
            </a:r>
            <a:r>
              <a:rPr lang="en" sz="2000">
                <a:solidFill>
                  <a:schemeClr val="dk1"/>
                </a:solidFill>
                <a:highlight>
                  <a:srgbClr val="FFF2CC"/>
                </a:highlight>
              </a:rPr>
              <a:t>]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 txBox="1"/>
          <p:nvPr/>
        </p:nvSpPr>
        <p:spPr>
          <a:xfrm>
            <a:off x="518950" y="1078700"/>
            <a:ext cx="8293800" cy="10464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import Nils_1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net=Nils_1.Network(</a:t>
            </a:r>
            <a:r>
              <a:rPr b="1" lang="en" sz="1800"/>
              <a:t>[784, 30, 10]</a:t>
            </a:r>
            <a:r>
              <a:rPr lang="en" sz="1800"/>
              <a:t>)              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……………………………………………………………………………………………………..</a:t>
            </a:r>
            <a:endParaRPr/>
          </a:p>
        </p:txBody>
      </p:sp>
      <p:sp>
        <p:nvSpPr>
          <p:cNvPr id="240" name="Google Shape;240;p26"/>
          <p:cNvSpPr txBox="1"/>
          <p:nvPr/>
        </p:nvSpPr>
        <p:spPr>
          <a:xfrm>
            <a:off x="540900" y="2363150"/>
            <a:ext cx="8293800" cy="25773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class Network(object):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def __init__(self, sizes):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self.num_layers = len(sizes)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self.sizes = sizes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self.biases = [np.random.randn(y, 1) for y in sizes[1:]]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self.weights = [np.random.randn(y, x)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                    for x, y in zip(sizes[:-1], sizes[1:])]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………………………………………………………………………………………..</a:t>
            </a:r>
            <a:endParaRPr sz="1800"/>
          </a:p>
        </p:txBody>
      </p:sp>
      <p:sp>
        <p:nvSpPr>
          <p:cNvPr id="241" name="Google Shape;241;p26"/>
          <p:cNvSpPr txBox="1"/>
          <p:nvPr/>
        </p:nvSpPr>
        <p:spPr>
          <a:xfrm>
            <a:off x="523125" y="112100"/>
            <a:ext cx="82938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Инициализация</a:t>
            </a:r>
            <a:r>
              <a:rPr b="1" lang="en" sz="2200"/>
              <a:t> архитектуры сети, весов и смещений </a:t>
            </a:r>
            <a:endParaRPr b="1" sz="1700"/>
          </a:p>
        </p:txBody>
      </p:sp>
      <p:sp>
        <p:nvSpPr>
          <p:cNvPr id="242" name="Google Shape;242;p26"/>
          <p:cNvSpPr txBox="1"/>
          <p:nvPr/>
        </p:nvSpPr>
        <p:spPr>
          <a:xfrm>
            <a:off x="6596075" y="2883700"/>
            <a:ext cx="1309800" cy="500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800">
                <a:solidFill>
                  <a:schemeClr val="dk1"/>
                </a:solidFill>
              </a:rPr>
              <a:t>Nils_1.py</a:t>
            </a:r>
            <a:endParaRPr b="1" i="1" sz="1800"/>
          </a:p>
        </p:txBody>
      </p:sp>
      <p:sp>
        <p:nvSpPr>
          <p:cNvPr id="243" name="Google Shape;243;p26"/>
          <p:cNvSpPr txBox="1"/>
          <p:nvPr/>
        </p:nvSpPr>
        <p:spPr>
          <a:xfrm>
            <a:off x="5471150" y="1237625"/>
            <a:ext cx="1722000" cy="433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/>
              <a:t>Nils_1_run.py</a:t>
            </a:r>
            <a:endParaRPr b="1" i="1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7"/>
          <p:cNvSpPr txBox="1"/>
          <p:nvPr/>
        </p:nvSpPr>
        <p:spPr>
          <a:xfrm>
            <a:off x="552275" y="492975"/>
            <a:ext cx="8413200" cy="10644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import Nils_1_loader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training_data, validation_data, test_data =Nils_1_loader.load_data_wrapper()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…………………………………………………………………………………………</a:t>
            </a:r>
            <a:r>
              <a:rPr lang="en" sz="1800"/>
              <a:t>...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"/>
          <p:cNvSpPr txBox="1"/>
          <p:nvPr/>
        </p:nvSpPr>
        <p:spPr>
          <a:xfrm>
            <a:off x="522500" y="26425"/>
            <a:ext cx="84429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Загрузка данных для обучения</a:t>
            </a:r>
            <a:r>
              <a:rPr b="1" lang="en" sz="2200"/>
              <a:t> </a:t>
            </a:r>
            <a:endParaRPr b="1" sz="1700"/>
          </a:p>
        </p:txBody>
      </p:sp>
      <p:sp>
        <p:nvSpPr>
          <p:cNvPr id="250" name="Google Shape;250;p27"/>
          <p:cNvSpPr txBox="1"/>
          <p:nvPr/>
        </p:nvSpPr>
        <p:spPr>
          <a:xfrm>
            <a:off x="552275" y="2505075"/>
            <a:ext cx="8413200" cy="24633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import pickle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import gzip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def load_data():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f = gzip.open('../data/</a:t>
            </a:r>
            <a:r>
              <a:rPr b="1" lang="en" sz="1800"/>
              <a:t>mnist.pkl.gz</a:t>
            </a:r>
            <a:r>
              <a:rPr lang="en" sz="1800"/>
              <a:t>', 'rb')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training_data, validation_data, test_data = </a:t>
            </a:r>
            <a:r>
              <a:rPr b="1" lang="en" sz="1800"/>
              <a:t>pickle.load</a:t>
            </a:r>
            <a:r>
              <a:rPr lang="en" sz="1800"/>
              <a:t>(f, encoding='latin1')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f.close()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return (training_data, validation_data, test_data)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1" name="Google Shape;251;p27"/>
          <p:cNvSpPr txBox="1"/>
          <p:nvPr/>
        </p:nvSpPr>
        <p:spPr>
          <a:xfrm>
            <a:off x="552275" y="1943775"/>
            <a:ext cx="8413200" cy="4797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100"/>
              <a:t>https://www.kaggle.com/datasets/pablotab/mnistpklgz</a:t>
            </a:r>
            <a:endParaRPr b="1" i="1" sz="2100"/>
          </a:p>
        </p:txBody>
      </p:sp>
      <p:sp>
        <p:nvSpPr>
          <p:cNvPr id="252" name="Google Shape;252;p27"/>
          <p:cNvSpPr txBox="1"/>
          <p:nvPr/>
        </p:nvSpPr>
        <p:spPr>
          <a:xfrm>
            <a:off x="6418150" y="2846750"/>
            <a:ext cx="2092500" cy="4332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800">
                <a:solidFill>
                  <a:schemeClr val="dk1"/>
                </a:solidFill>
              </a:rPr>
              <a:t>Nils_1_loader.py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7800"/>
            <a:ext cx="6955625" cy="352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8"/>
          <p:cNvSpPr txBox="1"/>
          <p:nvPr/>
        </p:nvSpPr>
        <p:spPr>
          <a:xfrm>
            <a:off x="121450" y="76200"/>
            <a:ext cx="1862100" cy="345300"/>
          </a:xfrm>
          <a:prstGeom prst="rect">
            <a:avLst/>
          </a:prstGeom>
          <a:solidFill>
            <a:srgbClr val="A2C4C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/>
              <a:t>training_data</a:t>
            </a:r>
            <a:endParaRPr b="1" i="1" sz="1800"/>
          </a:p>
        </p:txBody>
      </p:sp>
      <p:pic>
        <p:nvPicPr>
          <p:cNvPr id="259" name="Google Shape;25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6602" y="1259699"/>
            <a:ext cx="1554998" cy="37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8"/>
          <p:cNvSpPr txBox="1"/>
          <p:nvPr/>
        </p:nvSpPr>
        <p:spPr>
          <a:xfrm>
            <a:off x="152400" y="640550"/>
            <a:ext cx="3279300" cy="46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Кортеж из двух элементов:</a:t>
            </a:r>
            <a:endParaRPr sz="1800"/>
          </a:p>
        </p:txBody>
      </p:sp>
      <p:pic>
        <p:nvPicPr>
          <p:cNvPr id="261" name="Google Shape;26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1875" y="285800"/>
            <a:ext cx="4092726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/>
        </p:nvSpPr>
        <p:spPr>
          <a:xfrm>
            <a:off x="476075" y="187450"/>
            <a:ext cx="8240400" cy="48717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import numpy as np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def load_data_wrapper():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tr_d, va_d, te_d = </a:t>
            </a:r>
            <a:r>
              <a:rPr b="1" lang="en" sz="1800"/>
              <a:t>load_data()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training_inputs = [np.reshape(x, (784, 1)) for x in tr_d[0]]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training_results = [vectorized_result(y) for y in tr_d[1]]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training_data = list(zip(training_inputs, training_results))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validation_inputs = [np.reshape(x, (784, 1)) for x in va_d[0]]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validation_data = list(zip(validation_inputs, va_d[1]))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test_inputs = [np.reshape(x, (784, 1)) for x in te_d[0]]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test_data = list(zip(test_inputs, te_d[1]))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return (training_data, validation_data, test_data)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def vectorized_result(j):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e = np.zeros((10, 1))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e[j] = 1.0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return e  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7" name="Google Shape;267;p29"/>
          <p:cNvSpPr/>
          <p:nvPr/>
        </p:nvSpPr>
        <p:spPr>
          <a:xfrm>
            <a:off x="6528650" y="1496925"/>
            <a:ext cx="2136000" cy="7194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Реструктури - рование данных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30"/>
          <p:cNvGrpSpPr/>
          <p:nvPr/>
        </p:nvGrpSpPr>
        <p:grpSpPr>
          <a:xfrm>
            <a:off x="333375" y="91450"/>
            <a:ext cx="1812925" cy="4800600"/>
            <a:chOff x="1476375" y="91450"/>
            <a:chExt cx="1812925" cy="4800600"/>
          </a:xfrm>
        </p:grpSpPr>
        <p:sp>
          <p:nvSpPr>
            <p:cNvPr id="273" name="Google Shape;273;p30"/>
            <p:cNvSpPr txBox="1"/>
            <p:nvPr/>
          </p:nvSpPr>
          <p:spPr>
            <a:xfrm>
              <a:off x="1476375" y="2236475"/>
              <a:ext cx="508500" cy="5541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7</a:t>
              </a:r>
              <a:endParaRPr sz="2400"/>
            </a:p>
          </p:txBody>
        </p:sp>
        <p:sp>
          <p:nvSpPr>
            <p:cNvPr id="274" name="Google Shape;274;p30"/>
            <p:cNvSpPr/>
            <p:nvPr/>
          </p:nvSpPr>
          <p:spPr>
            <a:xfrm>
              <a:off x="2870200" y="91450"/>
              <a:ext cx="419100" cy="49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275" name="Google Shape;275;p30"/>
            <p:cNvSpPr/>
            <p:nvPr/>
          </p:nvSpPr>
          <p:spPr>
            <a:xfrm>
              <a:off x="2870200" y="548650"/>
              <a:ext cx="419100" cy="49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276" name="Google Shape;276;p30"/>
            <p:cNvSpPr/>
            <p:nvPr/>
          </p:nvSpPr>
          <p:spPr>
            <a:xfrm>
              <a:off x="2870200" y="1043950"/>
              <a:ext cx="419100" cy="49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277" name="Google Shape;277;p30"/>
            <p:cNvSpPr/>
            <p:nvPr/>
          </p:nvSpPr>
          <p:spPr>
            <a:xfrm>
              <a:off x="2870200" y="1539250"/>
              <a:ext cx="419100" cy="49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278" name="Google Shape;278;p30"/>
            <p:cNvSpPr/>
            <p:nvPr/>
          </p:nvSpPr>
          <p:spPr>
            <a:xfrm>
              <a:off x="2870200" y="1996450"/>
              <a:ext cx="419100" cy="49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279" name="Google Shape;279;p30"/>
            <p:cNvSpPr/>
            <p:nvPr/>
          </p:nvSpPr>
          <p:spPr>
            <a:xfrm>
              <a:off x="2870200" y="2491750"/>
              <a:ext cx="419100" cy="49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280" name="Google Shape;280;p30"/>
            <p:cNvSpPr/>
            <p:nvPr/>
          </p:nvSpPr>
          <p:spPr>
            <a:xfrm>
              <a:off x="2870200" y="1996450"/>
              <a:ext cx="419100" cy="49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281" name="Google Shape;281;p30"/>
            <p:cNvSpPr/>
            <p:nvPr/>
          </p:nvSpPr>
          <p:spPr>
            <a:xfrm>
              <a:off x="2870200" y="2453650"/>
              <a:ext cx="419100" cy="49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2870200" y="2948950"/>
              <a:ext cx="419100" cy="49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2870200" y="3444250"/>
              <a:ext cx="419100" cy="49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1</a:t>
              </a:r>
              <a:endParaRPr sz="1800"/>
            </a:p>
          </p:txBody>
        </p:sp>
        <p:sp>
          <p:nvSpPr>
            <p:cNvPr id="284" name="Google Shape;284;p30"/>
            <p:cNvSpPr/>
            <p:nvPr/>
          </p:nvSpPr>
          <p:spPr>
            <a:xfrm>
              <a:off x="2870200" y="3901450"/>
              <a:ext cx="419100" cy="49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sp>
          <p:nvSpPr>
            <p:cNvPr id="285" name="Google Shape;285;p30"/>
            <p:cNvSpPr/>
            <p:nvPr/>
          </p:nvSpPr>
          <p:spPr>
            <a:xfrm>
              <a:off x="2870200" y="4396750"/>
              <a:ext cx="419100" cy="4953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0</a:t>
              </a:r>
              <a:endParaRPr sz="1800"/>
            </a:p>
          </p:txBody>
        </p:sp>
        <p:cxnSp>
          <p:nvCxnSpPr>
            <p:cNvPr id="286" name="Google Shape;286;p30"/>
            <p:cNvCxnSpPr>
              <a:stCxn id="273" idx="3"/>
              <a:endCxn id="283" idx="1"/>
            </p:cNvCxnSpPr>
            <p:nvPr/>
          </p:nvCxnSpPr>
          <p:spPr>
            <a:xfrm>
              <a:off x="1984875" y="2513525"/>
              <a:ext cx="885300" cy="117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7" name="Google Shape;287;p30"/>
          <p:cNvSpPr txBox="1"/>
          <p:nvPr/>
        </p:nvSpPr>
        <p:spPr>
          <a:xfrm>
            <a:off x="2628900" y="751850"/>
            <a:ext cx="6159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training_results </a:t>
            </a:r>
            <a:r>
              <a:rPr lang="en" sz="1800"/>
              <a:t>= [vectorized_result(y) for y in tr_d[1]]</a:t>
            </a:r>
            <a:endParaRPr sz="1800"/>
          </a:p>
        </p:txBody>
      </p:sp>
      <p:sp>
        <p:nvSpPr>
          <p:cNvPr id="288" name="Google Shape;288;p30"/>
          <p:cNvSpPr txBox="1"/>
          <p:nvPr/>
        </p:nvSpPr>
        <p:spPr>
          <a:xfrm>
            <a:off x="2730500" y="1438275"/>
            <a:ext cx="5378700" cy="13329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def vectorized_result(j):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e = np.zeros((10, 1))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e[j] = 1.0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return e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00" y="932538"/>
            <a:ext cx="3324225" cy="41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3200" y="795438"/>
            <a:ext cx="25908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7146" y="63550"/>
            <a:ext cx="5442800" cy="167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1"/>
          <p:cNvSpPr txBox="1"/>
          <p:nvPr/>
        </p:nvSpPr>
        <p:spPr>
          <a:xfrm>
            <a:off x="3716450" y="2072925"/>
            <a:ext cx="2506800" cy="10245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После реструктурирования данных.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 txBox="1"/>
          <p:nvPr/>
        </p:nvSpPr>
        <p:spPr>
          <a:xfrm>
            <a:off x="185275" y="459750"/>
            <a:ext cx="8780100" cy="4470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net.SGD(training_data, 20, 10, 3.0, test_data=test_data)</a:t>
            </a:r>
            <a:endParaRPr sz="1800"/>
          </a:p>
        </p:txBody>
      </p:sp>
      <p:sp>
        <p:nvSpPr>
          <p:cNvPr id="302" name="Google Shape;302;p32"/>
          <p:cNvSpPr txBox="1"/>
          <p:nvPr/>
        </p:nvSpPr>
        <p:spPr>
          <a:xfrm>
            <a:off x="185275" y="885150"/>
            <a:ext cx="8780100" cy="4206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def SGD(self, training_data, epochs, mini_batch_size, eta, test_data=None):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if test_data: n_test = len(test_data)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n = len(training_data)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for j in range(epochs):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random.shuffle(training_data)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mini_batches = [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  training_data[k:k+mini_batch_size]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  for k in range(0, n, mini_batch_size)]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for mini_batch in mini_batches: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  self.</a:t>
            </a:r>
            <a:r>
              <a:rPr b="1" lang="en" sz="1800"/>
              <a:t>update_mini_batch</a:t>
            </a:r>
            <a:r>
              <a:rPr lang="en" sz="1800"/>
              <a:t>(mini_batch, eta)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if test_data: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  print( "Epoch {0}: {1} / {2}".format(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      j, self.</a:t>
            </a:r>
            <a:r>
              <a:rPr b="1" lang="en" sz="1800">
                <a:solidFill>
                  <a:srgbClr val="FF0000"/>
                </a:solidFill>
              </a:rPr>
              <a:t>evaluate(test_data), n_test))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else: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  print( "Epoch {0} complete".format(j))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3" name="Google Shape;303;p32"/>
          <p:cNvSpPr txBox="1"/>
          <p:nvPr/>
        </p:nvSpPr>
        <p:spPr>
          <a:xfrm>
            <a:off x="185300" y="26425"/>
            <a:ext cx="87801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Реализация градиентного спуска</a:t>
            </a:r>
            <a:r>
              <a:rPr b="1" lang="en" sz="2200"/>
              <a:t> </a:t>
            </a:r>
            <a:endParaRPr b="1"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3"/>
          <p:cNvSpPr txBox="1"/>
          <p:nvPr/>
        </p:nvSpPr>
        <p:spPr>
          <a:xfrm>
            <a:off x="185275" y="645200"/>
            <a:ext cx="8780100" cy="4446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if test_data: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  print( "Epoch {0}: {1} / {2}".format(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      j, self.</a:t>
            </a:r>
            <a:r>
              <a:rPr b="1" lang="en" sz="1800">
                <a:solidFill>
                  <a:srgbClr val="FF0000"/>
                </a:solidFill>
              </a:rPr>
              <a:t>evaluate(test_data), n_test))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else: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  print( "Epoch {0} complete".format(j))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def </a:t>
            </a:r>
            <a:r>
              <a:rPr b="1" lang="en" sz="1800">
                <a:solidFill>
                  <a:srgbClr val="FF0000"/>
                </a:solidFill>
              </a:rPr>
              <a:t>feedforward(self, a)</a:t>
            </a:r>
            <a:r>
              <a:rPr lang="en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for b, w in zip(self.biases, self.weights):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      a = sigmoid(np.dot(w, a)+b)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return 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def </a:t>
            </a:r>
            <a:r>
              <a:rPr b="1" lang="en" sz="1800">
                <a:solidFill>
                  <a:srgbClr val="FF0000"/>
                </a:solidFill>
              </a:rPr>
              <a:t>evaluate(self, test_data)</a:t>
            </a:r>
            <a:r>
              <a:rPr lang="en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 test_results = [(np.argmax(self.</a:t>
            </a:r>
            <a:r>
              <a:rPr b="1" lang="en" sz="1800">
                <a:solidFill>
                  <a:srgbClr val="FF0000"/>
                </a:solidFill>
              </a:rPr>
              <a:t>feedforward(x))</a:t>
            </a:r>
            <a:r>
              <a:rPr lang="en" sz="1800">
                <a:solidFill>
                  <a:schemeClr val="dk1"/>
                </a:solidFill>
              </a:rPr>
              <a:t>, y)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                    for (x, y) in test_data]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 return sum(int(x == y) for (x, y) in test_results)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9" name="Google Shape;309;p33"/>
          <p:cNvSpPr txBox="1"/>
          <p:nvPr/>
        </p:nvSpPr>
        <p:spPr>
          <a:xfrm>
            <a:off x="185300" y="26425"/>
            <a:ext cx="8780100" cy="433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/>
              <a:t>Тестовый прогон</a:t>
            </a:r>
            <a:r>
              <a:rPr b="1" lang="en" sz="2200"/>
              <a:t> </a:t>
            </a:r>
            <a:endParaRPr b="1"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"/>
          <p:cNvSpPr txBox="1"/>
          <p:nvPr/>
        </p:nvSpPr>
        <p:spPr>
          <a:xfrm>
            <a:off x="130775" y="111175"/>
            <a:ext cx="8882400" cy="2376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</a:rPr>
              <a:t>(tf-gpu) malkov@192:~/PGP-2025/labs/Nilsen&gt; python Nils_1_run.py</a:t>
            </a:r>
            <a:endParaRPr sz="18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Epoch 0: 9123 / 10000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Epoch 1: 9257 / 10000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Epoch 2: 9355 / 10000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Epoch 3: 9360 / 10000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Epoch 4: 9407 / 10000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Epoch 5: 9422 / 10000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Epoch 6: 9435 / 10000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 txBox="1"/>
          <p:nvPr/>
        </p:nvSpPr>
        <p:spPr>
          <a:xfrm>
            <a:off x="119875" y="187550"/>
            <a:ext cx="8893200" cy="3258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def </a:t>
            </a:r>
            <a:r>
              <a:rPr b="1" lang="en" sz="1800"/>
              <a:t>update_mini_batch</a:t>
            </a:r>
            <a:r>
              <a:rPr lang="en" sz="1800"/>
              <a:t>(self, mini_batch, eta):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nabla_b = [np.zeros(b.shape) for b in self.biases]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nabla_w = [np.zeros(w.shape) for w in self.weights]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for x, y in mini_batch: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delta_nabla_b, delta_nabla_w = self.</a:t>
            </a:r>
            <a:r>
              <a:rPr b="1" lang="en" sz="1800"/>
              <a:t>backprop(x, y)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nabla_b = [nb+dnb for nb, dnb in zip(nabla_b, delta_nabla_b)]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nabla_w = [nw+dnw for nw, dnw in zip(nabla_w, delta_nabla_w)]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self.weights = [w-(eta/len(mini_batch))*nw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                  for w, nw in zip(self.weights, nabla_w)]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self.biases = [b-(eta/len(mini_batch))*nb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                  for b, nb in zip(self.biases, nabla_b)]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 txBox="1"/>
          <p:nvPr/>
        </p:nvSpPr>
        <p:spPr>
          <a:xfrm>
            <a:off x="65400" y="100275"/>
            <a:ext cx="9024000" cy="45012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def </a:t>
            </a:r>
            <a:r>
              <a:rPr b="1" lang="en" sz="1800"/>
              <a:t>backprop</a:t>
            </a:r>
            <a:r>
              <a:rPr lang="en" sz="1800"/>
              <a:t>(self, x, y):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nabla_b = [np.zeros(b.shape) for b in self.biases]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nabla_w = [np.zeros(w.shape) for w in self.weights]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activation = x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    activations = [x]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zs = []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for b, w in zip(self.biases, self.weights):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z = </a:t>
            </a:r>
            <a:r>
              <a:rPr b="1" lang="en" sz="1800"/>
              <a:t>np.dot(w, activation)+b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zs.append(z)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activation = </a:t>
            </a:r>
            <a:r>
              <a:rPr b="1" lang="en" sz="1800"/>
              <a:t>sigmoid(z)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   activations.append(activation)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 </a:t>
            </a:r>
            <a:r>
              <a:rPr b="1" lang="en" sz="1800"/>
              <a:t>delta</a:t>
            </a:r>
            <a:r>
              <a:rPr lang="en" sz="1800"/>
              <a:t> = self.</a:t>
            </a:r>
            <a:r>
              <a:rPr b="1" lang="en" sz="1800"/>
              <a:t>cost_derivative(activations[-1], y) * \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               sigmoid_prime(zs[-1])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nabla_b[-1] =</a:t>
            </a:r>
            <a:r>
              <a:rPr b="1" lang="en" sz="1800"/>
              <a:t> delta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nabla_w[-1] =</a:t>
            </a:r>
            <a:r>
              <a:rPr b="1" lang="en" sz="1800"/>
              <a:t> np.dot(delta, activations[-2].transpose())</a:t>
            </a:r>
            <a:endParaRPr b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"/>
          <p:cNvSpPr txBox="1"/>
          <p:nvPr/>
        </p:nvSpPr>
        <p:spPr>
          <a:xfrm>
            <a:off x="108975" y="78475"/>
            <a:ext cx="8871600" cy="3008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for l in range(2, self.num_layers):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  z = zs[-l]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  sp = sigmoid_prime(z)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  </a:t>
            </a:r>
            <a:r>
              <a:rPr b="1" lang="en" sz="1800">
                <a:solidFill>
                  <a:schemeClr val="dk1"/>
                </a:solidFill>
              </a:rPr>
              <a:t>delta = np.dot(self.weights[-l+1].transpose(), delta) * sp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  nabla_b[-l] = delta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            nabla_w[-l] = np.dot(delta, activations[-l-1].transpose())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    return (nabla_b, nabla_w)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def cost_derivative(self, output_activations, y):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    return (output_activations-y)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" name="Google Shape;330;p37"/>
          <p:cNvSpPr txBox="1"/>
          <p:nvPr/>
        </p:nvSpPr>
        <p:spPr>
          <a:xfrm>
            <a:off x="108875" y="3173700"/>
            <a:ext cx="8871600" cy="12426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def sigmoid(z):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return 1.0/(1.0+np.exp(-z))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def sigmoid_prime(z):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return sigmoid(z)*(1-sigmoid(z))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