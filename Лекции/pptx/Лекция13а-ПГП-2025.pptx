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59968A-0235-4C8F-8266-B352F941CDE1}">
  <a:tblStyle styleId="{CA59968A-0235-4C8F-8266-B352F941CD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500526a9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g20500526a99_0_16:notes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0500526a99_0_16:notes"/>
          <p:cNvSpPr txBox="1"/>
          <p:nvPr>
            <p:ph idx="1" type="body"/>
          </p:nvPr>
        </p:nvSpPr>
        <p:spPr>
          <a:xfrm>
            <a:off x="685800" y="4343400"/>
            <a:ext cx="54831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1df71f3c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1df71f3c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1df71f3c5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1df71f3c5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1df71f3c5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1df71f3c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1df71f3c5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1df71f3c5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1df71f3c5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1df71f3c5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1df71f3c5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1df71f3c5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1df71f3c5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1df71f3c5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1df71f3c5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1df71f3c5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1df71f3c5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1df71f3c5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1df71f3c5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1df71f3c5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df71f3c5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1df71f3c5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ba9b5e0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ba9b5e0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ba9b5e0b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ba9b5e0b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ba9b5e0b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ba9b5e0b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ba9b5e0b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ba9b5e0b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ba9b5e0b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4ba9b5e0b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ba9b5e0b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ba9b5e0b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6800" lIns="90000" spcFirstLastPara="1" rIns="90000" wrap="square" tIns="468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rtl="0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0C3A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C3A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63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63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435425" y="119269"/>
            <a:ext cx="83970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Лекция 13а</a:t>
            </a:r>
            <a:endParaRPr b="1" sz="3600"/>
          </a:p>
        </p:txBody>
      </p:sp>
      <p:sp>
        <p:nvSpPr>
          <p:cNvPr id="70" name="Google Shape;70;p16"/>
          <p:cNvSpPr txBox="1"/>
          <p:nvPr/>
        </p:nvSpPr>
        <p:spPr>
          <a:xfrm>
            <a:off x="181900" y="1270250"/>
            <a:ext cx="8857500" cy="1444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Произведение матриц.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Реализация произведения матриц на основе CUDA API.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Реализация произведения матриц на основе numba.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990600" y="178828"/>
            <a:ext cx="70866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Произведение матриц</a:t>
            </a:r>
            <a:endParaRPr b="1" sz="2200"/>
          </a:p>
        </p:txBody>
      </p:sp>
      <p:sp>
        <p:nvSpPr>
          <p:cNvPr id="76" name="Google Shape;76;p17"/>
          <p:cNvSpPr txBox="1"/>
          <p:nvPr/>
        </p:nvSpPr>
        <p:spPr>
          <a:xfrm>
            <a:off x="311700" y="1207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000000"/>
                </a:solidFill>
              </a:rPr>
              <a:t>Умножение матриц C</a:t>
            </a:r>
            <a:r>
              <a:rPr baseline="-25000" lang="en" sz="8000">
                <a:solidFill>
                  <a:srgbClr val="000000"/>
                </a:solidFill>
              </a:rPr>
              <a:t>mn </a:t>
            </a:r>
            <a:r>
              <a:rPr lang="en" sz="8000">
                <a:solidFill>
                  <a:srgbClr val="000000"/>
                </a:solidFill>
              </a:rPr>
              <a:t>= ∑A</a:t>
            </a:r>
            <a:r>
              <a:rPr baseline="-25000" lang="en" sz="8000">
                <a:solidFill>
                  <a:srgbClr val="000000"/>
                </a:solidFill>
              </a:rPr>
              <a:t>mk</a:t>
            </a:r>
            <a:r>
              <a:rPr lang="en" sz="8000">
                <a:solidFill>
                  <a:srgbClr val="000000"/>
                </a:solidFill>
              </a:rPr>
              <a:t> B</a:t>
            </a:r>
            <a:r>
              <a:rPr baseline="-25000" lang="en" sz="8000">
                <a:solidFill>
                  <a:srgbClr val="000000"/>
                </a:solidFill>
              </a:rPr>
              <a:t>kn  </a:t>
            </a:r>
            <a:endParaRPr sz="8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                                                                                                                            </a:t>
            </a:r>
            <a:r>
              <a:rPr lang="en" sz="6446"/>
              <a:t>k</a:t>
            </a:r>
            <a:endParaRPr sz="6446"/>
          </a:p>
        </p:txBody>
      </p:sp>
      <p:graphicFrame>
        <p:nvGraphicFramePr>
          <p:cNvPr id="77" name="Google Shape;77;p17"/>
          <p:cNvGraphicFramePr/>
          <p:nvPr/>
        </p:nvGraphicFramePr>
        <p:xfrm>
          <a:off x="1607400" y="242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{CA59968A-0235-4C8F-8266-B352F941CDE1}</a:tableStyleId>
              </a:tblPr>
              <a:tblGrid>
                <a:gridCol w="725800"/>
                <a:gridCol w="725800"/>
                <a:gridCol w="725800"/>
                <a:gridCol w="725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A</a:t>
                      </a:r>
                      <a:r>
                        <a:rPr baseline="-25000" lang="en" sz="2000"/>
                        <a:t>00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A</a:t>
                      </a:r>
                      <a:r>
                        <a:rPr baseline="-25000" lang="en" sz="2000"/>
                        <a:t>1</a:t>
                      </a:r>
                      <a:r>
                        <a:rPr baseline="-25000" lang="en" sz="2000"/>
                        <a:t>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A</a:t>
                      </a:r>
                      <a:r>
                        <a:rPr baseline="-25000" lang="en" sz="2000"/>
                        <a:t>2</a:t>
                      </a:r>
                      <a:r>
                        <a:rPr baseline="-25000" lang="en" sz="2000"/>
                        <a:t>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" name="Google Shape;78;p17"/>
          <p:cNvSpPr/>
          <p:nvPr/>
        </p:nvSpPr>
        <p:spPr>
          <a:xfrm>
            <a:off x="1581600" y="2402100"/>
            <a:ext cx="82800" cy="14895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4272575" y="2402100"/>
            <a:ext cx="82800" cy="1489500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0" name="Google Shape;80;p17"/>
          <p:cNvGraphicFramePr/>
          <p:nvPr/>
        </p:nvGraphicFramePr>
        <p:xfrm>
          <a:off x="4960200" y="220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{CA59968A-0235-4C8F-8266-B352F941CDE1}</a:tableStyleId>
              </a:tblPr>
              <a:tblGrid>
                <a:gridCol w="725800"/>
                <a:gridCol w="725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</a:t>
                      </a:r>
                      <a:r>
                        <a:rPr baseline="-25000" lang="en" sz="2000"/>
                        <a:t>00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</a:t>
                      </a:r>
                      <a:r>
                        <a:rPr baseline="-25000" lang="en" sz="2000"/>
                        <a:t>10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</a:t>
                      </a:r>
                      <a:r>
                        <a:rPr baseline="-25000" lang="en" sz="2000"/>
                        <a:t>20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</a:t>
                      </a:r>
                      <a:r>
                        <a:rPr baseline="-25000" lang="en" sz="2000"/>
                        <a:t>3</a:t>
                      </a:r>
                      <a:r>
                        <a:rPr baseline="-25000" lang="en" sz="2000"/>
                        <a:t>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" name="Google Shape;81;p17"/>
          <p:cNvSpPr/>
          <p:nvPr/>
        </p:nvSpPr>
        <p:spPr>
          <a:xfrm>
            <a:off x="4934400" y="2249700"/>
            <a:ext cx="82800" cy="18684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6253775" y="2249700"/>
            <a:ext cx="82800" cy="18684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p17"/>
          <p:cNvGraphicFramePr/>
          <p:nvPr/>
        </p:nvGraphicFramePr>
        <p:xfrm>
          <a:off x="6967994" y="24387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{CA59968A-0235-4C8F-8266-B352F941CDE1}</a:tableStyleId>
              </a:tblPr>
              <a:tblGrid>
                <a:gridCol w="725800"/>
                <a:gridCol w="725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C</a:t>
                      </a:r>
                      <a:r>
                        <a:rPr baseline="-25000" lang="en" sz="2000"/>
                        <a:t>00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C</a:t>
                      </a:r>
                      <a:r>
                        <a:rPr baseline="-25000" lang="en" sz="2000"/>
                        <a:t>10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C</a:t>
                      </a:r>
                      <a:r>
                        <a:rPr baseline="-25000" lang="en" sz="2000"/>
                        <a:t>20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" name="Google Shape;84;p17"/>
          <p:cNvSpPr/>
          <p:nvPr/>
        </p:nvSpPr>
        <p:spPr>
          <a:xfrm>
            <a:off x="6935713" y="2584004"/>
            <a:ext cx="82800" cy="13176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8211963" y="2617229"/>
            <a:ext cx="82800" cy="13176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4451979" y="2928175"/>
            <a:ext cx="41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⤬</a:t>
            </a:r>
            <a:endParaRPr sz="2000"/>
          </a:p>
        </p:txBody>
      </p:sp>
      <p:sp>
        <p:nvSpPr>
          <p:cNvPr id="87" name="Google Shape;87;p17"/>
          <p:cNvSpPr txBox="1"/>
          <p:nvPr/>
        </p:nvSpPr>
        <p:spPr>
          <a:xfrm>
            <a:off x="6466246" y="2922015"/>
            <a:ext cx="41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=</a:t>
            </a:r>
            <a:endParaRPr sz="2000"/>
          </a:p>
        </p:txBody>
      </p:sp>
      <p:sp>
        <p:nvSpPr>
          <p:cNvPr id="88" name="Google Shape;88;p17"/>
          <p:cNvSpPr txBox="1"/>
          <p:nvPr/>
        </p:nvSpPr>
        <p:spPr>
          <a:xfrm rot="-5400000">
            <a:off x="314175" y="2895971"/>
            <a:ext cx="117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M</a:t>
            </a:r>
            <a:r>
              <a:rPr lang="en" sz="2000"/>
              <a:t> строк</a:t>
            </a:r>
            <a:endParaRPr sz="2000"/>
          </a:p>
        </p:txBody>
      </p:sp>
      <p:sp>
        <p:nvSpPr>
          <p:cNvPr id="89" name="Google Shape;89;p17"/>
          <p:cNvSpPr txBox="1"/>
          <p:nvPr/>
        </p:nvSpPr>
        <p:spPr>
          <a:xfrm>
            <a:off x="2295375" y="4251035"/>
            <a:ext cx="165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K</a:t>
            </a:r>
            <a:r>
              <a:rPr lang="en" sz="2000"/>
              <a:t> столцов</a:t>
            </a:r>
            <a:endParaRPr sz="2000"/>
          </a:p>
        </p:txBody>
      </p:sp>
      <p:sp>
        <p:nvSpPr>
          <p:cNvPr id="90" name="Google Shape;90;p17"/>
          <p:cNvSpPr txBox="1"/>
          <p:nvPr/>
        </p:nvSpPr>
        <p:spPr>
          <a:xfrm>
            <a:off x="4962375" y="4310700"/>
            <a:ext cx="152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N</a:t>
            </a:r>
            <a:r>
              <a:rPr lang="en" sz="2000"/>
              <a:t> столцов</a:t>
            </a:r>
            <a:endParaRPr sz="2000"/>
          </a:p>
        </p:txBody>
      </p:sp>
      <p:sp>
        <p:nvSpPr>
          <p:cNvPr id="91" name="Google Shape;91;p17"/>
          <p:cNvSpPr/>
          <p:nvPr/>
        </p:nvSpPr>
        <p:spPr>
          <a:xfrm>
            <a:off x="6250325" y="1356125"/>
            <a:ext cx="1451700" cy="492600"/>
          </a:xfrm>
          <a:prstGeom prst="wedgeRectCallout">
            <a:avLst>
              <a:gd fmla="val -38610" name="adj1"/>
              <a:gd fmla="val 278959" name="adj2"/>
            </a:avLst>
          </a:prstGeom>
          <a:solidFill>
            <a:srgbClr val="C0C3A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K</a:t>
            </a:r>
            <a:r>
              <a:rPr lang="en" sz="2000"/>
              <a:t> строк</a:t>
            </a:r>
            <a:endParaRPr sz="2000"/>
          </a:p>
        </p:txBody>
      </p:sp>
      <p:sp>
        <p:nvSpPr>
          <p:cNvPr id="92" name="Google Shape;92;p17"/>
          <p:cNvSpPr txBox="1"/>
          <p:nvPr/>
        </p:nvSpPr>
        <p:spPr>
          <a:xfrm>
            <a:off x="6943575" y="4310700"/>
            <a:ext cx="152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N</a:t>
            </a:r>
            <a:r>
              <a:rPr lang="en" sz="2000"/>
              <a:t> столцов</a:t>
            </a:r>
            <a:endParaRPr sz="2000"/>
          </a:p>
        </p:txBody>
      </p:sp>
      <p:sp>
        <p:nvSpPr>
          <p:cNvPr id="93" name="Google Shape;93;p17"/>
          <p:cNvSpPr txBox="1"/>
          <p:nvPr/>
        </p:nvSpPr>
        <p:spPr>
          <a:xfrm rot="-5400000">
            <a:off x="8086575" y="2939100"/>
            <a:ext cx="117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M</a:t>
            </a:r>
            <a:r>
              <a:rPr lang="en" sz="2000"/>
              <a:t> </a:t>
            </a:r>
            <a:r>
              <a:rPr lang="en" sz="2000"/>
              <a:t>строк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198775" y="175"/>
            <a:ext cx="8733300" cy="51102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#include &lt;malloc.h&gt;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#include &lt;ctime&gt;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M 1024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K 1024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N 1024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void hMultMats(double** A, double** B, double** C){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double acc;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for(int m=0; m&lt;M;m++)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for(int n=0; n&lt;N;n++){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acc=0.0;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for(int k=0; k&lt;K;k++)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acc+=A[m][k]*B[k][n];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C[m][n]=acc;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/>
        </p:nvSpPr>
        <p:spPr>
          <a:xfrm>
            <a:off x="225275" y="1073600"/>
            <a:ext cx="8746500" cy="2955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void hInitMats(double** A, double** B){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for(int m=0; m&lt;M;m++)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for(int k=0; k&lt;K; k++)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   A[m][k]=(double)((k+m*K)*1.0E-5);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for(int k=0; k&lt;K;k++)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for(int n=0; n&lt;N;n++)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   B[k][n]=1.0;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/>
        </p:nvSpPr>
        <p:spPr>
          <a:xfrm>
            <a:off x="265050" y="23350"/>
            <a:ext cx="8653800" cy="51102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Int main(){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double **A, **B, **C;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A=(double**)calloc(M, sizeof(double*));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for(int m=0; m&lt;M; m++)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A[m]=(double*)calloc(K, sizeof(double));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……………………………………………………………….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hInitMats(A, B);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clock_t start=clock();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hMultMats(A, B, C);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clock_t finish=clock();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……………………………………………………………………..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hMatOut(A, M, K);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hMatOut(B, K, N);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hMatOut(C, M, N);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…………………………………………………………………………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/>
        </p:nvSpPr>
        <p:spPr>
          <a:xfrm>
            <a:off x="172275" y="334775"/>
            <a:ext cx="8826000" cy="4371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/Lecture8/Lab8&gt; ./lab8cpu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0       0.00128 0.00256 0.00384 0.00512 0.0064  0.00768 0.00896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1.31072 1.312   1.31328 1.31456 1.31584 1.31712 1.3184  1.31968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…………………………………………………………………………………………………………………………………………………………………….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9.17504 9.17632 9.1776  9.17888 9.18016 9.18144 9.18272 9.184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////////////////////////////////////////////////////////////////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1       1       1       1       1       1       1       1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1       1       1       1       1       1       1       1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…………………………………………………………………………………………………………………………………………………………………….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////////////////////////////////////////////////////////////////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5.23776 5.23776 5.23776 5.23776 5.23776 5.23776 5.23776 5.23776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1347.42 1347.42 1347.42 1347.42 1347.42 1347.42 1347.42 1347.42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2689.59 2689.59 2689.59 2689.59 2689.59 2689.59 2689.59 2689.59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…………………………………………………………………………………………………………………………………………………………………….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9400.48 9400.48 9400.48 9400.48 9400.48 9400.48 9400.48 9400.48</a:t>
            </a:r>
            <a:endParaRPr sz="17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Elapsed time: 4173.59 ms</a:t>
            </a:r>
            <a:endParaRPr b="1">
              <a:highlight>
                <a:srgbClr val="D9D9D9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/>
        </p:nvSpPr>
        <p:spPr>
          <a:xfrm>
            <a:off x="119275" y="29996"/>
            <a:ext cx="8958600" cy="24012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/Lecture8/Lab8&gt; g++  lab8cpu.cpp  -pg -o lab8cpu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/Lecture8/Lab8&gt; ./lab8cpu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/Lecture8/Lab8&gt; ls -ltr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итого 720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-rw-r--r-- 1 malkov users   1528 Mar 16 18:27 lab8cpu.cpp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-rwxr-xr-x 1 malkov users  20496 Mar 16 19:22 lab8cpu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-rw-r--r-- 1 malkov users   1023 Mar 16 19:22 </a:t>
            </a:r>
            <a:r>
              <a:rPr b="1" lang="en" sz="1800">
                <a:solidFill>
                  <a:schemeClr val="dk1"/>
                </a:solidFill>
                <a:highlight>
                  <a:srgbClr val="D9D9D9"/>
                </a:highlight>
              </a:rPr>
              <a:t>gmon.out</a:t>
            </a:r>
            <a:endParaRPr b="1"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/Lecture8/Lab8&gt; </a:t>
            </a:r>
            <a:r>
              <a:rPr b="1" lang="en" sz="1800">
                <a:solidFill>
                  <a:schemeClr val="dk1"/>
                </a:solidFill>
                <a:highlight>
                  <a:srgbClr val="D9D9D9"/>
                </a:highlight>
              </a:rPr>
              <a:t>gprof lab8cpu gmon.out &gt; lab8cpu.prof</a:t>
            </a:r>
            <a:endParaRPr>
              <a:highlight>
                <a:srgbClr val="D9D9D9"/>
              </a:highlight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119275" y="2458450"/>
            <a:ext cx="8958600" cy="2616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/Lecture8/Lab8&gt; vim lab8cpu.prof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Flat profile: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Each sample counts as 0.01 seconds.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%   cumulative  self    self    total     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time      secs      secs  calls   s/call    s/call              name     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100.40  3.98     </a:t>
            </a:r>
            <a:r>
              <a:rPr b="1" lang="en" sz="1800">
                <a:solidFill>
                  <a:schemeClr val="dk1"/>
                </a:solidFill>
                <a:highlight>
                  <a:srgbClr val="D9D9D9"/>
                </a:highlight>
              </a:rPr>
              <a:t>3.98</a:t>
            </a: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   1       3.98     3.98  hMultMats(double**, double**, double**)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0.25     3.99      0.01    1        0.01     0.01  hInitMats(double**, double**)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……………………………………………………………………………………………………………………………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/>
        </p:nvSpPr>
        <p:spPr>
          <a:xfrm>
            <a:off x="118925" y="142350"/>
            <a:ext cx="8892900" cy="4802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#include &lt;malloc.h&gt;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M 1024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K 1024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N 1024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BLOCK_DIM 32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__global__ void gMultMats(</a:t>
            </a:r>
            <a:r>
              <a:rPr b="1" lang="en" sz="2000">
                <a:solidFill>
                  <a:schemeClr val="dk1"/>
                </a:solidFill>
              </a:rPr>
              <a:t>float</a:t>
            </a:r>
            <a:r>
              <a:rPr b="1" lang="en" sz="2000"/>
              <a:t>* A, </a:t>
            </a:r>
            <a:r>
              <a:rPr b="1" lang="en" sz="2000">
                <a:solidFill>
                  <a:schemeClr val="dk1"/>
                </a:solidFill>
              </a:rPr>
              <a:t>float</a:t>
            </a:r>
            <a:r>
              <a:rPr b="1" lang="en" sz="2000"/>
              <a:t>* B, </a:t>
            </a:r>
            <a:r>
              <a:rPr b="1" lang="en" sz="2000">
                <a:solidFill>
                  <a:schemeClr val="dk1"/>
                </a:solidFill>
              </a:rPr>
              <a:t>float</a:t>
            </a:r>
            <a:r>
              <a:rPr b="1" lang="en" sz="2000"/>
              <a:t>* C){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int n=threadIdx.x + blockIdx.x*blockDim.x;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int m=threadIdx.y + blockIdx.y*blockDim.y; 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float acc=0.0;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for(int k=0; k&lt;K; k++)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  acc+=A[k+m*K]*B[n+k*N];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C[n+m*N]=acc;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}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/>
        </p:nvSpPr>
        <p:spPr>
          <a:xfrm>
            <a:off x="118925" y="1096400"/>
            <a:ext cx="8932500" cy="2555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__global__ void gInit(float* D, int s){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int j=threadIdx.x + blockIdx.x*blockDim.x;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int i=threadIdx.y + blockIdx.y*blockDim.y;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int J=blockDim.x*gridDim.x;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D[j+i*J]=s*(float)((j+i*J)*1.0E-5)+(1-s)*1.0f;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/>
        </p:nvSpPr>
        <p:spPr>
          <a:xfrm>
            <a:off x="171775" y="168775"/>
            <a:ext cx="8787300" cy="5110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int main(){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float *A, *B, *C;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cudaMalloc((void**)&amp;A, M*K*sizeof(float));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…………………………………………………………………………………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gInit&lt;&lt;&lt;dim3(K/32, M/32),dim3(32,32)&gt;&gt;&gt;(A,1);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cudaDeviceSynchronize();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gInit&lt;&lt;&lt;dim3(N/32, K/32),dim3(32,32)&gt;&gt;&gt;(B,0);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cudaDeviceSynchronize();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cudaMemset(C, 0, M*N*sizeof(REAL));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gMultMats&lt;&lt;&lt;dim3(N/</a:t>
            </a:r>
            <a:r>
              <a:rPr lang="en" sz="2000">
                <a:solidFill>
                  <a:schemeClr val="dk1"/>
                </a:solidFill>
              </a:rPr>
              <a:t>BLOCK_DIM</a:t>
            </a:r>
            <a:r>
              <a:rPr lang="en" sz="2000"/>
              <a:t>, M/</a:t>
            </a:r>
            <a:r>
              <a:rPr lang="en" sz="2000">
                <a:solidFill>
                  <a:schemeClr val="dk1"/>
                </a:solidFill>
              </a:rPr>
              <a:t>BLOCK_DIM</a:t>
            </a:r>
            <a:r>
              <a:rPr lang="en" sz="2000"/>
              <a:t>),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                 dim3(</a:t>
            </a:r>
            <a:r>
              <a:rPr lang="en" sz="2000">
                <a:solidFill>
                  <a:schemeClr val="dk1"/>
                </a:solidFill>
              </a:rPr>
              <a:t>BLOCK_DIM</a:t>
            </a:r>
            <a:r>
              <a:rPr lang="en" sz="2000"/>
              <a:t>, </a:t>
            </a:r>
            <a:r>
              <a:rPr lang="en" sz="2000">
                <a:solidFill>
                  <a:schemeClr val="dk1"/>
                </a:solidFill>
              </a:rPr>
              <a:t>BLOCK_DIM</a:t>
            </a:r>
            <a:r>
              <a:rPr lang="en" sz="2000"/>
              <a:t>)&gt;&gt;&gt;(A,B,C);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cudaDeviceSynchronize();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hMatOut(A, M, K);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………………………………………………………………………………..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/>
        </p:nvSpPr>
        <p:spPr>
          <a:xfrm>
            <a:off x="92500" y="92575"/>
            <a:ext cx="8919300" cy="43407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/Lecture8/Lab8&gt; ./lab8gpu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0       0.00128 0.00256 0.00384 0.00512 0.0064  0.00768 0.00896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1.31072 1.312   1.31328 1.31456 1.31584 1.31712 1.3184  1.31968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9.17504 9.17632 9.1776  9.17888 9.18016 9.18144 9.18272 9.184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////////////////////////////////////////////////////////////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1       1       1       1       1       1       1       1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1       1       1       1       1       1       1       1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……………………………………………………………………………………………………………………………………………………………..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///////////////////////////////////////////////////////////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5.23776 5.23776 5.23776 5.23776 5.23776 5.23776 5.23776 5.23776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1347.42 1347.42 1347.42 1347.42 1347.42 1347.42 1347.42 1347.42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2689.59 2689.59 2689.59 2689.59 2689.59 2689.59 2689.59 2689.59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……………………………………………………………………………………………………………………………………………………………..</a:t>
            </a:r>
            <a:endParaRPr sz="1800">
              <a:solidFill>
                <a:schemeClr val="dk1"/>
              </a:solidFill>
              <a:highlight>
                <a:srgbClr val="D9D9D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  <a:latin typeface="Courier New"/>
                <a:ea typeface="Courier New"/>
                <a:cs typeface="Courier New"/>
                <a:sym typeface="Courier New"/>
              </a:rPr>
              <a:t>9400.48 9400.48 9400.48 9400.48 9400.48 9400.48 9400.48 9400.48</a:t>
            </a:r>
            <a:endParaRPr sz="1800">
              <a:highlight>
                <a:srgbClr val="D9D9D9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/>
        </p:nvSpPr>
        <p:spPr>
          <a:xfrm>
            <a:off x="66075" y="397375"/>
            <a:ext cx="8998800" cy="20625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/Lecture8/Lab8&gt; nvprof ./lab8gpu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  Type  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Time(%)  Time    Calls   Avg           Min           Max                  Name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GPU activities:   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63.25%  3.9720ms   1  3.9720ms  3.9720ms  3.9720ms  gMultMats(float*, float*, float*)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  1.90%   119.46us   2  59.728us   59.648us   59.808us   gInit(float*, int)</a:t>
            </a:r>
            <a:endParaRPr>
              <a:highlight>
                <a:srgbClr val="D9D9D9"/>
              </a:highlight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105700" y="2859125"/>
            <a:ext cx="8959200" cy="492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CE5CD"/>
                </a:highlight>
              </a:rPr>
              <a:t>3.98s*1000/3.9720=</a:t>
            </a:r>
            <a:r>
              <a:rPr b="1" lang="en" sz="2000">
                <a:solidFill>
                  <a:schemeClr val="dk1"/>
                </a:solidFill>
                <a:highlight>
                  <a:srgbClr val="FCE5CD"/>
                </a:highlight>
              </a:rPr>
              <a:t>1002.0141</a:t>
            </a:r>
            <a:endParaRPr b="1" sz="1600">
              <a:highlight>
                <a:srgbClr val="FCE5CD"/>
              </a:highlight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1744225" y="3660325"/>
            <a:ext cx="671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 txBox="1"/>
          <p:nvPr/>
        </p:nvSpPr>
        <p:spPr>
          <a:xfrm>
            <a:off x="3224200" y="3750975"/>
            <a:ext cx="4400100" cy="554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Ускорение в тысячу раз!😲</a:t>
            </a:r>
            <a:endParaRPr b="1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/>
        </p:nvSpPr>
        <p:spPr>
          <a:xfrm>
            <a:off x="217450" y="31658"/>
            <a:ext cx="8676000" cy="51087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import numpy as np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from numba import jit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from numba import cuda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from time import  perf_counter_ns  as timer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from numba import cuda, float32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@cuda.jit</a:t>
            </a:r>
            <a:r>
              <a:rPr lang="en" sz="1900">
                <a:solidFill>
                  <a:schemeClr val="dk1"/>
                </a:solidFill>
                <a:highlight>
                  <a:srgbClr val="FFF2CC"/>
                </a:highlight>
              </a:rPr>
              <a:t>#(argtypes=[float32[:,:], float32[:,:], float32[:,:]])</a:t>
            </a:r>
            <a:endParaRPr sz="19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def matmul(A, B, C):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  m,n = cuda.grid(2)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  if m &lt; C.shape[0] and n &lt; C.shape[1]: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      acc = 0.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      for k in range(A.shape[1]):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          acc += A[m, k] * B[k, n]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       C[m, n] = acc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/>
        </p:nvSpPr>
        <p:spPr>
          <a:xfrm>
            <a:off x="83725" y="100475"/>
            <a:ext cx="8943300" cy="49734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M=1024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K=1024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N=1024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A=np.arange(M*K)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A=A.reshape(M,K)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B=np.ones((K,N))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#C=np.zeros((M,N))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np.set_printoptions(formatter={'float': '{: 0.3g}'.format})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start = timer()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C=np.matmul(A,B)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dt = timer() - start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dt=dt/1000000.0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print ("np.matmul time %f ms" % dt)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print(C)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/>
        </p:nvSpPr>
        <p:spPr>
          <a:xfrm>
            <a:off x="133875" y="719425"/>
            <a:ext cx="8926800" cy="27543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A=np.float32(A)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B=np.float32(B)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C=np.float32(C)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dA=cuda.to_device(A)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dB=cuda.to_device(B)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dC=cuda.to_device(C)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/>
        </p:nvSpPr>
        <p:spPr>
          <a:xfrm>
            <a:off x="100425" y="117200"/>
            <a:ext cx="8910000" cy="34272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start = timer()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matmul[(64,64),(16,16)](dA,dB,dC)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cuda.synchronize() 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dt = timer() - start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#dC.to_host()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dt=dt/1000000.0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print ("matmul time %f ms" % dt)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print(dC)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/>
        </p:nvSpPr>
        <p:spPr>
          <a:xfrm>
            <a:off x="184700" y="574775"/>
            <a:ext cx="8775000" cy="3232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D9D9D9"/>
                </a:highlight>
              </a:rPr>
              <a:t>/Lab10&gt; python cuda-gemm3.py</a:t>
            </a:r>
            <a:endParaRPr sz="18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np.matmul time 20.236182 ms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[[ 5.24e+05  5.24e+05  5.24e+05 ...  5.24e+05  5.24e+05  5.24e+05]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[ 1.57e+06  1.57e+06  1.57e+06 ...  1.57e+06  1.57e+06  1.57e+06]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...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[ 1.07e+09  1.07e+09  1.07e+09 ...  1.07e+09  1.07e+09  1.07e+09]]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matmul time 30.242027 ms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[[ 5.24e+05  5.24e+05  5.24e+05 ...  5.24e+05  5.24e+05  5.24e+05]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[ 1.57e+06  1.57e+06  1.57e+06 ...  1.57e+06  1.57e+06  1.57e+06]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...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[ 1.07e+09  1.07e+09  1.07e+09 ...  1.07e+09  1.07e+09  1.07e+09]]</a:t>
            </a:r>
            <a:endParaRPr sz="2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/>
        </p:nvSpPr>
        <p:spPr>
          <a:xfrm>
            <a:off x="134350" y="786600"/>
            <a:ext cx="9009600" cy="215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chemeClr val="lt1"/>
                </a:highlight>
              </a:rPr>
              <a:t>Type  </a:t>
            </a:r>
            <a:endParaRPr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chemeClr val="lt1"/>
                </a:highlight>
              </a:rPr>
              <a:t>Time(%)   Time     Calls       Avg                Min           Max          Name</a:t>
            </a:r>
            <a:endParaRPr sz="1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GPU activities:   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49.23%  62.324ms   2       </a:t>
            </a:r>
            <a:r>
              <a:rPr b="1" lang="en" sz="1900">
                <a:solidFill>
                  <a:schemeClr val="dk1"/>
                </a:solidFill>
                <a:highlight>
                  <a:srgbClr val="D9D9D9"/>
                </a:highlight>
              </a:rPr>
              <a:t>31.162ms</a:t>
            </a: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    30.458ms    31.866ms  cudapy::__main__::</a:t>
            </a:r>
            <a:r>
              <a:rPr b="1" lang="en" sz="1900">
                <a:solidFill>
                  <a:srgbClr val="FF0000"/>
                </a:solidFill>
                <a:highlight>
                  <a:srgbClr val="D9D9D9"/>
                </a:highlight>
              </a:rPr>
              <a:t>matmul</a:t>
            </a:r>
            <a:r>
              <a:rPr lang="en" sz="1900">
                <a:solidFill>
                  <a:schemeClr val="dk1"/>
                </a:solidFill>
                <a:highlight>
                  <a:srgbClr val="D9D9D9"/>
                </a:highlight>
              </a:rPr>
              <a:t>$242(Array&lt;float, int=2, A, mutable, aligned&gt;, Array&lt;float, int=2, A, mutable, aligned&gt;, Array&lt;float, int=2, A, mutable, aligned&gt;)</a:t>
            </a:r>
            <a:endParaRPr sz="1900">
              <a:solidFill>
                <a:schemeClr val="dk1"/>
              </a:solidFill>
              <a:highlight>
                <a:srgbClr val="D9D9D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3"/>
          <p:cNvSpPr txBox="1"/>
          <p:nvPr/>
        </p:nvSpPr>
        <p:spPr>
          <a:xfrm>
            <a:off x="133875" y="100475"/>
            <a:ext cx="8910000" cy="492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D9D9D9"/>
                </a:highlight>
              </a:rPr>
              <a:t>/Lab10&gt; nvprof python cuda-gemm3.py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