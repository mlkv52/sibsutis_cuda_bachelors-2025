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0500526a99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2" name="Google Shape;62;g20500526a99_0_16:notes"/>
          <p:cNvSpPr/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20500526a99_0_16:notes"/>
          <p:cNvSpPr txBox="1"/>
          <p:nvPr>
            <p:ph idx="1" type="body"/>
          </p:nvPr>
        </p:nvSpPr>
        <p:spPr>
          <a:xfrm>
            <a:off x="685800" y="4343400"/>
            <a:ext cx="54831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41168721d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41168721d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41168721d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41168721d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41168721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41168721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1168721d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1168721d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1168721d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1168721d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1168721d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1168721d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41168721d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41168721d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161acfc8a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161acfc8a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2f47527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2f47527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42f475273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42f475273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2f475273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2f475273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161acfc8a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161acfc8a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61acfc8a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61acfc8a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161acfc8a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161acfc8a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161acfc8a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161acfc8a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161acfc8a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161acfc8a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161acfc8a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161acfc8a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161acfc8a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161acfc8a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161acfc8a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161acfc8a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4c3b1daf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04c3b1daf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161acfc8a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161acfc8a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04c3b1daf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04c3b1daf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161acfc8a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161acfc8a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161acfc8a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161acfc8a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161acfc8a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161acfc8a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161acfc8a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161acfc8a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161acfc8a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161acfc8a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C0C3A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0C3A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63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6300" cy="3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683919"/>
            <a:ext cx="2892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683919"/>
            <a:ext cx="2130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435425" y="119269"/>
            <a:ext cx="8397000" cy="738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Лекция 7</a:t>
            </a:r>
            <a:endParaRPr b="1" sz="3600"/>
          </a:p>
        </p:txBody>
      </p:sp>
      <p:sp>
        <p:nvSpPr>
          <p:cNvPr id="66" name="Google Shape;66;p15"/>
          <p:cNvSpPr txBox="1"/>
          <p:nvPr/>
        </p:nvSpPr>
        <p:spPr>
          <a:xfrm>
            <a:off x="323700" y="1498850"/>
            <a:ext cx="8715600" cy="10728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</a:pPr>
            <a:r>
              <a:rPr lang="en" sz="2800"/>
              <a:t>Константная память.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Char char="●"/>
            </a:pPr>
            <a:r>
              <a:rPr lang="en" sz="2800"/>
              <a:t>Текстурная память.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685800"/>
            <a:ext cx="5889082" cy="430599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/>
        </p:nvSpPr>
        <p:spPr>
          <a:xfrm>
            <a:off x="51375" y="143200"/>
            <a:ext cx="9030900" cy="413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/>
              <a:t>https://www.researchgate.net/figure/Memory-Hierarchy-in-the-NVIDIA-GPUs_fig2_228345757</a:t>
            </a:r>
            <a:endParaRPr i="1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60500" y="102875"/>
            <a:ext cx="8965800" cy="47703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#include &lt;stdio.h&gt;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ARRAY_SIZE 2048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THREADS_PER_BLOCK 64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__device__ float A[ARRAY_SIZE];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__device__ float B[ARRAY_SIZE/THREADS_PER_BLOCK];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__constant__ float C[ARRAY_SIZE/THREADS_PER_BLOCK];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__global__ void gOut();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__global__ void gInit(){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int i= threadIdx.x+blockIdx.x*blockDim.x;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A[i]=(float)i;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B[blockIdx.x]=(float)blockIdx.x;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8" name="Google Shape;78;p17"/>
          <p:cNvSpPr txBox="1"/>
          <p:nvPr/>
        </p:nvSpPr>
        <p:spPr>
          <a:xfrm>
            <a:off x="6313400" y="566800"/>
            <a:ext cx="1795200" cy="302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000"/>
              <a:t>test_mem.cu</a:t>
            </a:r>
            <a:endParaRPr b="1" i="1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100850" y="788675"/>
            <a:ext cx="8895300" cy="37920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void hInitC(){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int N=ARRAY_SIZE/THREADS_PER_BLOCK;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float* hC=(float*)calloc(N, sizeof(float));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for(int n=0;n&lt;N;n++)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hC[n]=(float)n;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 </a:t>
            </a:r>
            <a:r>
              <a:rPr b="1" lang="en" sz="2000"/>
              <a:t>cudaMemcpyToSymbol</a:t>
            </a:r>
            <a:r>
              <a:rPr lang="en" sz="2000"/>
              <a:t>(C, hC, N*sizeof(float), 0,</a:t>
            </a:r>
            <a:endParaRPr sz="2000"/>
          </a:p>
          <a:p>
            <a:pPr indent="457200" lvl="0" marL="4572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cudaMemcpyHostToDevice);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free(hC);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/>
        </p:nvSpPr>
        <p:spPr>
          <a:xfrm>
            <a:off x="121025" y="808850"/>
            <a:ext cx="8915400" cy="28845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__global__ void gTestB(){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int i= threadIdx.x+blockIdx.x*blockDim.x;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A[i]=A[i]*(</a:t>
            </a:r>
            <a:r>
              <a:rPr b="1" lang="en" sz="1800"/>
              <a:t>B</a:t>
            </a:r>
            <a:r>
              <a:rPr lang="en" sz="1800"/>
              <a:t>[blockIdx.x]+1);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__global__ void gTestC(){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int i= threadIdx.x+blockIdx.x*blockDim.x;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  A[i]=A[i]*(</a:t>
            </a:r>
            <a:r>
              <a:rPr b="1" lang="en" sz="1800"/>
              <a:t>C</a:t>
            </a:r>
            <a:r>
              <a:rPr lang="en" sz="1800"/>
              <a:t>[blockIdx.x]+1);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/>
        </p:nvSpPr>
        <p:spPr>
          <a:xfrm>
            <a:off x="60500" y="62525"/>
            <a:ext cx="8996100" cy="4871100"/>
          </a:xfrm>
          <a:prstGeom prst="rect">
            <a:avLst/>
          </a:prstGeom>
          <a:solidFill>
            <a:srgbClr val="D0E0E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int main(){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gInit&lt;&lt;&lt;ARRAY_SIZE/THREADS_PER_BLOCK, THREADS_PER_BLOCK&gt;&gt;&gt;();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cudaDeviceSynchronize();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hInitC();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gTestB&lt;&lt;&lt;ARRAY_SIZE/THREADS_PER_BLOCK, THREADS_PER_BLOCK&gt;&gt;&gt;();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cudaDeviceSynchronize();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gTestC&lt;&lt;&lt;ARRAY_SIZE/THREADS_PER_BLOCK, THREADS_PER_BLOCK&gt;&gt;&gt;();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cudaDeviceSynchronize();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gOut&lt;&lt;&lt;ARRAY_SIZE/THREADS_PER_BLOCK, THREADS_PER_BLOCK&gt;&gt;&gt;();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cudaDeviceSynchronize();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  return 0;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 txBox="1"/>
          <p:nvPr/>
        </p:nvSpPr>
        <p:spPr>
          <a:xfrm>
            <a:off x="100850" y="123050"/>
            <a:ext cx="8925600" cy="34188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#include &lt;stdio.h&gt;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#define ARRAY_SIZE 2048                                              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#define THREADS_PER_BLOCK 64                    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extern __device__ float B[ARRAY_SIZE/THREADS_PER_BLOCK];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extern  __constant__ float C[ARRAY_SIZE/THREADS_PER_BLOCK];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__global__ void gOut(){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printf("B %g\tC: %g\n", B[blockIdx.x], C[blockIdx.x]);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" name="Google Shape;99;p21"/>
          <p:cNvSpPr txBox="1"/>
          <p:nvPr/>
        </p:nvSpPr>
        <p:spPr>
          <a:xfrm>
            <a:off x="6232700" y="496200"/>
            <a:ext cx="2017200" cy="332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>
                <a:solidFill>
                  <a:schemeClr val="dk1"/>
                </a:solidFill>
              </a:rPr>
              <a:t>test_mem2.cu</a:t>
            </a:r>
            <a:endParaRPr sz="1800"/>
          </a:p>
        </p:txBody>
      </p:sp>
      <p:sp>
        <p:nvSpPr>
          <p:cNvPr id="100" name="Google Shape;100;p21"/>
          <p:cNvSpPr txBox="1"/>
          <p:nvPr/>
        </p:nvSpPr>
        <p:spPr>
          <a:xfrm>
            <a:off x="131100" y="3693225"/>
            <a:ext cx="8804400" cy="5145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highlight>
                  <a:srgbClr val="EFEFEF"/>
                </a:highlight>
              </a:rPr>
              <a:t>~/Lab7&gt; nvcc </a:t>
            </a:r>
            <a:r>
              <a:rPr b="1" lang="en" sz="2000">
                <a:solidFill>
                  <a:schemeClr val="dk1"/>
                </a:solidFill>
                <a:highlight>
                  <a:srgbClr val="EFEFEF"/>
                </a:highlight>
              </a:rPr>
              <a:t>-rdc=true</a:t>
            </a:r>
            <a:r>
              <a:rPr lang="en" sz="2000">
                <a:solidFill>
                  <a:schemeClr val="dk1"/>
                </a:solidFill>
                <a:highlight>
                  <a:srgbClr val="EFEFEF"/>
                </a:highlight>
              </a:rPr>
              <a:t>   test_mem.cu   test_mem2.cu -o test_mem</a:t>
            </a:r>
            <a:r>
              <a:rPr lang="en" sz="11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100">
              <a:solidFill>
                <a:schemeClr val="dk1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/>
        </p:nvSpPr>
        <p:spPr>
          <a:xfrm>
            <a:off x="100850" y="626175"/>
            <a:ext cx="8976000" cy="3580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</a:rPr>
              <a:t>7&gt; </a:t>
            </a:r>
            <a:r>
              <a:rPr b="1" lang="en" sz="1900">
                <a:solidFill>
                  <a:schemeClr val="dk1"/>
                </a:solidFill>
                <a:highlight>
                  <a:srgbClr val="EFEFEF"/>
                </a:highlight>
              </a:rPr>
              <a:t>nvprof ./test_mem &gt; test.txt</a:t>
            </a:r>
            <a:endParaRPr b="1" sz="1900">
              <a:solidFill>
                <a:schemeClr val="dk1"/>
              </a:solidFill>
              <a:highlight>
                <a:srgbClr val="EFEFE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==9251== NVPROF is profiling process 9251, command: ./test_mem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==9251== Profiling application: ./test_mem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==9251== Profiling result: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       Type  Time(%)      Time     Calls       Avg       Min       Max  Name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GPU activities:   99.84%  2.8895ms         1  2.8895ms  2.8895ms  2.8895ms  gOut(void)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               0.05%  1.5360us         1  1.5360us  1.5360us  1.5360us  gInit(void)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               0.05%  1.4080us         1  1.4080us  1.4080us  1.4080us  gTestB(void)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                   0.04%  1.2160us         1  1.2160us  1.2160us  1.2160us  gTestC(void)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/>
        </p:nvSpPr>
        <p:spPr>
          <a:xfrm>
            <a:off x="990600" y="26428"/>
            <a:ext cx="7086600" cy="464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/>
              <a:t>Текстурная память</a:t>
            </a:r>
            <a:endParaRPr b="1" i="1" sz="2100"/>
          </a:p>
        </p:txBody>
      </p:sp>
      <p:sp>
        <p:nvSpPr>
          <p:cNvPr id="111" name="Google Shape;111;p23"/>
          <p:cNvSpPr txBox="1"/>
          <p:nvPr/>
        </p:nvSpPr>
        <p:spPr>
          <a:xfrm>
            <a:off x="421025" y="829375"/>
            <a:ext cx="8328300" cy="1108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● Текстура – специальный интерфейс доступа к глобальной памяти, обеспечивающий 1D, 2D и 3D целочисленную и </a:t>
            </a:r>
            <a:r>
              <a:rPr b="1" lang="en" sz="2000"/>
              <a:t>вещественную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индексацию.</a:t>
            </a:r>
            <a:endParaRPr sz="2000"/>
          </a:p>
        </p:txBody>
      </p:sp>
      <p:pic>
        <p:nvPicPr>
          <p:cNvPr id="112" name="Google Shape;11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89975"/>
            <a:ext cx="8839199" cy="2757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/>
        </p:nvSpPr>
        <p:spPr>
          <a:xfrm>
            <a:off x="990600" y="26428"/>
            <a:ext cx="7086600" cy="464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2400"/>
              <a:t>Трилинейная  интерполяция</a:t>
            </a:r>
            <a:endParaRPr b="1" i="1" sz="2100"/>
          </a:p>
        </p:txBody>
      </p:sp>
      <p:pic>
        <p:nvPicPr>
          <p:cNvPr id="118" name="Google Shape;118;p24" title="Lecture7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450" y="566725"/>
            <a:ext cx="3278647" cy="453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4" title="Lecture7-1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7925" y="608425"/>
            <a:ext cx="3225999" cy="448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5" title="Lecture7g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2200" y="697000"/>
            <a:ext cx="60960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6" title="Lecture7-3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800" y="152400"/>
            <a:ext cx="4328370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/>
        </p:nvSpPr>
        <p:spPr>
          <a:xfrm>
            <a:off x="990600" y="26428"/>
            <a:ext cx="7086600" cy="4641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Интегрирование по сфере</a:t>
            </a:r>
            <a:endParaRPr b="1" sz="2400"/>
          </a:p>
        </p:txBody>
      </p:sp>
      <p:pic>
        <p:nvPicPr>
          <p:cNvPr id="135" name="Google Shape;13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42928"/>
            <a:ext cx="3800475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4275" y="3652851"/>
            <a:ext cx="5400675" cy="9334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7" name="Google Shape;137;p27"/>
          <p:cNvSpPr txBox="1"/>
          <p:nvPr/>
        </p:nvSpPr>
        <p:spPr>
          <a:xfrm>
            <a:off x="4064750" y="2013050"/>
            <a:ext cx="4960200" cy="492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Интеграл по сфере функции g(φ, ψ):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5400"/>
            <a:ext cx="8839200" cy="349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8"/>
          <p:cNvSpPr txBox="1"/>
          <p:nvPr/>
        </p:nvSpPr>
        <p:spPr>
          <a:xfrm>
            <a:off x="990600" y="26428"/>
            <a:ext cx="7086600" cy="833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Текстуры: аппаратная интерполяция</a:t>
            </a:r>
            <a:endParaRPr b="1" sz="24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(пример использования)</a:t>
            </a:r>
            <a:endParaRPr b="1" sz="2400"/>
          </a:p>
        </p:txBody>
      </p:sp>
      <p:pic>
        <p:nvPicPr>
          <p:cNvPr id="144" name="Google Shape;14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39550" y="1774678"/>
            <a:ext cx="2476500" cy="1371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276300" y="2840175"/>
            <a:ext cx="8715300" cy="14160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Вещественные сферические функции образуют </a:t>
            </a:r>
            <a:r>
              <a:rPr b="1" lang="en" sz="2000"/>
              <a:t>ортонормированный </a:t>
            </a:r>
            <a:r>
              <a:rPr lang="en" sz="2000"/>
              <a:t>базис в гильбертовом пространстве. Первые функции в разложении по этому базису (“поперечно-скошенная”, квадрупольная и бароподобная моды).</a:t>
            </a:r>
            <a:endParaRPr sz="2000"/>
          </a:p>
        </p:txBody>
      </p:sp>
      <p:pic>
        <p:nvPicPr>
          <p:cNvPr id="150" name="Google Shape;1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05250"/>
            <a:ext cx="8839200" cy="73316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9"/>
          <p:cNvSpPr txBox="1"/>
          <p:nvPr/>
        </p:nvSpPr>
        <p:spPr>
          <a:xfrm>
            <a:off x="990600" y="26428"/>
            <a:ext cx="7086600" cy="833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Тестовые функции, заданные в 3D пространстве </a:t>
            </a:r>
            <a:endParaRPr b="1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/>
        </p:nvSpPr>
        <p:spPr>
          <a:xfrm>
            <a:off x="223675" y="250475"/>
            <a:ext cx="8802000" cy="8004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Задание:</a:t>
            </a:r>
            <a:r>
              <a:rPr lang="en" sz="2000"/>
              <a:t> определить эффективность аппаратной интерполяции при использовании текстурной памяти.</a:t>
            </a:r>
            <a:endParaRPr sz="2000"/>
          </a:p>
        </p:txBody>
      </p:sp>
      <p:sp>
        <p:nvSpPr>
          <p:cNvPr id="157" name="Google Shape;157;p30"/>
          <p:cNvSpPr txBox="1"/>
          <p:nvPr/>
        </p:nvSpPr>
        <p:spPr>
          <a:xfrm>
            <a:off x="276300" y="1242725"/>
            <a:ext cx="8749500" cy="8004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Шаг 1: </a:t>
            </a:r>
            <a:r>
              <a:rPr lang="en" sz="2000"/>
              <a:t>сохранить</a:t>
            </a:r>
            <a:r>
              <a:rPr lang="en" sz="2000"/>
              <a:t> значения тестовой функции/функций в узлах трехмерной сетки в глобальной памяти. </a:t>
            </a:r>
            <a:endParaRPr sz="2000"/>
          </a:p>
        </p:txBody>
      </p:sp>
      <p:pic>
        <p:nvPicPr>
          <p:cNvPr id="158" name="Google Shape;1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2200" y="2195525"/>
            <a:ext cx="2863440" cy="26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/>
        </p:nvSpPr>
        <p:spPr>
          <a:xfrm>
            <a:off x="197250" y="184700"/>
            <a:ext cx="8749500" cy="800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Шаг 2: </a:t>
            </a:r>
            <a:r>
              <a:rPr lang="en" sz="2000"/>
              <a:t>определить значения декартовых координат узлов сферической координатной сетки на сфере радиуса RADIUS</a:t>
            </a:r>
            <a:r>
              <a:rPr lang="en" sz="2000"/>
              <a:t>. </a:t>
            </a:r>
            <a:endParaRPr sz="2000"/>
          </a:p>
        </p:txBody>
      </p:sp>
      <p:sp>
        <p:nvSpPr>
          <p:cNvPr id="164" name="Google Shape;164;p31"/>
          <p:cNvSpPr txBox="1"/>
          <p:nvPr/>
        </p:nvSpPr>
        <p:spPr>
          <a:xfrm>
            <a:off x="197225" y="1079350"/>
            <a:ext cx="8749500" cy="35709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struct Vertex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float x, y, z;  </a:t>
            </a:r>
            <a:endParaRPr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__constant__ Vertex vert[VERTCOUNT];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void init_vertices(){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 Vertex *temp_vert = (Vertex *)malloc(sizeof(Vertex) * VERTCOUNT);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 int i = 0;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/>
        </p:nvSpPr>
        <p:spPr>
          <a:xfrm>
            <a:off x="157875" y="95850"/>
            <a:ext cx="8880900" cy="38790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for (int iphi = 0; iphi &lt; 2 * COEF; ++iphi)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for (int ipsi = 0; ipsi &lt; COEF; ++ipsi, ++i) 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float phi = iphi * M_PI / COEF;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float psi = ipsi * M_PI / COEF;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temp_vert[i].x = RADIUS * sinf(psi) * cosf(phi);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temp_vert[i].y = RADIUS * sinf(psi) * sinf(phi);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temp_vert[i].z = RADIUS * cosf(psi);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</a:t>
            </a:r>
            <a:r>
              <a:rPr b="1" lang="en" sz="2000"/>
              <a:t>cudaMemcpyToSymbol</a:t>
            </a:r>
            <a:r>
              <a:rPr lang="en" sz="2000"/>
              <a:t>(vert, temp_vert, sizeof(Vertex) * VERTCOUNT, 0,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										            cudaMemcpyHostToDevice);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free(temp_vert);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/>
        </p:nvSpPr>
        <p:spPr>
          <a:xfrm>
            <a:off x="197250" y="184700"/>
            <a:ext cx="8749500" cy="800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Шаг 3: </a:t>
            </a:r>
            <a:r>
              <a:rPr lang="en" sz="2000"/>
              <a:t>сохранить значения тестовой функции/функций, определенные на первом шаге в текстуре</a:t>
            </a:r>
            <a:r>
              <a:rPr lang="en" sz="2000"/>
              <a:t>. </a:t>
            </a:r>
            <a:endParaRPr sz="2000"/>
          </a:p>
        </p:txBody>
      </p:sp>
      <p:sp>
        <p:nvSpPr>
          <p:cNvPr id="175" name="Google Shape;175;p33"/>
          <p:cNvSpPr txBox="1"/>
          <p:nvPr/>
        </p:nvSpPr>
        <p:spPr>
          <a:xfrm>
            <a:off x="65775" y="1197775"/>
            <a:ext cx="9012600" cy="3386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cudaArray* df_Array = 0;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//</a:t>
            </a:r>
            <a:r>
              <a:rPr lang="en" sz="2000">
                <a:solidFill>
                  <a:schemeClr val="dk1"/>
                </a:solidFill>
                <a:highlight>
                  <a:srgbClr val="EAD1DC"/>
                </a:highlight>
              </a:rPr>
              <a:t>cudaArray_t cuArray = 0;</a:t>
            </a:r>
            <a:endParaRPr sz="2000">
              <a:solidFill>
                <a:schemeClr val="dk1"/>
              </a:solidFill>
              <a:highlight>
                <a:srgbClr val="EAD1D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void  load_texture(float *df_h)</a:t>
            </a:r>
            <a:r>
              <a:rPr lang="en" sz="2000"/>
              <a:t>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const cudaExtent volumeSize = make_cudaExtent(FGSIZE, FGSIZE,</a:t>
            </a:r>
            <a:endParaRPr sz="2000"/>
          </a:p>
          <a:p>
            <a:pPr indent="457200" lvl="0" marL="6858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FGSIZE);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cudaChannelFormatDesc channelDesc = cudaCreateChannelDesc&lt;float&gt;();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cudaMalloc3DArray(&amp;df_Array, &amp;channelDesc, volumeSize);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cudaMemcpy3DParms cpyParams={0};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/>
        </p:nvSpPr>
        <p:spPr>
          <a:xfrm>
            <a:off x="118400" y="589275"/>
            <a:ext cx="8959800" cy="3263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</a:t>
            </a:r>
            <a:r>
              <a:rPr lang="en" sz="2000">
                <a:solidFill>
                  <a:schemeClr val="dk1"/>
                </a:solidFill>
              </a:rPr>
              <a:t>cpyParams.srcPtr = make_cudaPitchedPtr( (void*)df_h,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          volumeSize.width*sizeof(float),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          volumeSize.width, volumeSize.height);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cpyParams.dstArray = df_Array;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cpyParams.extent = volumeSize;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</a:rPr>
              <a:t>  cpyParams.kind = cudaMemcpyHostToDevice;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 cudaMemcpy3D(&amp;cpyParams);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}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/>
        </p:nvSpPr>
        <p:spPr>
          <a:xfrm>
            <a:off x="236825" y="844700"/>
            <a:ext cx="8749500" cy="29553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struct cudaTextureDesc texDesc;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memset(&amp;texDesc, 0, sizeof(texDesc));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texDesc.addressMode[0] = cudaAddressModeClamp;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texDesc.addressMode[1] = cudaAddressModeClamp;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texDesc.addressMode[2] = cudaAddressModeClamp;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texDesc.filterMode = cudaFilterModeLinear;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texDesc.readMode = cudaReadModeElementType;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texDesc.normalizedCoords = 0;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</a:t>
            </a:r>
            <a:r>
              <a:rPr lang="en" sz="2000"/>
              <a:t>}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 txBox="1"/>
          <p:nvPr/>
        </p:nvSpPr>
        <p:spPr>
          <a:xfrm>
            <a:off x="197250" y="32300"/>
            <a:ext cx="8749500" cy="492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Шаг 4: </a:t>
            </a:r>
            <a:r>
              <a:rPr lang="en" sz="2000"/>
              <a:t>настроить интерфейс доступа к текстуре</a:t>
            </a:r>
            <a:r>
              <a:rPr lang="en" sz="2000"/>
              <a:t>. </a:t>
            </a:r>
            <a:endParaRPr sz="2000"/>
          </a:p>
        </p:txBody>
      </p:sp>
      <p:sp>
        <p:nvSpPr>
          <p:cNvPr id="191" name="Google Shape;191;p36"/>
          <p:cNvSpPr txBox="1"/>
          <p:nvPr/>
        </p:nvSpPr>
        <p:spPr>
          <a:xfrm>
            <a:off x="236825" y="844700"/>
            <a:ext cx="8749500" cy="35709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texture&lt;float, 3, cudaReadModeElementType&gt;  </a:t>
            </a:r>
            <a:r>
              <a:rPr b="1" lang="en" sz="2000"/>
              <a:t>df_tex;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/</a:t>
            </a:r>
            <a:r>
              <a:rPr lang="en" sz="2000">
                <a:highlight>
                  <a:srgbClr val="EAD1DC"/>
                </a:highlight>
              </a:rPr>
              <a:t>/cudaTextureObject_t    df_tex = 0;</a:t>
            </a:r>
            <a:endParaRPr sz="2000">
              <a:highlight>
                <a:srgbClr val="EAD1DC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void   tune_texture(cudaChannelFormatDesc </a:t>
            </a:r>
            <a:r>
              <a:rPr b="1" lang="en" sz="2000">
                <a:solidFill>
                  <a:schemeClr val="dk1"/>
                </a:solidFill>
              </a:rPr>
              <a:t>channelDesc</a:t>
            </a:r>
            <a:r>
              <a:rPr b="1" lang="en" sz="2000"/>
              <a:t>)</a:t>
            </a:r>
            <a:r>
              <a:rPr lang="en" sz="2000"/>
              <a:t>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df_tex.normalized = false;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df_tex.filterMode = cudaFilterModeLinear;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 df_tex.addressMode[0] = cudaAddressModeClamp;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df_tex.addressMode[1] = cudaAddressModeClamp;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df_tex.addressMode[2] = cudaAddressModeClamp;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  cudaBindTextureToArray(df_tex, df_Array, channelDesc);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/>
        </p:nvSpPr>
        <p:spPr>
          <a:xfrm>
            <a:off x="236825" y="442400"/>
            <a:ext cx="8749500" cy="4186800"/>
          </a:xfrm>
          <a:prstGeom prst="rect">
            <a:avLst/>
          </a:prstGeom>
          <a:solidFill>
            <a:srgbClr val="EAD1D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const cudaExtent volumeSize = make_cudaExtent(FGSIZE*sizeof(float),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                                                                                     FGSIZE, FGSIZE);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cudaChannelFormatDesc channelDesc = cudaCreateChannelDesc&lt;float&gt;();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cudaMalloc3DArray(&amp;cuArray, &amp;channelDesc, volumeSize);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cudaMemcpy3DParms  cpyParams={0};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cpyParams.srcPtr = make_cudaPitchedPtr( (void*)df_h,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volumeSize.width*sizeof(float),  volumeSize.width,  volumeSize.height);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cpyParams.dstArray = cuArray;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cpyParams.extent = volumeSize;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cpyParams.kind = cudaMemcpyHostToDevice;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cudaMemcpy3D(&amp;cpyParams));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cudaCreateTextureObject(&amp;df_tex, &amp;resDesc, &amp;texDesc, NULL);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/>
          <p:nvPr/>
        </p:nvSpPr>
        <p:spPr>
          <a:xfrm>
            <a:off x="197250" y="108500"/>
            <a:ext cx="8749500" cy="800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Шаг 5: </a:t>
            </a:r>
            <a:r>
              <a:rPr lang="en" sz="2000"/>
              <a:t>реализовать вычисление интеграла, используя текстурную ссылку</a:t>
            </a:r>
            <a:r>
              <a:rPr lang="en" sz="2000"/>
              <a:t>. </a:t>
            </a:r>
            <a:endParaRPr sz="2000"/>
          </a:p>
        </p:txBody>
      </p:sp>
      <p:sp>
        <p:nvSpPr>
          <p:cNvPr id="202" name="Google Shape;202;p38"/>
          <p:cNvSpPr txBox="1"/>
          <p:nvPr/>
        </p:nvSpPr>
        <p:spPr>
          <a:xfrm>
            <a:off x="184200" y="1197775"/>
            <a:ext cx="8749500" cy="37866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__global__ void kernel(float *a){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__shared__ float cache[THREADSPERBLOCK];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int tid = threadIdx.x + blockIdx.x * blockDim.x;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int cacheIndex = threadIdx.x;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float x = vert[tid].x;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float y = vert[tid].y;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float z = vert[tid].z;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cache[cacheIndex] = </a:t>
            </a:r>
            <a:r>
              <a:rPr b="1" lang="en" sz="2000"/>
              <a:t>tex3D(df_tex, z, y, x);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__syncthreads();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/>
        </p:nvSpPr>
        <p:spPr>
          <a:xfrm>
            <a:off x="105250" y="831025"/>
            <a:ext cx="8841300" cy="3170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</a:t>
            </a:r>
            <a:r>
              <a:rPr lang="en" sz="2000"/>
              <a:t>for (int s = blockDim.x / 2; s &gt; 0; s &gt;&gt;= 1){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if (cacheIndex &lt; s)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cache[cacheIndex] += cache[cacheIndex + s];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    __syncthreads();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if (cacheIndex == 0)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  a[blockIdx.x] = cache[0];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}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9"/>
          <p:cNvSpPr txBox="1"/>
          <p:nvPr/>
        </p:nvSpPr>
        <p:spPr>
          <a:xfrm>
            <a:off x="5683750" y="1921400"/>
            <a:ext cx="3078600" cy="800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/>
              <a:t>суммирование посредством редукции</a:t>
            </a:r>
            <a:endParaRPr i="1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/>
        </p:nvSpPr>
        <p:spPr>
          <a:xfrm>
            <a:off x="197250" y="337100"/>
            <a:ext cx="8749500" cy="1108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Шаг 6: </a:t>
            </a:r>
            <a:r>
              <a:rPr lang="en" sz="2000"/>
              <a:t>реализовать функцию, выполняющую три-линейную интерполяцию и реализовать ядро, заменив текстурную ссылку вызовом этой функции</a:t>
            </a:r>
            <a:r>
              <a:rPr lang="en" sz="2000"/>
              <a:t>. </a:t>
            </a:r>
            <a:endParaRPr sz="2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/>
          <p:nvPr/>
        </p:nvSpPr>
        <p:spPr>
          <a:xfrm>
            <a:off x="223675" y="1289875"/>
            <a:ext cx="8617800" cy="14160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void release_texture(){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cudaUnbindTexture(df_tex);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cudaFreeArray(df_Array);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}</a:t>
            </a:r>
            <a:endParaRPr sz="2000"/>
          </a:p>
        </p:txBody>
      </p:sp>
      <p:sp>
        <p:nvSpPr>
          <p:cNvPr id="219" name="Google Shape;219;p41"/>
          <p:cNvSpPr txBox="1"/>
          <p:nvPr/>
        </p:nvSpPr>
        <p:spPr>
          <a:xfrm>
            <a:off x="197250" y="108500"/>
            <a:ext cx="8749500" cy="492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Шаг 7: </a:t>
            </a:r>
            <a:r>
              <a:rPr lang="en" sz="2000"/>
              <a:t>освободить ресурсы</a:t>
            </a:r>
            <a:r>
              <a:rPr lang="en" sz="2000"/>
              <a:t>. </a:t>
            </a:r>
            <a:endParaRPr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/>
        </p:nvSpPr>
        <p:spPr>
          <a:xfrm>
            <a:off x="197250" y="108500"/>
            <a:ext cx="8749500" cy="800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Шаг 8: </a:t>
            </a:r>
            <a:r>
              <a:rPr lang="en" sz="2000"/>
              <a:t>сравнить время вычисления интеграла с использованием аппаратной и программной реализации интерполяции.</a:t>
            </a:r>
            <a:r>
              <a:rPr lang="en" sz="2000"/>
              <a:t> 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