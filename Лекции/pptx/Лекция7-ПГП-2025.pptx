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0500526a99_0_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2" name="Google Shape;62;g20500526a99_0_16:notes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g20500526a99_0_16:notes"/>
          <p:cNvSpPr txBox="1"/>
          <p:nvPr>
            <p:ph idx="1" type="body"/>
          </p:nvPr>
        </p:nvSpPr>
        <p:spPr>
          <a:xfrm>
            <a:off x="685800" y="4343400"/>
            <a:ext cx="54831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41168721d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41168721d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41168721d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41168721d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41168721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41168721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41168721d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41168721d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41168721de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41168721de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41168721d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41168721d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41168721d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41168721d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41168721d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41168721d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161acfc8a6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2161acfc8a6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161acfc8a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161acfc8a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161acfc8a6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2161acfc8a6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161acfc8a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161acfc8a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161acfc8a6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161acfc8a6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161acfc8a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2161acfc8a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161acfc8a6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161acfc8a6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161acfc8a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2161acfc8a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161acfc8a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2161acfc8a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161acfc8a6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161acfc8a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161acfc8a6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161acfc8a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161acfc8a6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161acfc8a6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161acfc8a6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2161acfc8a6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2161acfc8a6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2161acfc8a6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161acfc8a6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2161acfc8a6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C0C3A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C0C3A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457200" y="205978"/>
            <a:ext cx="8226300" cy="85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6300" cy="3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457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124200" y="4683919"/>
            <a:ext cx="2892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553200" y="4683919"/>
            <a:ext cx="21303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6800" lIns="90000" spcFirstLastPara="1" rIns="90000" wrap="square" tIns="468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/>
        </p:nvSpPr>
        <p:spPr>
          <a:xfrm>
            <a:off x="435425" y="119269"/>
            <a:ext cx="839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Лекция 7</a:t>
            </a:r>
            <a:endParaRPr b="1" sz="3600"/>
          </a:p>
        </p:txBody>
      </p:sp>
      <p:sp>
        <p:nvSpPr>
          <p:cNvPr id="66" name="Google Shape;66;p15"/>
          <p:cNvSpPr txBox="1"/>
          <p:nvPr/>
        </p:nvSpPr>
        <p:spPr>
          <a:xfrm>
            <a:off x="323700" y="1498850"/>
            <a:ext cx="8715600" cy="10728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Char char="●"/>
            </a:pPr>
            <a:r>
              <a:rPr lang="en" sz="2800"/>
              <a:t>Константная память.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800"/>
              <a:buChar char="●"/>
            </a:pPr>
            <a:r>
              <a:rPr lang="en" sz="2800"/>
              <a:t>Текстурная память.</a:t>
            </a:r>
            <a:endParaRPr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800" y="228600"/>
            <a:ext cx="7217951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0" y="685800"/>
            <a:ext cx="5889082" cy="4305995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7"/>
          <p:cNvSpPr txBox="1"/>
          <p:nvPr/>
        </p:nvSpPr>
        <p:spPr>
          <a:xfrm>
            <a:off x="51375" y="143200"/>
            <a:ext cx="9030900" cy="4134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600"/>
              <a:t>https://www.researchgate.net/figure/Memory-Hierarchy-in-the-NVIDIA-GPUs_fig2_228345757</a:t>
            </a:r>
            <a:endParaRPr i="1"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/>
        </p:nvSpPr>
        <p:spPr>
          <a:xfrm>
            <a:off x="60500" y="102875"/>
            <a:ext cx="8965800" cy="4770300"/>
          </a:xfrm>
          <a:prstGeom prst="rect">
            <a:avLst/>
          </a:prstGeom>
          <a:solidFill>
            <a:srgbClr val="D0E0E3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&lt;stdio.h&gt;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#define ARRAY_SIZE 2048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#define THREADS_PER_BLOCK 64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__device__ float A[ARRAY_SIZE];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__device__ float B[ARRAY_SIZE/THREADS_PER_BLOCK];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000"/>
              <a:t>__constant__ float C[ARRAY_SIZE/THREADS_PER_BLOCK];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__global__ void gOut();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__global__ void gInit(){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int i= threadIdx.x+blockIdx.x*blockDim.x;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A[i]=(float)i;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B[blockIdx.x]=(float)blockIdx.x;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83" name="Google Shape;83;p18"/>
          <p:cNvSpPr txBox="1"/>
          <p:nvPr/>
        </p:nvSpPr>
        <p:spPr>
          <a:xfrm>
            <a:off x="6313400" y="566800"/>
            <a:ext cx="1795200" cy="3027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000"/>
              <a:t>test_mem.cu</a:t>
            </a:r>
            <a:endParaRPr b="1" i="1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 txBox="1"/>
          <p:nvPr/>
        </p:nvSpPr>
        <p:spPr>
          <a:xfrm>
            <a:off x="100850" y="788675"/>
            <a:ext cx="8895300" cy="3792000"/>
          </a:xfrm>
          <a:prstGeom prst="rect">
            <a:avLst/>
          </a:prstGeom>
          <a:solidFill>
            <a:srgbClr val="D0E0E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void hInitC(){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int N=ARRAY_SIZE/THREADS_PER_BLOCK;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float* hC=(float*)calloc(N, sizeof(float));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for(int n=0;n&lt;N;n++)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  hC[n]=(float)n;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  </a:t>
            </a:r>
            <a:r>
              <a:rPr b="1" lang="en" sz="2000"/>
              <a:t>cudaMemcpyToSymbol</a:t>
            </a:r>
            <a:r>
              <a:rPr lang="en" sz="2000"/>
              <a:t>(C, hC, N*sizeof(float), 0,</a:t>
            </a:r>
            <a:endParaRPr sz="2000"/>
          </a:p>
          <a:p>
            <a:pPr indent="457200" lvl="0" marL="4572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cudaMemcpyHostToDevice);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free(hC);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0"/>
          <p:cNvSpPr txBox="1"/>
          <p:nvPr/>
        </p:nvSpPr>
        <p:spPr>
          <a:xfrm>
            <a:off x="121025" y="808850"/>
            <a:ext cx="8915400" cy="2884500"/>
          </a:xfrm>
          <a:prstGeom prst="rect">
            <a:avLst/>
          </a:prstGeom>
          <a:solidFill>
            <a:srgbClr val="D0E0E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__global__ void gTestB(){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int i= threadIdx.x+blockIdx.x*blockDim.x;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A[i]=A[i]*(</a:t>
            </a:r>
            <a:r>
              <a:rPr b="1" lang="en" sz="1800"/>
              <a:t>B</a:t>
            </a:r>
            <a:r>
              <a:rPr lang="en" sz="1800"/>
              <a:t>[blockIdx.x]+1);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}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__global__ void gTestC(){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int i= threadIdx.x+blockIdx.x*blockDim.x;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  A[i]=A[i]*(</a:t>
            </a:r>
            <a:r>
              <a:rPr b="1" lang="en" sz="1800"/>
              <a:t>C</a:t>
            </a:r>
            <a:r>
              <a:rPr lang="en" sz="1800"/>
              <a:t>[blockIdx.x]+1);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}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 txBox="1"/>
          <p:nvPr/>
        </p:nvSpPr>
        <p:spPr>
          <a:xfrm>
            <a:off x="60500" y="62525"/>
            <a:ext cx="8996100" cy="4871100"/>
          </a:xfrm>
          <a:prstGeom prst="rect">
            <a:avLst/>
          </a:prstGeom>
          <a:solidFill>
            <a:srgbClr val="D0E0E3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int main(){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gInit&lt;&lt;&lt;ARRAY_SIZE/THREADS_PER_BLOCK, THREADS_PER_BLOCK&gt;&gt;&gt;();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cudaDeviceSynchronize();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hInitC();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gTestB&lt;&lt;&lt;ARRAY_SIZE/THREADS_PER_BLOCK, THREADS_PER_BLOCK&gt;&gt;&gt;();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cudaDeviceSynchronize();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gTestC&lt;&lt;&lt;ARRAY_SIZE/THREADS_PER_BLOCK, THREADS_PER_BLOCK&gt;&gt;&gt;();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cudaDeviceSynchronize();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gOut&lt;&lt;&lt;ARRAY_SIZE/THREADS_PER_BLOCK, THREADS_PER_BLOCK&gt;&gt;&gt;();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cudaDeviceSynchronize();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  return 0;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}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/>
        </p:nvSpPr>
        <p:spPr>
          <a:xfrm>
            <a:off x="100850" y="123050"/>
            <a:ext cx="8925600" cy="34188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#include &lt;stdio.h&gt;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#define ARRAY_SIZE 2048                                              </a:t>
            </a:r>
            <a:endParaRPr b="1"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#define THREADS_PER_BLOCK 64                     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extern __device__ float B[ARRAY_SIZE/THREADS_PER_BLOCK];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extern  __constant__ float C[ARRAY_SIZE/THREADS_PER_BLOCK];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__global__ void gOut(){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printf("B %g\tC: %g\n", B[blockIdx.x], C[blockIdx.x]);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104" name="Google Shape;104;p22"/>
          <p:cNvSpPr txBox="1"/>
          <p:nvPr/>
        </p:nvSpPr>
        <p:spPr>
          <a:xfrm>
            <a:off x="6232700" y="496200"/>
            <a:ext cx="2017200" cy="332700"/>
          </a:xfrm>
          <a:prstGeom prst="rect">
            <a:avLst/>
          </a:prstGeom>
          <a:solidFill>
            <a:srgbClr val="C9DAF8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" sz="2000">
                <a:solidFill>
                  <a:schemeClr val="dk1"/>
                </a:solidFill>
              </a:rPr>
              <a:t>test_mem2.cu</a:t>
            </a:r>
            <a:endParaRPr sz="1800"/>
          </a:p>
        </p:txBody>
      </p:sp>
      <p:sp>
        <p:nvSpPr>
          <p:cNvPr id="105" name="Google Shape;105;p22"/>
          <p:cNvSpPr txBox="1"/>
          <p:nvPr/>
        </p:nvSpPr>
        <p:spPr>
          <a:xfrm>
            <a:off x="131100" y="3693225"/>
            <a:ext cx="8804400" cy="5145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rgbClr val="EFEFEF"/>
                </a:highlight>
              </a:rPr>
              <a:t>~/Lab7&gt; nvcc </a:t>
            </a:r>
            <a:r>
              <a:rPr b="1" lang="en" sz="2000">
                <a:solidFill>
                  <a:schemeClr val="dk1"/>
                </a:solidFill>
                <a:highlight>
                  <a:srgbClr val="EFEFEF"/>
                </a:highlight>
              </a:rPr>
              <a:t>-rdc=true</a:t>
            </a:r>
            <a:r>
              <a:rPr lang="en" sz="2000">
                <a:solidFill>
                  <a:schemeClr val="dk1"/>
                </a:solidFill>
                <a:highlight>
                  <a:srgbClr val="EFEFEF"/>
                </a:highlight>
              </a:rPr>
              <a:t>   test_mem.cu   test_mem2.cu -o test_mem</a:t>
            </a:r>
            <a:r>
              <a:rPr lang="en" sz="1100">
                <a:solidFill>
                  <a:schemeClr val="dk1"/>
                </a:solidFill>
                <a:highlight>
                  <a:srgbClr val="EFEFE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100">
              <a:solidFill>
                <a:schemeClr val="dk1"/>
              </a:solidFill>
              <a:highlight>
                <a:srgbClr val="EFEFE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3"/>
          <p:cNvSpPr txBox="1"/>
          <p:nvPr/>
        </p:nvSpPr>
        <p:spPr>
          <a:xfrm>
            <a:off x="100850" y="626175"/>
            <a:ext cx="8976000" cy="3580200"/>
          </a:xfrm>
          <a:prstGeom prst="rect">
            <a:avLst/>
          </a:prstGeom>
          <a:solidFill>
            <a:srgbClr val="EFEFE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  <a:highlight>
                  <a:srgbClr val="EFEFEF"/>
                </a:highlight>
              </a:rPr>
              <a:t>7&gt; </a:t>
            </a:r>
            <a:r>
              <a:rPr b="1" lang="en" sz="1900">
                <a:solidFill>
                  <a:schemeClr val="dk1"/>
                </a:solidFill>
                <a:highlight>
                  <a:srgbClr val="EFEFEF"/>
                </a:highlight>
              </a:rPr>
              <a:t>nvprof ./test_mem &gt; test.txt</a:t>
            </a:r>
            <a:endParaRPr b="1" sz="1900">
              <a:solidFill>
                <a:schemeClr val="dk1"/>
              </a:solidFill>
              <a:highlight>
                <a:srgbClr val="EFEFE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==9251== NVPROF is profiling process 9251, command: ./test_mem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==9251== Profiling application: ./test_mem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==9251== Profiling result: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       Type  Time(%)      Time     Calls       Avg       Min       Max  Name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GPU activities:   99.84%  2.8895ms         1  2.8895ms  2.8895ms  2.8895ms  gOut(void)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               0.05%  1.5360us         1  1.5360us  1.5360us  1.5360us  gInit(void)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               0.05%  1.4080us         1  1.4080us  1.4080us  1.4080us  gTestB(void)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chemeClr val="dk1"/>
                </a:solidFill>
              </a:rPr>
              <a:t>                   0.04%  1.2160us         1  1.2160us  1.2160us  1.2160us  gTestC(void)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/>
        </p:nvSpPr>
        <p:spPr>
          <a:xfrm>
            <a:off x="990600" y="26428"/>
            <a:ext cx="7086600" cy="4641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6800" lIns="90000" spcFirstLastPara="1" rIns="90000" wrap="square" tIns="46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lang="en" sz="2400"/>
              <a:t>Текстурная память</a:t>
            </a:r>
            <a:endParaRPr b="1" i="1" sz="2100"/>
          </a:p>
        </p:txBody>
      </p:sp>
      <p:sp>
        <p:nvSpPr>
          <p:cNvPr id="116" name="Google Shape;116;p24"/>
          <p:cNvSpPr txBox="1"/>
          <p:nvPr/>
        </p:nvSpPr>
        <p:spPr>
          <a:xfrm>
            <a:off x="421025" y="829375"/>
            <a:ext cx="8328300" cy="11082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● Текстура – специальный интерфейс доступа к глобальной памяти, обеспечивающий 1D, 2D и 3D целочисленную и </a:t>
            </a:r>
            <a:r>
              <a:rPr b="1" lang="en" sz="2000"/>
              <a:t>вещественную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индексацию.</a:t>
            </a:r>
            <a:endParaRPr sz="2000"/>
          </a:p>
        </p:txBody>
      </p:sp>
      <p:pic>
        <p:nvPicPr>
          <p:cNvPr id="117" name="Google Shape;11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89975"/>
            <a:ext cx="8839199" cy="27579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5"/>
          <p:cNvSpPr txBox="1"/>
          <p:nvPr/>
        </p:nvSpPr>
        <p:spPr>
          <a:xfrm>
            <a:off x="990600" y="26428"/>
            <a:ext cx="7086600" cy="4641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6800" lIns="90000" spcFirstLastPara="1" rIns="90000" wrap="square" tIns="46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Интегрирование по сфере</a:t>
            </a:r>
            <a:endParaRPr b="1" sz="2400"/>
          </a:p>
        </p:txBody>
      </p:sp>
      <p:pic>
        <p:nvPicPr>
          <p:cNvPr id="123" name="Google Shape;12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642928"/>
            <a:ext cx="3800475" cy="394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24275" y="3652851"/>
            <a:ext cx="5400675" cy="93342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5" name="Google Shape;125;p25"/>
          <p:cNvSpPr txBox="1"/>
          <p:nvPr/>
        </p:nvSpPr>
        <p:spPr>
          <a:xfrm>
            <a:off x="4064750" y="2013050"/>
            <a:ext cx="4960200" cy="492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Интеграл по сфере функции g(φ, ψ):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95400"/>
            <a:ext cx="8839200" cy="349064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6"/>
          <p:cNvSpPr txBox="1"/>
          <p:nvPr/>
        </p:nvSpPr>
        <p:spPr>
          <a:xfrm>
            <a:off x="990600" y="26428"/>
            <a:ext cx="7086600" cy="833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6800" lIns="90000" spcFirstLastPara="1" rIns="90000" wrap="square" tIns="46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Текстуры: аппаратная интерполяция</a:t>
            </a:r>
            <a:endParaRPr b="1" sz="24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(пример использования)</a:t>
            </a:r>
            <a:endParaRPr b="1" sz="2400"/>
          </a:p>
        </p:txBody>
      </p:sp>
      <p:pic>
        <p:nvPicPr>
          <p:cNvPr id="132" name="Google Shape;13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39550" y="1774678"/>
            <a:ext cx="2476500" cy="13716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7"/>
          <p:cNvSpPr txBox="1"/>
          <p:nvPr/>
        </p:nvSpPr>
        <p:spPr>
          <a:xfrm>
            <a:off x="276300" y="2840175"/>
            <a:ext cx="8715300" cy="14160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Вещественные сферические функции образуют </a:t>
            </a:r>
            <a:r>
              <a:rPr b="1" lang="en" sz="2000"/>
              <a:t>ортонормированный </a:t>
            </a:r>
            <a:r>
              <a:rPr lang="en" sz="2000"/>
              <a:t>базис в гильбертовом пространстве. Первые функции в разложении по этому базису (“поперечно-скошенная”, квадрупольная и бароподобная моды).</a:t>
            </a:r>
            <a:endParaRPr sz="2000"/>
          </a:p>
        </p:txBody>
      </p:sp>
      <p:pic>
        <p:nvPicPr>
          <p:cNvPr id="138" name="Google Shape;13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05250"/>
            <a:ext cx="8839200" cy="733168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7"/>
          <p:cNvSpPr txBox="1"/>
          <p:nvPr/>
        </p:nvSpPr>
        <p:spPr>
          <a:xfrm>
            <a:off x="990600" y="26428"/>
            <a:ext cx="7086600" cy="833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6800" lIns="90000" spcFirstLastPara="1" rIns="90000" wrap="square" tIns="46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00"/>
              <a:t>Тестовые функции, заданные в 3D пространстве </a:t>
            </a:r>
            <a:endParaRPr b="1"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/>
        </p:nvSpPr>
        <p:spPr>
          <a:xfrm>
            <a:off x="223675" y="250475"/>
            <a:ext cx="8802000" cy="800400"/>
          </a:xfrm>
          <a:prstGeom prst="rect">
            <a:avLst/>
          </a:prstGeom>
          <a:solidFill>
            <a:srgbClr val="F4CCCC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Задание:</a:t>
            </a:r>
            <a:r>
              <a:rPr lang="en" sz="2000"/>
              <a:t> определить эффективность аппаратной интерполяции при использовании текстурной памяти.</a:t>
            </a:r>
            <a:endParaRPr sz="2000"/>
          </a:p>
        </p:txBody>
      </p:sp>
      <p:sp>
        <p:nvSpPr>
          <p:cNvPr id="145" name="Google Shape;145;p28"/>
          <p:cNvSpPr txBox="1"/>
          <p:nvPr/>
        </p:nvSpPr>
        <p:spPr>
          <a:xfrm>
            <a:off x="276300" y="1242725"/>
            <a:ext cx="8749500" cy="800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1: </a:t>
            </a:r>
            <a:r>
              <a:rPr lang="en" sz="2000"/>
              <a:t>сохранить</a:t>
            </a:r>
            <a:r>
              <a:rPr lang="en" sz="2000"/>
              <a:t> значения тестовой функции/функций в узлах трехмерной сетки в глобальной памяти. </a:t>
            </a:r>
            <a:endParaRPr sz="2000"/>
          </a:p>
        </p:txBody>
      </p:sp>
      <p:pic>
        <p:nvPicPr>
          <p:cNvPr id="146" name="Google Shape;146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62200" y="2195525"/>
            <a:ext cx="2863440" cy="2643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/>
          <p:nvPr/>
        </p:nvSpPr>
        <p:spPr>
          <a:xfrm>
            <a:off x="197250" y="184700"/>
            <a:ext cx="8749500" cy="800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2: </a:t>
            </a:r>
            <a:r>
              <a:rPr lang="en" sz="2000"/>
              <a:t>определить значения декартовых координат узлов сферической координатной сетки на сфере радиуса RADIUS</a:t>
            </a:r>
            <a:r>
              <a:rPr lang="en" sz="2000"/>
              <a:t>. </a:t>
            </a:r>
            <a:endParaRPr sz="2000"/>
          </a:p>
        </p:txBody>
      </p:sp>
      <p:sp>
        <p:nvSpPr>
          <p:cNvPr id="152" name="Google Shape;152;p29"/>
          <p:cNvSpPr txBox="1"/>
          <p:nvPr/>
        </p:nvSpPr>
        <p:spPr>
          <a:xfrm>
            <a:off x="197225" y="1079350"/>
            <a:ext cx="8749500" cy="35709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struct Vertex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float x, y, z;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__constant__ Vertex vert[VERTCOUNT];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void init_vertices(){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 Vertex *temp_vert = (Vertex *)malloc(sizeof(Vertex) * VERTCOUNT);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 int i = 0;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 txBox="1"/>
          <p:nvPr/>
        </p:nvSpPr>
        <p:spPr>
          <a:xfrm>
            <a:off x="157875" y="95850"/>
            <a:ext cx="8880900" cy="3879000"/>
          </a:xfrm>
          <a:prstGeom prst="rect">
            <a:avLst/>
          </a:prstGeom>
          <a:solidFill>
            <a:srgbClr val="FFE59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for (int iphi = 0; iphi &lt; 2 * COEF; ++iphi)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for (int ipsi = 0; ipsi &lt; COEF; ++ipsi, ++i) 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float phi = iphi * M_PI / COEF;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float psi = ipsi * M_PI / COEF;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temp_vert[i].x = RADIUS * sinf(psi) * cosf(phi);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temp_vert[i].y = RADIUS * sinf(psi) * sinf(phi);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temp_vert[i].z = RADIUS * cosf(psi);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</a:t>
            </a:r>
            <a:r>
              <a:rPr b="1" lang="en" sz="2000"/>
              <a:t>cudaMemcpyToSymbol</a:t>
            </a:r>
            <a:r>
              <a:rPr lang="en" sz="2000"/>
              <a:t>(vert, temp_vert, sizeof(Vertex) * VERTCOUNT, 0,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										            cudaMemcpyHostToDevice);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free(temp_vert);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1"/>
          <p:cNvSpPr txBox="1"/>
          <p:nvPr/>
        </p:nvSpPr>
        <p:spPr>
          <a:xfrm>
            <a:off x="197250" y="184700"/>
            <a:ext cx="8749500" cy="800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3: </a:t>
            </a:r>
            <a:r>
              <a:rPr lang="en" sz="2000"/>
              <a:t>сохранить значения тестовой функции/функций, определенные на первом шаге в текстуре</a:t>
            </a:r>
            <a:r>
              <a:rPr lang="en" sz="2000"/>
              <a:t>. </a:t>
            </a:r>
            <a:endParaRPr sz="2000"/>
          </a:p>
        </p:txBody>
      </p:sp>
      <p:sp>
        <p:nvSpPr>
          <p:cNvPr id="163" name="Google Shape;163;p31"/>
          <p:cNvSpPr txBox="1"/>
          <p:nvPr/>
        </p:nvSpPr>
        <p:spPr>
          <a:xfrm>
            <a:off x="65775" y="1197775"/>
            <a:ext cx="9012600" cy="30783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cudaArray* df_Array = 0;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void  load_texture(float *df_h)</a:t>
            </a:r>
            <a:r>
              <a:rPr lang="en" sz="2000"/>
              <a:t>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const cudaExtent volumeSize = make_cudaExtent(FGSIZE, FGSIZE,</a:t>
            </a:r>
            <a:endParaRPr sz="2000"/>
          </a:p>
          <a:p>
            <a:pPr indent="457200" lvl="0" marL="68580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FGSIZE);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cudaChannelFormatDesc channelDesc = cudaCreateChannelDesc&lt;float&gt;();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cudaMalloc3DArray(&amp;df_Array, &amp;channelDesc, volumeSize);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cudaMemcpy3DParms cpyParams={0};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2"/>
          <p:cNvSpPr txBox="1"/>
          <p:nvPr/>
        </p:nvSpPr>
        <p:spPr>
          <a:xfrm>
            <a:off x="118400" y="589275"/>
            <a:ext cx="8959800" cy="32631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</a:t>
            </a:r>
            <a:r>
              <a:rPr lang="en" sz="2000">
                <a:solidFill>
                  <a:schemeClr val="dk1"/>
                </a:solidFill>
              </a:rPr>
              <a:t>cpyParams.srcPtr = make_cudaPitchedPtr( (void*)df_h,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          volumeSize.width*sizeof(float), 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          volumeSize.width, volumeSize.height);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cpyParams.dstArray = df_Array;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 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cpyParams.extent = volumeSize;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</a:rPr>
              <a:t>  cpyParams.kind = cudaMemcpyHostToDevice;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 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  cudaMemcpy3D(&amp;cpyParams);</a:t>
            </a:r>
            <a:endParaRPr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</a:rPr>
              <a:t>}</a:t>
            </a:r>
            <a:endParaRPr sz="2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3"/>
          <p:cNvSpPr txBox="1"/>
          <p:nvPr/>
        </p:nvSpPr>
        <p:spPr>
          <a:xfrm>
            <a:off x="197250" y="184700"/>
            <a:ext cx="8749500" cy="4926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4: </a:t>
            </a:r>
            <a:r>
              <a:rPr lang="en" sz="2000"/>
              <a:t>настроить интерфейс доступа к текстуре</a:t>
            </a:r>
            <a:r>
              <a:rPr lang="en" sz="2000"/>
              <a:t>. </a:t>
            </a:r>
            <a:endParaRPr sz="2000"/>
          </a:p>
        </p:txBody>
      </p:sp>
      <p:sp>
        <p:nvSpPr>
          <p:cNvPr id="174" name="Google Shape;174;p33"/>
          <p:cNvSpPr txBox="1"/>
          <p:nvPr/>
        </p:nvSpPr>
        <p:spPr>
          <a:xfrm>
            <a:off x="236825" y="947800"/>
            <a:ext cx="8749500" cy="3570900"/>
          </a:xfrm>
          <a:prstGeom prst="rect">
            <a:avLst/>
          </a:prstGeom>
          <a:solidFill>
            <a:srgbClr val="FFE599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texture&lt;float, 3, cudaReadModeElementType&gt;  </a:t>
            </a:r>
            <a:r>
              <a:rPr b="1" lang="en" sz="2000"/>
              <a:t>df_tex;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void   tune_texture(cudaChannelFormatDesc </a:t>
            </a:r>
            <a:r>
              <a:rPr b="1" lang="en" sz="2000">
                <a:solidFill>
                  <a:schemeClr val="dk1"/>
                </a:solidFill>
              </a:rPr>
              <a:t>channelDesc</a:t>
            </a:r>
            <a:r>
              <a:rPr b="1" lang="en" sz="2000"/>
              <a:t>)</a:t>
            </a:r>
            <a:r>
              <a:rPr lang="en" sz="2000"/>
              <a:t>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df_tex.normalized = false;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df_tex.filterMode = cudaFilterModeLinear;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df_tex.addressMode[0] = cudaAddressModeClamp;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df_tex.addressMode[1] = cudaAddressModeClamp;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df_tex.addressMode[2] = cudaAddressModeClamp;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  cudaBindTextureToArray(df_tex, df_Array, channelDesc);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4"/>
          <p:cNvSpPr txBox="1"/>
          <p:nvPr/>
        </p:nvSpPr>
        <p:spPr>
          <a:xfrm>
            <a:off x="197250" y="108500"/>
            <a:ext cx="8749500" cy="800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5: </a:t>
            </a:r>
            <a:r>
              <a:rPr lang="en" sz="2000"/>
              <a:t>реализовать вычисление интеграла, используя текстурную ссылку</a:t>
            </a:r>
            <a:r>
              <a:rPr lang="en" sz="2000"/>
              <a:t>. </a:t>
            </a:r>
            <a:endParaRPr sz="2000"/>
          </a:p>
        </p:txBody>
      </p:sp>
      <p:sp>
        <p:nvSpPr>
          <p:cNvPr id="180" name="Google Shape;180;p34"/>
          <p:cNvSpPr txBox="1"/>
          <p:nvPr/>
        </p:nvSpPr>
        <p:spPr>
          <a:xfrm>
            <a:off x="184200" y="1197775"/>
            <a:ext cx="8749500" cy="37866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__global__ void kernel(float *a){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__shared__ float cache[THREADSPERBLOCK];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int tid = threadIdx.x + blockIdx.x * blockDim.x;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int cacheIndex = threadIdx.x;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float x = vert[tid].x;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float y = vert[tid].y;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float z = vert[tid].z;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cache[cacheIndex] = </a:t>
            </a:r>
            <a:r>
              <a:rPr b="1" lang="en" sz="2000"/>
              <a:t>tex3D(df_tex, z, y, x);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__syncthreads();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5"/>
          <p:cNvSpPr txBox="1"/>
          <p:nvPr/>
        </p:nvSpPr>
        <p:spPr>
          <a:xfrm>
            <a:off x="105250" y="831025"/>
            <a:ext cx="8841300" cy="31707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</a:t>
            </a:r>
            <a:r>
              <a:rPr lang="en" sz="2000"/>
              <a:t>for (int s = blockDim.x / 2; s &gt; 0; s &gt;&gt;= 1){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if (cacheIndex &lt; s)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cache[cacheIndex] += cache[cacheIndex + s];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    __syncthreads();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if (cacheIndex == 0)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  a[blockIdx.x] = cache[0];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}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35"/>
          <p:cNvSpPr txBox="1"/>
          <p:nvPr/>
        </p:nvSpPr>
        <p:spPr>
          <a:xfrm>
            <a:off x="5683750" y="1921400"/>
            <a:ext cx="3078600" cy="8004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/>
              <a:t>суммирование посредством редукции</a:t>
            </a:r>
            <a:endParaRPr i="1" sz="2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/>
          <p:nvPr/>
        </p:nvSpPr>
        <p:spPr>
          <a:xfrm>
            <a:off x="197250" y="337100"/>
            <a:ext cx="8749500" cy="11082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6: </a:t>
            </a:r>
            <a:r>
              <a:rPr lang="en" sz="2000"/>
              <a:t>реализовать функцию, выполняющую три-линейную интерполяцию и реализовать ядро, заменив текстурную ссылку вызовом этой функции</a:t>
            </a:r>
            <a:r>
              <a:rPr lang="en" sz="2000"/>
              <a:t>. </a:t>
            </a:r>
            <a:endParaRPr sz="2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7"/>
          <p:cNvSpPr txBox="1"/>
          <p:nvPr/>
        </p:nvSpPr>
        <p:spPr>
          <a:xfrm>
            <a:off x="223675" y="1289875"/>
            <a:ext cx="8617800" cy="14160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void release_texture(){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cudaUnbindTexture(df_tex);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/>
              <a:t>cudaFreeArray(df_Array);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}</a:t>
            </a:r>
            <a:endParaRPr sz="2000"/>
          </a:p>
        </p:txBody>
      </p:sp>
      <p:sp>
        <p:nvSpPr>
          <p:cNvPr id="197" name="Google Shape;197;p37"/>
          <p:cNvSpPr txBox="1"/>
          <p:nvPr/>
        </p:nvSpPr>
        <p:spPr>
          <a:xfrm>
            <a:off x="197250" y="108500"/>
            <a:ext cx="8749500" cy="4926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7: </a:t>
            </a:r>
            <a:r>
              <a:rPr lang="en" sz="2000"/>
              <a:t>освободить ресурсы</a:t>
            </a:r>
            <a:r>
              <a:rPr lang="en" sz="2000"/>
              <a:t>. </a:t>
            </a:r>
            <a:endParaRPr sz="2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8"/>
          <p:cNvSpPr txBox="1"/>
          <p:nvPr/>
        </p:nvSpPr>
        <p:spPr>
          <a:xfrm>
            <a:off x="197250" y="108500"/>
            <a:ext cx="8749500" cy="800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Шаг 8: </a:t>
            </a:r>
            <a:r>
              <a:rPr lang="en" sz="2000"/>
              <a:t>сравнить время вычисления интеграла с использованием аппаратной и программной реализации интерполяции.</a:t>
            </a:r>
            <a:r>
              <a:rPr lang="en" sz="2000"/>
              <a:t> </a:t>
            </a:r>
            <a:endParaRPr sz="2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I_THEME_TEMPLATE_DESIGN">
  <a:themeElements>
    <a:clrScheme name="POI_THEME_TEMPLATE_DESIGN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CC99"/>
      </a:accent4>
      <a:accent5>
        <a:srgbClr val="3333CC"/>
      </a:accent5>
      <a:accent6>
        <a:srgbClr val="FFFFFF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