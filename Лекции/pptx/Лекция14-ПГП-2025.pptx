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e982326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e982326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0c7783db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0c7783db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0c7783db7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0c7783db7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e982326b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1e982326b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0c7783d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0c7783d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0c7783db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0c7783d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0c7783db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0c7783db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0c7783db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0c7783db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0c7783db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20c7783db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0c7783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20c7783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e982326b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1e982326b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e982326b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1e982326b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1e982326b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1e982326b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0c7783db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0c7783db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0c7783db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0c7783db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20c7783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20c7783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0c7783d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0c7783d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a3e44e58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1a3e44e58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tensorflow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14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277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Библиотека </a:t>
            </a:r>
            <a:r>
              <a:rPr i="1" lang="en" sz="2600"/>
              <a:t>cuBLAS</a:t>
            </a:r>
            <a:r>
              <a:rPr lang="en" sz="2600"/>
              <a:t>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Особенности использования библиотеки cuBLAS.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Функции cublas&lt;T&gt;gemm().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Реализация произведения матриц на основе cuBLAS.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Тензорные процессоры.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Вызовы </a:t>
            </a:r>
            <a:r>
              <a:rPr lang="en" sz="2300">
                <a:solidFill>
                  <a:schemeClr val="dk1"/>
                </a:solidFill>
              </a:rPr>
              <a:t>cublas&lt;T&gt;gemm() с использованием тензорных процессоров.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90600" y="26428"/>
            <a:ext cx="7086600" cy="771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Библиотека cuBLAS </a:t>
            </a:r>
            <a:endParaRPr sz="2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(</a:t>
            </a:r>
            <a:r>
              <a:rPr b="1" i="1" lang="en" sz="2200"/>
              <a:t>B</a:t>
            </a:r>
            <a:r>
              <a:rPr i="1" lang="en" sz="2200"/>
              <a:t>asic</a:t>
            </a:r>
            <a:r>
              <a:rPr b="1" i="1" lang="en" sz="2200"/>
              <a:t> L</a:t>
            </a:r>
            <a:r>
              <a:rPr i="1" lang="en" sz="2200"/>
              <a:t>inear </a:t>
            </a:r>
            <a:r>
              <a:rPr b="1" i="1" lang="en" sz="2200"/>
              <a:t>A</a:t>
            </a:r>
            <a:r>
              <a:rPr i="1" lang="en" sz="2200"/>
              <a:t>lgebra </a:t>
            </a:r>
            <a:r>
              <a:rPr b="1" i="1" lang="en" sz="2200"/>
              <a:t>S</a:t>
            </a:r>
            <a:r>
              <a:rPr i="1" lang="en" sz="2200"/>
              <a:t>ubroutines</a:t>
            </a:r>
            <a:r>
              <a:rPr lang="en" sz="2200"/>
              <a:t>)</a:t>
            </a:r>
            <a:endParaRPr sz="2200"/>
          </a:p>
        </p:txBody>
      </p:sp>
      <p:sp>
        <p:nvSpPr>
          <p:cNvPr id="76" name="Google Shape;76;p17"/>
          <p:cNvSpPr txBox="1"/>
          <p:nvPr/>
        </p:nvSpPr>
        <p:spPr>
          <a:xfrm>
            <a:off x="393575" y="1325200"/>
            <a:ext cx="8133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Хранение по столбцам ( column-major storage), совместимость с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Фортраном, для копирования и инициализации матриц следует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использовать специальный API.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Линейная индексация массивов;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Имена функций образуются по схеме: cublas&lt;T&gt;&lt;function&gt;.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Например, </a:t>
            </a:r>
            <a:r>
              <a:rPr b="1" i="1" lang="en" sz="1900"/>
              <a:t>cublasSgemm</a:t>
            </a:r>
            <a:r>
              <a:rPr lang="en" sz="1900"/>
              <a:t>, тип данных </a:t>
            </a:r>
            <a:r>
              <a:rPr i="1" lang="en" sz="1900"/>
              <a:t>float</a:t>
            </a:r>
            <a:r>
              <a:rPr lang="en" sz="1900"/>
              <a:t>, </a:t>
            </a:r>
            <a:r>
              <a:rPr i="1" lang="en" sz="1900"/>
              <a:t>generic/general matrix-matrix </a:t>
            </a:r>
            <a:r>
              <a:rPr lang="en" sz="1900"/>
              <a:t>умножение плюс сложение: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Документация: </a:t>
            </a:r>
            <a:r>
              <a:rPr b="1" i="1" lang="en" sz="2000"/>
              <a:t>https://docs.nvidia.com/cuda/cublas/#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3206665"/>
            <a:ext cx="9105" cy="1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3206678"/>
            <a:ext cx="910496" cy="22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82675" y="157600"/>
            <a:ext cx="8978700" cy="4494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int main(){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0000"/>
                </a:solidFill>
              </a:rPr>
              <a:t>// Инициализация библиотеки CUBLAS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cublasHandle_t cublas_handle;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cublasCreate(&amp;cublas_handle);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</a:rPr>
              <a:t>//Копирование матрицы с числом строк num_rows и числом столбцов //num_cols с хоста на устройство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cublasSetMatrix(num_rows, num_cols, elem_size, A_h, ldah, A_dev, ldad);                                                           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&lt;</a:t>
            </a:r>
            <a:r>
              <a:rPr b="1" i="1" lang="en" sz="2000"/>
              <a:t>вызов функции cuBLAS API</a:t>
            </a:r>
            <a:r>
              <a:rPr lang="en" sz="2000"/>
              <a:t>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cublasGetMatrix(num_rows, num_cols, elem_size, A_dev, num_rows, A_h,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							                                                        num_rows);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…………………………………………………………………………………….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cublasDestroy(cublas_handle);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  <p:sp>
        <p:nvSpPr>
          <p:cNvPr id="84" name="Google Shape;84;p18"/>
          <p:cNvSpPr/>
          <p:nvPr/>
        </p:nvSpPr>
        <p:spPr>
          <a:xfrm>
            <a:off x="7262550" y="985850"/>
            <a:ext cx="1438500" cy="545700"/>
          </a:xfrm>
          <a:prstGeom prst="wedgeRectCallout">
            <a:avLst>
              <a:gd fmla="val -67242" name="adj1"/>
              <a:gd fmla="val 207559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</a:t>
            </a:r>
            <a:r>
              <a:rPr lang="en" sz="2000"/>
              <a:t>eading dimension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3761423" cy="262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463" y="1066800"/>
            <a:ext cx="3771900" cy="262847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5110775" y="3971575"/>
            <a:ext cx="32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leading dimension равно 7</a:t>
            </a:r>
            <a:endParaRPr sz="2000"/>
          </a:p>
        </p:txBody>
      </p:sp>
      <p:sp>
        <p:nvSpPr>
          <p:cNvPr id="92" name="Google Shape;92;p19"/>
          <p:cNvSpPr txBox="1"/>
          <p:nvPr/>
        </p:nvSpPr>
        <p:spPr>
          <a:xfrm>
            <a:off x="538775" y="3988110"/>
            <a:ext cx="32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leading dimension равно 9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275500" y="120750"/>
            <a:ext cx="8697900" cy="4863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void hMultMatsBlas(REAL* A, REAL* B, REAL* C){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cublasHandle_t cublas_handle;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cublasCreate(&amp;cublas_handle); 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const float alpha=1.0;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const float beta=0.0;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//  </a:t>
            </a:r>
            <a:r>
              <a:rPr b="1" lang="en" sz="1900"/>
              <a:t>cublasSetMathMode(cublas_handle, CUBLAS_TENSOR_OP_MATH);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cublasSgemm(cublas_handle, CUBLAS_OP_T, CUBLAS_OP_N,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M, N, K,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&amp;alpha,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A, M,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B, K,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&amp;beta,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                        C, M);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cublasDestroy(cublas_handle); 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}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275500" y="286375"/>
            <a:ext cx="8763600" cy="164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void hMatOutBlas(REAL* D, int I, int J){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REAL* Dh=(REAL*)calloc(I*J, sizeof(REAL));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</a:t>
            </a:r>
            <a:r>
              <a:rPr b="1" lang="en" sz="1900"/>
              <a:t>cublasGetMatrix</a:t>
            </a:r>
            <a:r>
              <a:rPr lang="en" sz="1900"/>
              <a:t>(I, J, sizeof(REAL), D, I, Dh, I);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………………………………………………………………………………………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}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131200" y="893350"/>
            <a:ext cx="8868600" cy="1939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~/Lecture8/Lab8blas&gt;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nvprof ./lab8blas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16.51%  516.96us    1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 516.96us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516.96us  516.96us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												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volta_sgemm_128x64_tn</a:t>
            </a:r>
            <a:endParaRPr b="1"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3.81%  119.39us       2 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59.695us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59.552us  59.839us 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457200" lvl="0" marL="502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gInit(float*, int)</a:t>
            </a:r>
            <a:endParaRPr>
              <a:highlight>
                <a:srgbClr val="CCCCCC"/>
              </a:highlight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196775" y="3205375"/>
            <a:ext cx="8724300" cy="1939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~/WORKSHOP/PGP-2023&gt;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nvprof ./lab8blas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……………………………………………………………………………………….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41.49%  1.3640ms   1  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 1.3640ms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1.3640ms  1.3640ms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             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sgemm_128x128x8_NT_vec</a:t>
            </a:r>
            <a:endParaRPr b="1"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9.28%  305.00us      2    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152.50us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152.36us  152.65us 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457200" lvl="0" marL="45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  gInit(float*, int)</a:t>
            </a:r>
            <a:endParaRPr>
              <a:highlight>
                <a:srgbClr val="CCCCCC"/>
              </a:highlight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196775" y="2800100"/>
            <a:ext cx="339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highlight>
                  <a:srgbClr val="C0C3A1"/>
                </a:highlight>
              </a:rPr>
              <a:t>“GeForce GTX 1050”</a:t>
            </a:r>
            <a:endParaRPr b="1" i="1" sz="2000"/>
          </a:p>
        </p:txBody>
      </p:sp>
      <p:sp>
        <p:nvSpPr>
          <p:cNvPr id="110" name="Google Shape;110;p22"/>
          <p:cNvSpPr txBox="1"/>
          <p:nvPr/>
        </p:nvSpPr>
        <p:spPr>
          <a:xfrm>
            <a:off x="120575" y="-19300"/>
            <a:ext cx="394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“NVIDIA GeForce RTX 2060”</a:t>
            </a:r>
            <a:endParaRPr b="1" i="1" sz="2000"/>
          </a:p>
        </p:txBody>
      </p:sp>
      <p:sp>
        <p:nvSpPr>
          <p:cNvPr id="111" name="Google Shape;111;p22"/>
          <p:cNvSpPr txBox="1"/>
          <p:nvPr/>
        </p:nvSpPr>
        <p:spPr>
          <a:xfrm>
            <a:off x="314850" y="401825"/>
            <a:ext cx="85800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Ускорение по отношению  к алгоритму на основе </a:t>
            </a:r>
            <a:r>
              <a:rPr i="1" lang="en" sz="1800">
                <a:solidFill>
                  <a:schemeClr val="dk1"/>
                </a:solidFill>
                <a:highlight>
                  <a:srgbClr val="F4CCCC"/>
                </a:highlight>
              </a:rPr>
              <a:t>CUDA API </a:t>
            </a: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на </a:t>
            </a:r>
            <a:r>
              <a:rPr i="1" lang="en" sz="1800">
                <a:solidFill>
                  <a:schemeClr val="dk1"/>
                </a:solidFill>
                <a:highlight>
                  <a:srgbClr val="F4CCCC"/>
                </a:highlight>
              </a:rPr>
              <a:t>GPU </a:t>
            </a: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7.68</a:t>
            </a: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. 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131200" y="118225"/>
            <a:ext cx="88815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Нейронные процессоры: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● специализированные микросхемы, “заточенные” на ускорение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алгоритмов машинного обучения;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● аппаратная реализация GEMM (C=αAB+βC);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● вычисления со смешанной точностью (FP16, FP32, FP64);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● перемножение матриц размерности 4x4, 8x8, 16x16 за один такт;</a:t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41725"/>
            <a:ext cx="5293053" cy="2452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/>
        </p:nvSpPr>
        <p:spPr>
          <a:xfrm>
            <a:off x="5588725" y="3467768"/>
            <a:ext cx="3358500" cy="14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000"/>
              <a:t>GETTING STARTED WITH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000"/>
              <a:t>TENSOR CORES IN HPC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Vishal Mehta, NVIDIA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Super Computing, 2019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78725" y="604200"/>
            <a:ext cx="8855400" cy="141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Google TPU,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Huawei Ascend 310 / Ascend 910,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................................................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NVIDIA Tensor Cores.</a:t>
            </a:r>
            <a:endParaRPr/>
          </a:p>
        </p:txBody>
      </p:sp>
      <p:sp>
        <p:nvSpPr>
          <p:cNvPr id="124" name="Google Shape;124;p24"/>
          <p:cNvSpPr txBox="1"/>
          <p:nvPr/>
        </p:nvSpPr>
        <p:spPr>
          <a:xfrm>
            <a:off x="78725" y="2514550"/>
            <a:ext cx="8855400" cy="11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V100: 64 GEMM за такт, архитектура Volta (Nvidia Tesla V100), sm_70;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TU100-104: архитектура Turing (Geforce RTX 20*), sm_75;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A100: 256 GEMM за такт, архитектура Ampere (Geforce RTX 30*), sm_80.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150150" y="157900"/>
            <a:ext cx="8918700" cy="240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WMMA</a:t>
            </a:r>
            <a:r>
              <a:rPr lang="en" sz="1800"/>
              <a:t>, https://docs.nvidia.com/cuda/cuda-c-programming-guide/index.html#wmma;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cuBLAS</a:t>
            </a:r>
            <a:r>
              <a:rPr lang="en" sz="1800"/>
              <a:t>, https://docs.nvidia.com/cuda/cublas/;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</a:rPr>
              <a:t>CUTLASS</a:t>
            </a:r>
            <a:r>
              <a:rPr lang="en" sz="1800"/>
              <a:t>,  https://nvidia.github.io/cutlass/;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cuTENSOR</a:t>
            </a:r>
            <a:r>
              <a:rPr lang="en" sz="1800"/>
              <a:t>, https://docs.nvidia.com/cuda/cutensor/;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9999"/>
                </a:solidFill>
              </a:rPr>
              <a:t>cuDNN</a:t>
            </a:r>
            <a:r>
              <a:rPr lang="en" sz="1800"/>
              <a:t>, https://developer.nvidia.com/cudnn;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7B7B7"/>
                </a:solidFill>
              </a:rPr>
              <a:t>TensorFlow</a:t>
            </a:r>
            <a:r>
              <a:rPr lang="en" sz="1800"/>
              <a:t>,  </a:t>
            </a:r>
            <a:r>
              <a:rPr lang="en" sz="1800">
                <a:uFill>
                  <a:noFill/>
                </a:uFill>
                <a:hlinkClick r:id="rId3"/>
              </a:rPr>
              <a:t>https://www.tensorflow.org/</a:t>
            </a:r>
            <a:r>
              <a:rPr lang="en" sz="1800"/>
              <a:t>, https://docs.nvidia.com/deeplearning/frameworks/tensorflow-user-guide/;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B7B7B7"/>
                </a:solidFill>
              </a:rPr>
              <a:t>PyTorch</a:t>
            </a:r>
            <a:r>
              <a:rPr lang="en" sz="1800"/>
              <a:t>, https://pytorch.org/.</a:t>
            </a:r>
            <a:endParaRPr sz="1800"/>
          </a:p>
        </p:txBody>
      </p:sp>
      <p:sp>
        <p:nvSpPr>
          <p:cNvPr id="130" name="Google Shape;130;p25"/>
          <p:cNvSpPr txBox="1"/>
          <p:nvPr/>
        </p:nvSpPr>
        <p:spPr>
          <a:xfrm>
            <a:off x="150150" y="3031350"/>
            <a:ext cx="89187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CUTENSOR </a:t>
            </a:r>
            <a:r>
              <a:rPr lang="en"/>
              <a:t>A CUDA Library for High-Performance Tensor Primitives, Paul Springer, November 20th 2019.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GETTING STARTED WITH TENSOR CORES IN HPC, Vishal Mehta, NVIDIASuper Computing, 2019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CUTLASS:CUDA TEMPLATELIBRARY FOR DENSE LINEAR ALGEBRA AT ALL LEVELS AND SCALES, Jeng Bai-Cheng(Ryan), 21 Nov.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VOLTA TENSOR CORE TRAINING ORNL, August 2019.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Stefano Markidis et al. NVIDIA Tensor Core Programmability, Performance &amp; Precision, arXiv:1803.04014 [cs.DC], (2018).  https://doi.org/10.48550/arXiv.1803.04014.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131200" y="1426750"/>
            <a:ext cx="8868600" cy="3032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~/Lecture8/Lab8blas&gt;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  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ncu --replay-mode application --metrics </a:t>
            </a:r>
            <a:r>
              <a:rPr b="1" lang="en" sz="1900">
                <a:solidFill>
                  <a:schemeClr val="dk1"/>
                </a:solidFill>
                <a:highlight>
                  <a:srgbClr val="CCCCCC"/>
                </a:highlight>
              </a:rPr>
              <a:t>sm__pipe_tensor_cycles_active.avg.pct_of_peak_sustained_active</a:t>
            </a: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lab8blas 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volta_sgemm_128x64_tn, 2023-Mar-20 13:56:45, Context 1, Stream 7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Section: Command line profiler metrics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------------------------------------------------------------------------------------------------------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sm__pipe_tensor_cycles_active.avg.pct_of_peak_sustained_active    %        0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CCCCCC"/>
                </a:highlight>
              </a:rPr>
              <a:t> -----------------------------------------------------------------------------------------------------</a:t>
            </a:r>
            <a:endParaRPr sz="19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170550" y="629875"/>
            <a:ext cx="3909600" cy="492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Тензорные ядра не активны. </a:t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91825" y="131350"/>
            <a:ext cx="8960400" cy="223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~/Lecture8/Lab8blas&gt; nvprof ./lab8blas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…………………………………………………………………………………………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11.63%  308.32us  1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308.32us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308.32us  308.32us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									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volta_s884gemm_128x128_ldg8_f2f_tn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4.44%  117.79us    2  58.895us   58.784us   59.007us  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                                                            gInit(float*, int)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…………………………………………………………………………………………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91825" y="2522975"/>
            <a:ext cx="8960400" cy="2370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~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/Lecture8/Lab8blas&gt;  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ncu --replay-mode application --metrics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sm__pipe_tensor_cycles_active.avg.pct_of_peak_sustained_active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lab8blas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volta_s884gemm_128x128_ldg8_f2f_tn, 2023-Mar-20 12:29:27, Context 1, Stream 7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Section: Command line profiler metrics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---------------------------------------------------------------------- --------------- sm__pipe_tensor_cycles_active.avg.pct_of_peak_sustained_active   %         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37.90</a:t>
            </a:r>
            <a:endParaRPr b="1"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---------------------------------------------------------------------- --------------- 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5199750" y="2001475"/>
            <a:ext cx="3909600" cy="492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Тензорные ядра активны. </a:t>
            </a:r>
            <a:endParaRPr b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/>
        </p:nvSpPr>
        <p:spPr>
          <a:xfrm>
            <a:off x="806375" y="2180675"/>
            <a:ext cx="7451700" cy="172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5.23777   5.23777 </a:t>
            </a: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……………………………………..</a:t>
            </a: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5.23777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1347.41   1347.41………………………………………1347.41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2689.56   2689.56 ………………………………………2689.56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……………………………………………………………..………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9400.73   9400.73  ……………………………………..9400.73</a:t>
            </a:r>
            <a:endParaRPr sz="1500"/>
          </a:p>
        </p:txBody>
      </p:sp>
      <p:sp>
        <p:nvSpPr>
          <p:cNvPr id="149" name="Google Shape;149;p28"/>
          <p:cNvSpPr txBox="1"/>
          <p:nvPr/>
        </p:nvSpPr>
        <p:spPr>
          <a:xfrm>
            <a:off x="170550" y="1315675"/>
            <a:ext cx="3909600" cy="492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Потеря точности</a:t>
            </a:r>
            <a:r>
              <a:rPr b="1" lang="en" sz="2000"/>
              <a:t>. </a:t>
            </a:r>
            <a:endParaRPr b="1" sz="2000"/>
          </a:p>
        </p:txBody>
      </p:sp>
      <p:sp>
        <p:nvSpPr>
          <p:cNvPr id="150" name="Google Shape;150;p28"/>
          <p:cNvSpPr txBox="1"/>
          <p:nvPr/>
        </p:nvSpPr>
        <p:spPr>
          <a:xfrm>
            <a:off x="314850" y="249425"/>
            <a:ext cx="8580000" cy="80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Ускорение по отношению  к алгоритму на основе </a:t>
            </a:r>
            <a:r>
              <a:rPr i="1" lang="en" sz="2000">
                <a:solidFill>
                  <a:schemeClr val="dk1"/>
                </a:solidFill>
                <a:highlight>
                  <a:srgbClr val="F4CCCC"/>
                </a:highlight>
              </a:rPr>
              <a:t>CUDA API </a:t>
            </a: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на </a:t>
            </a:r>
            <a:r>
              <a:rPr i="1" lang="en" sz="2000">
                <a:solidFill>
                  <a:schemeClr val="dk1"/>
                </a:solidFill>
                <a:highlight>
                  <a:srgbClr val="F4CCCC"/>
                </a:highlight>
              </a:rPr>
              <a:t>GPU </a:t>
            </a: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12.9.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91825" y="42031"/>
            <a:ext cx="8881500" cy="480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void hMultMatsBlas(</a:t>
            </a:r>
            <a:r>
              <a:rPr b="1" lang="en" sz="2000"/>
              <a:t>half</a:t>
            </a:r>
            <a:r>
              <a:rPr lang="en" sz="2000"/>
              <a:t>* A, </a:t>
            </a:r>
            <a:r>
              <a:rPr b="1" lang="en" sz="2000"/>
              <a:t>half</a:t>
            </a:r>
            <a:r>
              <a:rPr lang="en" sz="2000"/>
              <a:t>* B, </a:t>
            </a:r>
            <a:r>
              <a:rPr b="1" lang="en" sz="2000"/>
              <a:t>half</a:t>
            </a:r>
            <a:r>
              <a:rPr lang="en" sz="2000"/>
              <a:t>* C){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……………………………………………………………………………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const</a:t>
            </a:r>
            <a:r>
              <a:rPr b="1" lang="en" sz="2000"/>
              <a:t> half </a:t>
            </a:r>
            <a:r>
              <a:rPr lang="en" sz="2000"/>
              <a:t>alpha=1.0;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const </a:t>
            </a:r>
            <a:r>
              <a:rPr b="1" lang="en" sz="2000"/>
              <a:t>half </a:t>
            </a:r>
            <a:r>
              <a:rPr lang="en" sz="2000"/>
              <a:t>beta=0.0;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cublasSetMathMode(cublas_handle, CUBLAS_TENSOR_OP_MATH);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b="1" lang="en" sz="2000"/>
              <a:t>cublasHgemm</a:t>
            </a:r>
            <a:r>
              <a:rPr lang="en" sz="2000"/>
              <a:t>(cublas_handle, CUBLAS_OP_T, CUBLAS_OP_N,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M, N, K,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&amp;alpha,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A, M,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B, K,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&amp;beta,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C, M);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cublasDestroy(cublas_handle);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/>
        </p:nvSpPr>
        <p:spPr>
          <a:xfrm>
            <a:off x="170550" y="78875"/>
            <a:ext cx="8776800" cy="1416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gInit(REAL* D, int s){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D[j+i*J]=</a:t>
            </a:r>
            <a:r>
              <a:rPr b="1" lang="en" sz="2000"/>
              <a:t>__float2half</a:t>
            </a:r>
            <a:r>
              <a:rPr lang="en" sz="2000"/>
              <a:t>(s*(float)((j+i*J)*1.0E-5)+(1-s)*1.0f);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/>
          </a:p>
        </p:txBody>
      </p:sp>
      <p:sp>
        <p:nvSpPr>
          <p:cNvPr id="161" name="Google Shape;161;p30"/>
          <p:cNvSpPr txBox="1"/>
          <p:nvPr/>
        </p:nvSpPr>
        <p:spPr>
          <a:xfrm>
            <a:off x="170550" y="1529525"/>
            <a:ext cx="8776800" cy="233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  half </a:t>
            </a:r>
            <a:r>
              <a:rPr lang="en" sz="2000"/>
              <a:t>*A, *B, *C;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cudaMalloc((void**)&amp;A, M*K*sizeof(</a:t>
            </a:r>
            <a:r>
              <a:rPr b="1" lang="en" sz="2000"/>
              <a:t>half</a:t>
            </a:r>
            <a:r>
              <a:rPr lang="en" sz="2000"/>
              <a:t>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hMultMatsBlas(A,B,C);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  <p:sp>
        <p:nvSpPr>
          <p:cNvPr id="162" name="Google Shape;162;p30"/>
          <p:cNvSpPr txBox="1"/>
          <p:nvPr/>
        </p:nvSpPr>
        <p:spPr>
          <a:xfrm>
            <a:off x="183675" y="3959063"/>
            <a:ext cx="8776800" cy="1108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……………………………………………………..    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fprintf(stdout, "%g\t", </a:t>
            </a:r>
            <a:r>
              <a:rPr b="1" lang="en" sz="2000"/>
              <a:t>__half2float</a:t>
            </a:r>
            <a:r>
              <a:rPr lang="en" sz="2000"/>
              <a:t>(Dh[i+j*I]));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/>
        </p:nvSpPr>
        <p:spPr>
          <a:xfrm>
            <a:off x="104950" y="55150"/>
            <a:ext cx="8802900" cy="1647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/Lecture8/Lab8blas&gt; nvprof ./lab8blasH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13.92%  118.59us   2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59.295us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59.231us  59.359us  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 gInit(__half*, int)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11.68%  99.519us   1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99.519us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99.519us  99.519us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turing_h1688gemm_128x128_ldg8_stages_32x1_tn</a:t>
            </a:r>
            <a:endParaRPr b="1">
              <a:highlight>
                <a:srgbClr val="D9D9D9"/>
              </a:highlight>
            </a:endParaRPr>
          </a:p>
        </p:txBody>
      </p:sp>
      <p:sp>
        <p:nvSpPr>
          <p:cNvPr id="168" name="Google Shape;168;p31"/>
          <p:cNvSpPr txBox="1"/>
          <p:nvPr/>
        </p:nvSpPr>
        <p:spPr>
          <a:xfrm>
            <a:off x="104850" y="1796925"/>
            <a:ext cx="8802900" cy="2724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~/Lecture8/Lab8blas&gt;  ncu --replay-mode application --metrics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sm__pipe_tensor_cycles_active.avg.pct_of_peak_sustained_active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lab8blas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turing_h1688gemm_128x128_ldg8_stages_32x1_tn, 2023-Mar-20 14:42:07, Context 1, Stream 7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Section: Command line profiler metrics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-----------------------------------------------------------------------------------------------------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sm__pipe_tensor_cycles_active.avg.pct_of_peak_sustained_active    %     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62.27</a:t>
            </a:r>
            <a:endParaRPr b="1"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---------------------------------------------------------------------------------------------------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5047350" y="4363675"/>
            <a:ext cx="3909600" cy="492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Тензорные ядра активны. </a:t>
            </a:r>
            <a:endParaRPr b="1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/>
        </p:nvSpPr>
        <p:spPr>
          <a:xfrm>
            <a:off x="157425" y="1135075"/>
            <a:ext cx="8776800" cy="193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5.23828   5.23828…………………………………. 5.23828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1344        1344…………………………………….. .1344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2688        2688……………………………………. ..2688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…………………………………………………………..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939</a:t>
            </a:r>
            <a:r>
              <a:rPr lang="en" sz="2000">
                <a:solidFill>
                  <a:schemeClr val="dk1"/>
                </a:solidFill>
              </a:rPr>
              <a:t>2        9392……………………………………….9392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2"/>
          <p:cNvSpPr txBox="1"/>
          <p:nvPr/>
        </p:nvSpPr>
        <p:spPr>
          <a:xfrm>
            <a:off x="170550" y="325075"/>
            <a:ext cx="3909600" cy="492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Потеря точности. </a:t>
            </a:r>
            <a:endParaRPr b="1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/>
        </p:nvSpPr>
        <p:spPr>
          <a:xfrm>
            <a:off x="196775" y="1747200"/>
            <a:ext cx="8711100" cy="492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Ускорение по отношению к алгоритму на CPU  </a:t>
            </a:r>
            <a:r>
              <a:rPr b="1" lang="en" sz="2000">
                <a:solidFill>
                  <a:schemeClr val="dk1"/>
                </a:solidFill>
                <a:highlight>
                  <a:srgbClr val="F4CCCC"/>
                </a:highlight>
              </a:rPr>
              <a:t>39992.36.</a:t>
            </a:r>
            <a:endParaRPr b="1" sz="2000">
              <a:highlight>
                <a:srgbClr val="F4CCCC"/>
              </a:highlight>
            </a:endParaRPr>
          </a:p>
        </p:txBody>
      </p:sp>
      <p:sp>
        <p:nvSpPr>
          <p:cNvPr id="181" name="Google Shape;181;p33"/>
          <p:cNvSpPr txBox="1"/>
          <p:nvPr/>
        </p:nvSpPr>
        <p:spPr>
          <a:xfrm>
            <a:off x="196775" y="346825"/>
            <a:ext cx="8711100" cy="80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Ускорение по отношению  к алгоритму на основе CUDA API на GPU </a:t>
            </a:r>
            <a:r>
              <a:rPr b="1" lang="en" sz="2000">
                <a:solidFill>
                  <a:schemeClr val="dk1"/>
                </a:solidFill>
                <a:highlight>
                  <a:srgbClr val="F4CCCC"/>
                </a:highlight>
              </a:rPr>
              <a:t>39.9.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2584450" y="2912600"/>
            <a:ext cx="3437100" cy="554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В сорок тысяч раз!</a:t>
            </a:r>
            <a:endParaRPr b="1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/>
        </p:nvSpPr>
        <p:spPr>
          <a:xfrm>
            <a:off x="145350" y="258700"/>
            <a:ext cx="8866500" cy="1723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ЗАДАНИЕ.</a:t>
            </a:r>
            <a:endParaRPr b="1"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Реализовать вычисление произведения матриц на GPU, используя CUDA API (“сырой код”) и, отдельно, используя библиотеку </a:t>
            </a:r>
            <a:r>
              <a:rPr i="1" lang="en" sz="2000"/>
              <a:t>cuBLAS</a:t>
            </a:r>
            <a:r>
              <a:rPr lang="en" sz="2000"/>
              <a:t>. Сравнить время выполнения программ при различной размерности матриц.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