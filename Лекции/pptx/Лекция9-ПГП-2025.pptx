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914883d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914883d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914883dd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914883dd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914883d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914883d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4914883dd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4914883dd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57d36c2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57d36c2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2444259d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2444259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57d36c28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57d36c28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444259d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444259d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57d36c2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f57d36c2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4b082ea1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4b082ea1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914883dd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914883dd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93b4052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93b4052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93b4052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93b4052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93b40524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93b40524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914883dd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914883dd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93b40524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93b40524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93b40524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93b40524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ee96b313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ee96b31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ee96b31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0ee96b31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ee96b313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0ee96b313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914883dd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914883dd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b80f67e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b80f67e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9</a:t>
            </a:r>
            <a:endParaRPr b="1" sz="3600"/>
          </a:p>
        </p:txBody>
      </p:sp>
      <p:sp>
        <p:nvSpPr>
          <p:cNvPr id="66" name="Google Shape;66;p15"/>
          <p:cNvSpPr txBox="1"/>
          <p:nvPr/>
        </p:nvSpPr>
        <p:spPr>
          <a:xfrm>
            <a:off x="323700" y="1498850"/>
            <a:ext cx="8715600" cy="80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</a:pPr>
            <a:r>
              <a:rPr lang="en" sz="2400"/>
              <a:t>CUDA Driver API.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80675" y="92775"/>
            <a:ext cx="9144000" cy="2037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/Лаб9&gt; ls -l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total 16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2111 авг 23  2024 </a:t>
            </a:r>
            <a:r>
              <a:rPr b="1" lang="en" sz="1800">
                <a:solidFill>
                  <a:schemeClr val="dk1"/>
                </a:solidFill>
              </a:rPr>
              <a:t>cda.cpp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122 окт 26 13:48 </a:t>
            </a:r>
            <a:r>
              <a:rPr b="1" lang="en" sz="1800">
                <a:solidFill>
                  <a:schemeClr val="dk1"/>
                </a:solidFill>
              </a:rPr>
              <a:t>cda.cu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1273 окт 28 12:57 </a:t>
            </a:r>
            <a:r>
              <a:rPr b="1" lang="en" sz="1800">
                <a:solidFill>
                  <a:schemeClr val="dk1"/>
                </a:solidFill>
              </a:rPr>
              <a:t>cda.py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1775 авг  7  2024 </a:t>
            </a:r>
            <a:r>
              <a:rPr b="1" lang="en" sz="1800">
                <a:solidFill>
                  <a:schemeClr val="dk1"/>
                </a:solidFill>
              </a:rPr>
              <a:t>cuda_driver.py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16"/>
          <p:cNvSpPr txBox="1"/>
          <p:nvPr/>
        </p:nvSpPr>
        <p:spPr>
          <a:xfrm>
            <a:off x="56425" y="2519025"/>
            <a:ext cx="8989200" cy="2491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extern "C"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__global__ void gStub(float* a, float* b){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		int tid=threadIdx.x+blockIdx.x*blockDim.x;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		a[tid]=a[tid]+b[tid];</a:t>
            </a:r>
            <a:endParaRPr sz="20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3" name="Google Shape;73;p16"/>
          <p:cNvSpPr txBox="1"/>
          <p:nvPr/>
        </p:nvSpPr>
        <p:spPr>
          <a:xfrm>
            <a:off x="6565525" y="2805725"/>
            <a:ext cx="1008600" cy="474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dk1"/>
                </a:solidFill>
              </a:rPr>
              <a:t>cda.cu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161375" y="102875"/>
            <a:ext cx="8854800" cy="259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/Лаб9&gt; nvcc -ptx cda.cu  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/Лаб9&gt; ls -ltr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total 20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1775 авг  7  2024 cuda_driver.py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2111 авг 23  2024 cda.cpp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121 апр  6 15:23 cda.cu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1314 апр  6 15:25 cda.py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813 апр  6 15:33 </a:t>
            </a:r>
            <a:r>
              <a:rPr b="1" lang="en" sz="1800">
                <a:solidFill>
                  <a:schemeClr val="dk1"/>
                </a:solidFill>
              </a:rPr>
              <a:t>cda.ptx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120925" y="145125"/>
            <a:ext cx="8940600" cy="4821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.version 8.5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.target sm_52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.address_size 64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.visible .entry gStub(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.param .u64 gStub_param_0,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.param .u64 gStub_param_1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.reg .f32 	%f&lt;4&gt;;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.reg .b32 	%r&lt;5&gt;;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.reg .b64 	%rd&lt;8&gt;;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ld.param.u64 	%rd1, [gStub_param_0];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	ld.param.u64 	%rd2, [gStub_param_1];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4" name="Google Shape;84;p18"/>
          <p:cNvSpPr txBox="1"/>
          <p:nvPr/>
        </p:nvSpPr>
        <p:spPr>
          <a:xfrm>
            <a:off x="6771525" y="669150"/>
            <a:ext cx="1265700" cy="499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cda.ptx</a:t>
            </a:r>
            <a:endParaRPr b="1" i="1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137050" y="80625"/>
            <a:ext cx="8876100" cy="4901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cvta.to.global.u64 	%rd3, %rd2;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cvta.to.global.u64 	%rd4, %rd1;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mov.u32 	%r1, %tid.x;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mov.u32 	%r2, %ctaid.x;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mov.u32 	%r3, %ntid.x;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mad.lo.s32 	%r4, %r2, %r3, %r1;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mul.wide.s32 	%rd5, %r4, 4;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add.s64 	%rd6, %rd4, %rd5;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ld.global.f32 	%f1, [%rd6];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add.s64 	%rd7, %rd3, %rd5;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ld.global.f32 	%f2, [%rd7];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add.f32 	%f3, %f1, %f2;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st.global.f32 	[%rd6], %f3;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	ret;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142875" y="694125"/>
            <a:ext cx="8813700" cy="4182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&lt;cuda.h&gt;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&lt;cuda_runtime.h&gt;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&lt;stdio.h&gt;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&lt;malloc.h&gt;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int main(){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</a:t>
            </a:r>
            <a:r>
              <a:rPr lang="en" sz="2000"/>
              <a:t> cuInit(0);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CUdevice cuDevice;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CUresult res = </a:t>
            </a:r>
            <a:r>
              <a:rPr b="1" lang="en" sz="2000"/>
              <a:t>cuDeviceGet</a:t>
            </a:r>
            <a:r>
              <a:rPr lang="en" sz="2000"/>
              <a:t>(&amp;cuDevice, 0);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if (res != CUDA_SUCCESS){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printf("cannot acquire device 0\n");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exit(1);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5" name="Google Shape;95;p20"/>
          <p:cNvSpPr txBox="1"/>
          <p:nvPr/>
        </p:nvSpPr>
        <p:spPr>
          <a:xfrm>
            <a:off x="4958075" y="1072225"/>
            <a:ext cx="1233600" cy="55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cda.cpp</a:t>
            </a:r>
            <a:endParaRPr b="1" i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/>
        </p:nvSpPr>
        <p:spPr>
          <a:xfrm>
            <a:off x="168375" y="837325"/>
            <a:ext cx="8712900" cy="2180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CUcontext cuContext;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res = </a:t>
            </a:r>
            <a:r>
              <a:rPr b="1" lang="en" sz="2000">
                <a:solidFill>
                  <a:schemeClr val="dk1"/>
                </a:solidFill>
              </a:rPr>
              <a:t>cuCtxCreate</a:t>
            </a:r>
            <a:r>
              <a:rPr lang="en" sz="2000">
                <a:solidFill>
                  <a:schemeClr val="dk1"/>
                </a:solidFill>
              </a:rPr>
              <a:t>(&amp;cuContext, 0, cuDevice);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if (res != CUDA_SUCCESS){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printf("cannot create context\n");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exit(1);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178600" y="133950"/>
            <a:ext cx="8831400" cy="4893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int N=2048;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float* a=(float*)calloc(N, sizeof(float));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float* b=(float*)calloc(N, sizeof(float));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for(int i=0; i&lt;N; i++){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a[i]=2*i;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b[i]=2*i+1;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float *a_d, *b_d;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cudaMalloc((void**)&amp;a_d, N*sizeof(float));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cudaMalloc((void**)&amp;b_d, N*sizeof(float));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cudaMemcpy(a_d, a, N*sizeof(float), cudaMemcpyHostToDevice);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cudaMemcpy(b_d, b, N*sizeof(float), cudaMemcpyHostToDevice);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57250" y="583475"/>
            <a:ext cx="9029700" cy="4068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r>
              <a:rPr b="1" lang="en" sz="2000">
                <a:solidFill>
                  <a:schemeClr val="dk1"/>
                </a:solidFill>
              </a:rPr>
              <a:t>  //gStub&lt;&lt;&lt;N/128,128&gt;&gt;&gt;(a_d,b_d);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    //cudaDeviceSynchronize();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CUmodule </a:t>
            </a:r>
            <a:r>
              <a:rPr lang="en" sz="2000">
                <a:solidFill>
                  <a:schemeClr val="dk1"/>
                </a:solidFill>
              </a:rPr>
              <a:t>cuModule = (CUmodule)0;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cuModuleLoad</a:t>
            </a:r>
            <a:r>
              <a:rPr lang="en" sz="2000">
                <a:solidFill>
                  <a:schemeClr val="dk1"/>
                </a:solidFill>
              </a:rPr>
              <a:t>(&amp;cuModule, "cda.ptx");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//</a:t>
            </a:r>
            <a:r>
              <a:rPr b="1" lang="en" sz="2000">
                <a:solidFill>
                  <a:schemeClr val="dk1"/>
                </a:solidFill>
                <a:highlight>
                  <a:srgbClr val="F4CCCC"/>
                </a:highlight>
              </a:rPr>
              <a:t>cuModuleLoad</a:t>
            </a:r>
            <a:r>
              <a:rPr lang="en" sz="2000">
                <a:solidFill>
                  <a:schemeClr val="dk1"/>
                </a:solidFill>
                <a:highlight>
                  <a:srgbClr val="F4CCCC"/>
                </a:highlight>
              </a:rPr>
              <a:t>(&amp;cuModule, "cda.cubin");</a:t>
            </a:r>
            <a:endParaRPr sz="20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CUfunction</a:t>
            </a:r>
            <a:r>
              <a:rPr lang="en" sz="2000">
                <a:solidFill>
                  <a:schemeClr val="dk1"/>
                </a:solidFill>
              </a:rPr>
              <a:t> gStub;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cuModuleGetFunction</a:t>
            </a:r>
            <a:r>
              <a:rPr lang="en" sz="2000">
                <a:solidFill>
                  <a:schemeClr val="dk1"/>
                </a:solidFill>
              </a:rPr>
              <a:t>(&amp;gStub, cuModule, "gStub");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void* args[] = {&amp;a_d, &amp;b_d};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cuLaunchKernel(gStub, N/128, 1, 1, 128, 1, 1, 0, 0, args, 0);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 sz="2000">
                <a:solidFill>
                  <a:schemeClr val="dk1"/>
                </a:solidFill>
              </a:rPr>
              <a:t>cuCtxSynchronize ()</a:t>
            </a:r>
            <a:r>
              <a:rPr lang="en" sz="2000">
                <a:solidFill>
                  <a:schemeClr val="dk1"/>
                </a:solidFill>
              </a:rPr>
              <a:t>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1" name="Google Shape;111;p23"/>
          <p:cNvSpPr txBox="1"/>
          <p:nvPr/>
        </p:nvSpPr>
        <p:spPr>
          <a:xfrm>
            <a:off x="5036725" y="2139325"/>
            <a:ext cx="4020900" cy="443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00">
                <a:solidFill>
                  <a:schemeClr val="dk1"/>
                </a:solidFill>
                <a:highlight>
                  <a:srgbClr val="F4CCCC"/>
                </a:highlight>
              </a:rPr>
              <a:t>nvcc -arch=sm_70 -cubin cda.cu</a:t>
            </a:r>
            <a:endParaRPr b="1" i="1" sz="1900">
              <a:highlight>
                <a:srgbClr val="F4CCCC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/>
        </p:nvSpPr>
        <p:spPr>
          <a:xfrm>
            <a:off x="71450" y="672100"/>
            <a:ext cx="8893800" cy="3041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cudaMemcpy(a, a_d, N*sizeof(float), cudaMemcpyDeviceToHost);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for(int i=0; i&lt;N; i+=N/16)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printf("%g\n",a[i]);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</a:t>
            </a:r>
            <a:r>
              <a:rPr b="1" lang="en" sz="2000">
                <a:solidFill>
                  <a:schemeClr val="dk1"/>
                </a:solidFill>
              </a:rPr>
              <a:t> cuCtxDestroy</a:t>
            </a:r>
            <a:r>
              <a:rPr lang="en" sz="2000">
                <a:solidFill>
                  <a:schemeClr val="dk1"/>
                </a:solidFill>
              </a:rPr>
              <a:t>(cuContext);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return 0;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/>
        </p:nvSpPr>
        <p:spPr>
          <a:xfrm>
            <a:off x="125025" y="455425"/>
            <a:ext cx="8911800" cy="3439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/Лаб6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g++ -I/usr/local/cuda/include -L/usr/local/cuda/lib64 -lc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udart -lcuda cda.cpp -o cda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</a:rPr>
              <a:t>/Лаб9&gt; ls -ltr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total 40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1775 авг  7  2024 cuda_driver.py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2111 авг 23  2024 cda.cpp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 121 апр  6 15:23 cda.cu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1314 апр  6 15:25 cda.py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-rw-r--r-- 1 malkov users   813 апр  6 15:33 cda.ptx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-rwxr-xr-x 1 malkov users 16440 апр  6 15:47 </a:t>
            </a:r>
            <a:r>
              <a:rPr b="1" lang="en" sz="1800">
                <a:solidFill>
                  <a:srgbClr val="18B218"/>
                </a:solidFill>
                <a:highlight>
                  <a:srgbClr val="FFFFFF"/>
                </a:highlight>
              </a:rPr>
              <a:t>cda</a:t>
            </a:r>
            <a:endParaRPr b="1" sz="1800">
              <a:solidFill>
                <a:srgbClr val="18B21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6"/>
          <p:cNvSpPr txBox="1"/>
          <p:nvPr/>
        </p:nvSpPr>
        <p:spPr>
          <a:xfrm>
            <a:off x="171450" y="427850"/>
            <a:ext cx="8814600" cy="3449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/Лаб9&gt;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./cda</a:t>
            </a:r>
            <a:endParaRPr b="1"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513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1025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1537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2049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2561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……………………………………………………………………….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6657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7169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7681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/>
        </p:nvSpPr>
        <p:spPr>
          <a:xfrm>
            <a:off x="176625" y="287966"/>
            <a:ext cx="8859900" cy="36018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Глоссарий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Anaconda </a:t>
            </a:r>
            <a:r>
              <a:rPr lang="en" sz="2200"/>
              <a:t>— (Free Open Source Software) дистрибутив python для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научных вычислений.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NumPy</a:t>
            </a:r>
            <a:r>
              <a:rPr lang="en" sz="2200"/>
              <a:t> — библиотека python для поддержки численных расчетов.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Numba</a:t>
            </a:r>
            <a:r>
              <a:rPr lang="en" sz="2200"/>
              <a:t> — оптимизирующий компилятор python для CPU и GPU.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Matplotlib</a:t>
            </a:r>
            <a:r>
              <a:rPr lang="en" sz="2200"/>
              <a:t> — графическая библиотека python.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PyLab</a:t>
            </a:r>
            <a:r>
              <a:rPr lang="en" sz="2200"/>
              <a:t> — процедурный интерфейс Matplotlib.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Module</a:t>
            </a:r>
            <a:r>
              <a:rPr lang="en" sz="2200"/>
              <a:t> — файл .py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Package</a:t>
            </a:r>
            <a:r>
              <a:rPr lang="en" sz="2200"/>
              <a:t> — коллекция модулей со структурированным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пространством имён.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/>
        </p:nvSpPr>
        <p:spPr>
          <a:xfrm>
            <a:off x="184025" y="100475"/>
            <a:ext cx="8859900" cy="45252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Пакеты и модули</a:t>
            </a:r>
            <a:endParaRPr b="1"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...ws/numsch&gt; ls -l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total 16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-rw-r--r-- 1 malkov users 2 Apr 2 13:07 __init__.py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drwxr-xr-x 3 malkov users 4096 Apr 2 13:15 interpol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drwxr-xr-x 2 malkov users 4096 Apr 2 13:09 __pycache__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drwxr-xr-x 3 malkov users 4096 Apr 2 13:09 weno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...ws/numsch&gt; ls -l interpol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total 16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-rw-r--r-- 1 malkov users 2 Apr 2 13:08 __init__.py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-rw-r--r-- 1 malkov users 2458 Apr 2 13:14 interpoly.py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drwxr-xr-x 2 malkov users 4096 Apr 2 13:18 __pycache__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-rw-r--r-- 1 malkov users 150 Apr 2 13:18 test.py</a:t>
            </a:r>
            <a:endParaRPr/>
          </a:p>
        </p:txBody>
      </p:sp>
      <p:sp>
        <p:nvSpPr>
          <p:cNvPr id="137" name="Google Shape;137;p28"/>
          <p:cNvSpPr txBox="1"/>
          <p:nvPr/>
        </p:nvSpPr>
        <p:spPr>
          <a:xfrm>
            <a:off x="6235450" y="2340500"/>
            <a:ext cx="2206500" cy="1062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def tt(s):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print(s)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return</a:t>
            </a:r>
            <a:endParaRPr sz="1900"/>
          </a:p>
        </p:txBody>
      </p:sp>
      <p:cxnSp>
        <p:nvCxnSpPr>
          <p:cNvPr id="138" name="Google Shape;138;p28"/>
          <p:cNvCxnSpPr>
            <a:stCxn id="137" idx="2"/>
          </p:cNvCxnSpPr>
          <p:nvPr/>
        </p:nvCxnSpPr>
        <p:spPr>
          <a:xfrm rot="5400000">
            <a:off x="6206500" y="3247700"/>
            <a:ext cx="977400" cy="12870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8"/>
          <p:cNvCxnSpPr/>
          <p:nvPr/>
        </p:nvCxnSpPr>
        <p:spPr>
          <a:xfrm flipH="1">
            <a:off x="5856692" y="4379942"/>
            <a:ext cx="228300" cy="27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/>
        </p:nvSpPr>
        <p:spPr>
          <a:xfrm>
            <a:off x="150575" y="557675"/>
            <a:ext cx="8859900" cy="1939500"/>
          </a:xfrm>
          <a:prstGeom prst="rect">
            <a:avLst/>
          </a:prstGeom>
          <a:solidFill>
            <a:srgbClr val="E6B8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...ws&gt; python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&gt;&gt;&gt;</a:t>
            </a:r>
            <a:r>
              <a:rPr b="1" lang="en" sz="2000">
                <a:solidFill>
                  <a:schemeClr val="dk1"/>
                </a:solidFill>
              </a:rPr>
              <a:t> import numsch.interpol.test as t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&gt;&gt;&gt; t.tt(34.8)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34.8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&gt;&gt;&gt;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/>
          <p:nvPr/>
        </p:nvSpPr>
        <p:spPr>
          <a:xfrm>
            <a:off x="131100" y="36750"/>
            <a:ext cx="8905200" cy="4338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rgbClr val="CCCCCC"/>
                </a:highlight>
              </a:rPr>
              <a:t>https://www.anaconda.com/download</a:t>
            </a:r>
            <a:endParaRPr sz="2400"/>
          </a:p>
        </p:txBody>
      </p:sp>
      <p:sp>
        <p:nvSpPr>
          <p:cNvPr id="150" name="Google Shape;150;p30"/>
          <p:cNvSpPr txBox="1"/>
          <p:nvPr/>
        </p:nvSpPr>
        <p:spPr>
          <a:xfrm>
            <a:off x="131100" y="551100"/>
            <a:ext cx="8915400" cy="452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(base) 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malkov@192:~/Лаб9&gt;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python --version </a:t>
            </a:r>
            <a:r>
              <a:rPr b="1" lang="en" sz="1800">
                <a:solidFill>
                  <a:schemeClr val="dk1"/>
                </a:solidFill>
                <a:highlight>
                  <a:srgbClr val="F3F3F3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Python 3.12.7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(base) malkov@192:~/Лаб9&gt;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conda deactivate</a:t>
            </a:r>
            <a:endParaRPr b="1"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malkov@192:~/Лаб9&gt; python --version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If 'python' is not a typo you can use command-not-found to lookup the package that contains it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, like this:   cnf python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malkov@192:~/Лаб9&gt; 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conda create --name </a:t>
            </a:r>
            <a:r>
              <a:rPr b="1" lang="en" sz="1800">
                <a:solidFill>
                  <a:srgbClr val="FF5454"/>
                </a:solidFill>
                <a:highlight>
                  <a:srgbClr val="CCCCCC"/>
                </a:highlight>
              </a:rPr>
              <a:t>tf-gpu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 python=3.12  tensorflow-gpu</a:t>
            </a:r>
            <a:endParaRPr b="1" sz="18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malkov@192:~/Лаб9&gt; 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conda create --name </a:t>
            </a:r>
            <a:r>
              <a:rPr b="1" lang="en" sz="1800">
                <a:solidFill>
                  <a:srgbClr val="FF5454"/>
                </a:solidFill>
                <a:highlight>
                  <a:srgbClr val="CCCCCC"/>
                </a:highlight>
              </a:rPr>
              <a:t>tf-gpu2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 python=2.7  tensorflow-gpu</a:t>
            </a:r>
            <a:endParaRPr b="1" sz="18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malkov@192:~/Лаб9&gt;</a:t>
            </a:r>
            <a:r>
              <a:rPr b="1" lang="en" sz="1800">
                <a:solidFill>
                  <a:schemeClr val="dk1"/>
                </a:solidFill>
              </a:rPr>
              <a:t> conda activate tf-gpu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(tf-gpu)</a:t>
            </a:r>
            <a:r>
              <a:rPr lang="en" sz="1800">
                <a:solidFill>
                  <a:schemeClr val="dk1"/>
                </a:solidFill>
              </a:rPr>
              <a:t> malkov@192:~/Лаб9&gt; python --version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Python 3.12.8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(tf-gpu) malkov@192:~/Лаб9&gt; conda deactivate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malkov@192:~/Лаб9&gt; c</a:t>
            </a:r>
            <a:r>
              <a:rPr b="1" lang="en" sz="1800">
                <a:solidFill>
                  <a:schemeClr val="dk1"/>
                </a:solidFill>
              </a:rPr>
              <a:t>onda activate tf-gpu2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(tf-gpu2)</a:t>
            </a:r>
            <a:r>
              <a:rPr lang="en" sz="1800">
                <a:solidFill>
                  <a:schemeClr val="dk1"/>
                </a:solidFill>
              </a:rPr>
              <a:t> malkov@192:~/Лаб9&gt; python --version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Python 2.7.18 :: Anaconda, Inc.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/>
        </p:nvSpPr>
        <p:spPr>
          <a:xfrm>
            <a:off x="199350" y="162150"/>
            <a:ext cx="8811900" cy="473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</a:t>
            </a:r>
            <a:r>
              <a:rPr b="1" lang="en" sz="1800"/>
              <a:t>ctypes</a:t>
            </a:r>
            <a:r>
              <a:rPr lang="en" sz="1800"/>
              <a:t> import *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sys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'linux' in sys.platform: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	cuda = CDLL('libcuda.so')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elif 'win' in sys.platform: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	cuda = CDLL('nvcuda.dll')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CUDA_ERRORS = {0 : 'CUDA_SUCCESS', 1 : 'CUDA_ERROR_INVALID_VALUE', 200 : 'CUDA_ERROR_INVALID_IMAGE', 201 : 'CUDA_ERROR_INVALID_CONTEXT ', 400 : 'CUDA_ERROR_INVALID_HANDLE' 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cuInit = cuda.cuInit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cuInit.argtypes = [c_uint]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cuInit.restype = int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…………………………………………………………………………………………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31"/>
          <p:cNvSpPr txBox="1"/>
          <p:nvPr/>
        </p:nvSpPr>
        <p:spPr>
          <a:xfrm>
            <a:off x="4784650" y="614025"/>
            <a:ext cx="2219700" cy="47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/>
              <a:t>cuda_driver.py</a:t>
            </a:r>
            <a:endParaRPr b="1" i="1" sz="2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186075" y="215300"/>
            <a:ext cx="8718900" cy="465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cuDeviceGet = cuda.cuDeviceGet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cuDeviceGet.argtypes = [POINTER(c_int), c_int]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cuDeviceGet.restype = int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cuCtxCreate = cuda.cuCtxCreate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cuCtxCreate.argtypes = [c_void_p, c_uint, c_int]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cuCtxCreate.restype = int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cuModuleLoad = cuda.cuModuleLoad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cuModuleLoad.argtypes = [c_void_p, c_char_p]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cuModuleLoad.restype  = int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……………………………………………………………………………………..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cuModuleGetFunction = cuda.cuModuleGetFunction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cuModuleGetFunction.argtypes = [c_void_p, c_void_p, c_char_p 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cuModuleGetFunction.restype = int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………………………………………………………………………………………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/>
        </p:nvSpPr>
        <p:spPr>
          <a:xfrm>
            <a:off x="111325" y="127400"/>
            <a:ext cx="8814000" cy="485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numpy as np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cuda_driver import *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N=2048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cuInit(0)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cnt = c_int(0)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cuDeviceGetCount(byref(cnt))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if cnt.value == 0: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raise Exception('No GPU device found!')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cuDevice = c_int(0)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cuDeviceGet(byref(cuDevice), 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cuContext = c_void_p()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cuCtxCreate(byref(cuContext), 0, cuDevice)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3"/>
          <p:cNvSpPr txBox="1"/>
          <p:nvPr/>
        </p:nvSpPr>
        <p:spPr>
          <a:xfrm>
            <a:off x="5406100" y="579875"/>
            <a:ext cx="21231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168" name="Google Shape;168;p33"/>
          <p:cNvSpPr txBox="1"/>
          <p:nvPr/>
        </p:nvSpPr>
        <p:spPr>
          <a:xfrm>
            <a:off x="6253475" y="691225"/>
            <a:ext cx="1233600" cy="55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cda.py</a:t>
            </a:r>
            <a:endParaRPr b="1" i="1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160575" y="707725"/>
            <a:ext cx="8787300" cy="3800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a_a = np.linspace(0, 2*(N-1), N, dtype=np.float32)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 = a_a.ctypes.data_as(POINTER(c_float))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b_a = np.linspace(1, 2*N-1, N, dtype=np.float32)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 = b_a.ctypes.data_as(POINTER(c_float))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a_d = c_void_p(0)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cuMemAlloc(byref(a_d), c_size_t(N*sizeof(c_float)))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b_d = c_void_p(0)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cuMemAlloc(byref(b_d), c_size_t(N*sizeof(c_float)))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cuMemcpyHtoD(a_d, a, c_size_t(N*sizeof(c_float)))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cuMemcpyHtoD(b_d, b, c_size_t(N*sizeof(c_float)))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196250" y="160575"/>
            <a:ext cx="8751600" cy="4888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 = c_void_p()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cuModuleLoad(byref(cuModule), c_char_p(b'</a:t>
            </a:r>
            <a:r>
              <a:rPr b="1" lang="en" sz="1800">
                <a:solidFill>
                  <a:schemeClr val="dk1"/>
                </a:solidFill>
              </a:rPr>
              <a:t>./cda.ptx</a:t>
            </a:r>
            <a:r>
              <a:rPr lang="en" sz="1800">
                <a:solidFill>
                  <a:schemeClr val="dk1"/>
                </a:solidFill>
              </a:rPr>
              <a:t>'))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gStub_kern = c_void_p(0)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cuModuleGetFunction(byref(gStub_kern), cuModule, c_char_p(b'gStub'))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gStub_args=[c_void_p(addressof(a_d)), c_void_p(addressof(b_d))]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gStub_params = (c_void_p * len(gStub_args))(*gStub_args)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cuLaunchKernel</a:t>
            </a:r>
            <a:r>
              <a:rPr lang="en" sz="1800">
                <a:solidFill>
                  <a:schemeClr val="dk1"/>
                </a:solidFill>
              </a:rPr>
              <a:t>(gStub_kern, int(N/128), 1, 1, 128, 1, 1, 0, 0, gStub_params, 0)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cuCtxSynchronize()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cuMemcpyDtoH( a, a_d,  c_size_t(N*sizeof(c_float)))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print(a_a)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cuMemFree(a_d)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cuMemFree(b_d)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cuCtxDestroy(cuContext)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80675" y="72625"/>
            <a:ext cx="8935500" cy="3439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/Лаб9&gt;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python cda.py</a:t>
            </a:r>
            <a:endParaRPr b="1"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513.0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1025.0</a:t>
            </a:r>
            <a:endParaRPr sz="1800">
              <a:solidFill>
                <a:schemeClr val="dk1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1537.0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2049.0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2561.0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……………………………………………………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3F3F3"/>
                </a:highlight>
              </a:rPr>
              <a:t>6657.0</a:t>
            </a:r>
            <a:endParaRPr sz="1800">
              <a:solidFill>
                <a:schemeClr val="dk1"/>
              </a:solidFill>
              <a:highlight>
                <a:srgbClr val="F3F3F3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7169.0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7681.0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80300" y="1187600"/>
            <a:ext cx="8947800" cy="3890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numpy as np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pycuda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from pycuda import gpuarray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pycuda.autoinit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N=2048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cuModule = pycuda.driver.module_from_file('./cda.ptx')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gStub_kern = cuModule.get_function('gStub')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a_d = gpuarray.to_gpu(np.linspace(0, 2*N-2, N, dtype=np.float32))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b_d = gpuarray.to_gpu(np.linspace(1, 2*N-1, N, dtype=np.float32))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gStub_kern(a_d, b_d, grid=(int(N/128),1,1), block=(128,1,1))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print(a_d.get())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37"/>
          <p:cNvSpPr txBox="1"/>
          <p:nvPr/>
        </p:nvSpPr>
        <p:spPr>
          <a:xfrm>
            <a:off x="6519250" y="1474050"/>
            <a:ext cx="1848600" cy="55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cda_pc.py</a:t>
            </a:r>
            <a:endParaRPr b="1" i="1" sz="2000"/>
          </a:p>
        </p:txBody>
      </p:sp>
      <p:sp>
        <p:nvSpPr>
          <p:cNvPr id="190" name="Google Shape;190;p37"/>
          <p:cNvSpPr txBox="1"/>
          <p:nvPr/>
        </p:nvSpPr>
        <p:spPr>
          <a:xfrm>
            <a:off x="84300" y="722550"/>
            <a:ext cx="8947800" cy="433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~/Lab9&gt; </a:t>
            </a:r>
            <a:r>
              <a:rPr b="1" lang="en" sz="1800">
                <a:solidFill>
                  <a:schemeClr val="dk1"/>
                </a:solidFill>
                <a:highlight>
                  <a:srgbClr val="EFEFEF"/>
                </a:highlight>
              </a:rPr>
              <a:t>pip install pycuda</a:t>
            </a:r>
            <a:endParaRPr b="1"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" name="Google Shape;191;p37"/>
          <p:cNvSpPr txBox="1"/>
          <p:nvPr/>
        </p:nvSpPr>
        <p:spPr>
          <a:xfrm>
            <a:off x="80400" y="92775"/>
            <a:ext cx="8947800" cy="55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https://pypi.org/project/pycuda/</a:t>
            </a:r>
            <a:endParaRPr b="1" i="1" sz="18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