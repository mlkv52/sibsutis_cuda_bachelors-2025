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0500526a99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2" name="Google Shape;62;g20500526a99_0_16:notes"/>
          <p:cNvSpPr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20500526a99_0_16:notes"/>
          <p:cNvSpPr txBox="1"/>
          <p:nvPr>
            <p:ph idx="1" type="body"/>
          </p:nvPr>
        </p:nvSpPr>
        <p:spPr>
          <a:xfrm>
            <a:off x="685800" y="4343400"/>
            <a:ext cx="54831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123eab145a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123eab145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123eab145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123eab145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123eab145a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123eab145a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0fe246f1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0fe246f1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0fe246f10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0fe246f10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123eab145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123eab145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0fe246f10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0fe246f10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123eab145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123eab145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123eab145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123eab145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123eab145a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123eab145a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123eab145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123eab145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123eab145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123eab145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683919"/>
            <a:ext cx="2892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C0C3A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C3A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63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6300" cy="3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683919"/>
            <a:ext cx="2892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435425" y="119269"/>
            <a:ext cx="8397000" cy="738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Лекция 6</a:t>
            </a:r>
            <a:endParaRPr b="1" sz="3600"/>
          </a:p>
        </p:txBody>
      </p:sp>
      <p:sp>
        <p:nvSpPr>
          <p:cNvPr id="66" name="Google Shape;66;p15"/>
          <p:cNvSpPr txBox="1"/>
          <p:nvPr/>
        </p:nvSpPr>
        <p:spPr>
          <a:xfrm>
            <a:off x="323700" y="1498850"/>
            <a:ext cx="8715600" cy="1566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Char char="●"/>
            </a:pPr>
            <a:r>
              <a:rPr lang="en" sz="2800"/>
              <a:t>Совместный доступ к глобальной памяти (</a:t>
            </a:r>
            <a:r>
              <a:rPr i="1" lang="en" sz="2800"/>
              <a:t>coalescing</a:t>
            </a:r>
            <a:r>
              <a:rPr lang="en" sz="2800"/>
              <a:t>).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Char char="●"/>
            </a:pPr>
            <a:r>
              <a:rPr lang="en" sz="2800"/>
              <a:t>Разделяемая память (</a:t>
            </a:r>
            <a:r>
              <a:rPr i="1" lang="en" sz="2800"/>
              <a:t>shared memory</a:t>
            </a:r>
            <a:r>
              <a:rPr lang="en" sz="2800"/>
              <a:t>).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676400"/>
            <a:ext cx="8127016" cy="312719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05700" y="172350"/>
            <a:ext cx="89592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Запросы на чтение и запись к глобальной памяти нитями одного варпа (a </a:t>
            </a:r>
            <a:r>
              <a:rPr b="1" i="1" lang="en" sz="2000"/>
              <a:t>warp</a:t>
            </a:r>
            <a:r>
              <a:rPr b="1" lang="en" sz="2000"/>
              <a:t>) объединяются в транзакции, количество которых равно количеству необходимых для выполнения запросов блоков данных (</a:t>
            </a:r>
            <a:r>
              <a:rPr b="1" i="1" lang="en" sz="2000"/>
              <a:t>cache lines</a:t>
            </a:r>
            <a:r>
              <a:rPr b="1" lang="en" sz="2000"/>
              <a:t>) L1 кэша размером в 128 байт.  COMPUTE CAPABILITIES 2.* !</a:t>
            </a:r>
            <a:endParaRPr b="1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224625" y="145925"/>
            <a:ext cx="8734500" cy="4186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__global__ void gTranspositionTest1(int* a, int* b, int N, int K){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int k=threadIdx.x+blockIdx.x*blockDim.x;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int n=threadIdx.y+blockIdx.y*blockDim.y;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highlight>
                  <a:srgbClr val="FFF2CC"/>
                </a:highlight>
              </a:rPr>
              <a:t> b[k+n*K]=a[n+k*N]</a:t>
            </a:r>
            <a:r>
              <a:rPr b="1" lang="en" sz="2000"/>
              <a:t>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__global__ void g</a:t>
            </a:r>
            <a:r>
              <a:rPr lang="en" sz="2000">
                <a:solidFill>
                  <a:schemeClr val="dk1"/>
                </a:solidFill>
              </a:rPr>
              <a:t>Transposition</a:t>
            </a:r>
            <a:r>
              <a:rPr lang="en" sz="2000"/>
              <a:t>Test2(int* a, int*b, int N, int K){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int k=threadIdx.x+blockIdx.x*blockDim.x;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int n=threadIdx.y+blockIdx.y*blockDim.y;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</a:t>
            </a:r>
            <a:r>
              <a:rPr b="1" lang="en" sz="2000">
                <a:highlight>
                  <a:srgbClr val="FFF2CC"/>
                </a:highlight>
              </a:rPr>
              <a:t>b[n+k*N]=a[k+n*K];</a:t>
            </a:r>
            <a:endParaRPr b="1" sz="2000"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}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/>
        </p:nvSpPr>
        <p:spPr>
          <a:xfrm>
            <a:off x="145350" y="2342525"/>
            <a:ext cx="88797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C0C3A1"/>
                </a:highlight>
              </a:rPr>
              <a:t>35.79%  5.1200us         1 </a:t>
            </a:r>
            <a:r>
              <a:rPr b="1" lang="en" sz="2000">
                <a:solidFill>
                  <a:schemeClr val="dk1"/>
                </a:solidFill>
                <a:highlight>
                  <a:srgbClr val="C0C3A1"/>
                </a:highlight>
              </a:rPr>
              <a:t> 5.1200us </a:t>
            </a:r>
            <a:r>
              <a:rPr lang="en" sz="2000">
                <a:solidFill>
                  <a:schemeClr val="dk1"/>
                </a:solidFill>
                <a:highlight>
                  <a:srgbClr val="C0C3A1"/>
                </a:highlight>
              </a:rPr>
              <a:t> 5.1200us  5.1200us </a:t>
            </a:r>
            <a:endParaRPr sz="20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457200" lvl="0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C0C3A1"/>
                </a:highlight>
              </a:rPr>
              <a:t> gTranspositionTest2(int*, int*, int, int)</a:t>
            </a:r>
            <a:endParaRPr sz="20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C0C3A1"/>
                </a:highlight>
              </a:rPr>
              <a:t>27.96%  4.0000us         1  </a:t>
            </a:r>
            <a:r>
              <a:rPr b="1" lang="en" sz="2000">
                <a:solidFill>
                  <a:schemeClr val="dk1"/>
                </a:solidFill>
                <a:highlight>
                  <a:srgbClr val="C0C3A1"/>
                </a:highlight>
              </a:rPr>
              <a:t>4.0000us </a:t>
            </a:r>
            <a:r>
              <a:rPr lang="en" sz="2000">
                <a:solidFill>
                  <a:schemeClr val="dk1"/>
                </a:solidFill>
                <a:highlight>
                  <a:srgbClr val="C0C3A1"/>
                </a:highlight>
              </a:rPr>
              <a:t> 4.0000us  4.0000us </a:t>
            </a:r>
            <a:endParaRPr sz="20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457200" lvl="0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C0C3A1"/>
                </a:highlight>
              </a:rPr>
              <a:t> gTranspositionTest1(int*, int*, int, int)</a:t>
            </a:r>
            <a:endParaRPr sz="20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C0C3A1"/>
                </a:highlight>
              </a:rPr>
              <a:t>16.11%  2.3040us         1  </a:t>
            </a:r>
            <a:r>
              <a:rPr b="1" lang="en" sz="2000">
                <a:solidFill>
                  <a:schemeClr val="dk1"/>
                </a:solidFill>
                <a:highlight>
                  <a:srgbClr val="C0C3A1"/>
                </a:highlight>
              </a:rPr>
              <a:t>2.3040us</a:t>
            </a:r>
            <a:r>
              <a:rPr lang="en" sz="2000">
                <a:solidFill>
                  <a:schemeClr val="dk1"/>
                </a:solidFill>
                <a:highlight>
                  <a:srgbClr val="C0C3A1"/>
                </a:highlight>
              </a:rPr>
              <a:t>  2.3040us  2.3040us  </a:t>
            </a:r>
            <a:endParaRPr sz="20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457200" lvl="0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C0C3A1"/>
                </a:highlight>
              </a:rPr>
              <a:t> gCopy(int*, int*, int, int)</a:t>
            </a:r>
            <a:endParaRPr sz="20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8"/>
          <p:cNvSpPr txBox="1"/>
          <p:nvPr/>
        </p:nvSpPr>
        <p:spPr>
          <a:xfrm>
            <a:off x="131100" y="143200"/>
            <a:ext cx="8854800" cy="20469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__global__ void gCopy(int* a, int*b, int N, int K){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int k=threadIdx.x+blockIdx.x*blockDim.x;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int n=threadIdx.y+blockIdx.y*blockDim.y;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</a:t>
            </a:r>
            <a:r>
              <a:rPr b="1" lang="en" sz="2000"/>
              <a:t>b[k+n*K]=a[k+n*K];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506972"/>
            <a:ext cx="6129406" cy="4608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7263" y="2385847"/>
            <a:ext cx="31337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6406" y="4157497"/>
            <a:ext cx="21621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 txBox="1"/>
          <p:nvPr/>
        </p:nvSpPr>
        <p:spPr>
          <a:xfrm>
            <a:off x="6342650" y="533097"/>
            <a:ext cx="2642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32 банка памяти</a:t>
            </a:r>
            <a:endParaRPr b="1" sz="1900"/>
          </a:p>
        </p:txBody>
      </p:sp>
      <p:sp>
        <p:nvSpPr>
          <p:cNvPr id="92" name="Google Shape;92;p19"/>
          <p:cNvSpPr txBox="1"/>
          <p:nvPr/>
        </p:nvSpPr>
        <p:spPr>
          <a:xfrm>
            <a:off x="6382300" y="1587997"/>
            <a:ext cx="27618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/>
              <a:t>Размер кэша L1:</a:t>
            </a:r>
            <a:r>
              <a:rPr lang="en" sz="1900"/>
              <a:t>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512 строки * 128 байт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=64 K</a:t>
            </a:r>
            <a:endParaRPr/>
          </a:p>
        </p:txBody>
      </p:sp>
      <p:sp>
        <p:nvSpPr>
          <p:cNvPr id="93" name="Google Shape;93;p19"/>
          <p:cNvSpPr txBox="1"/>
          <p:nvPr/>
        </p:nvSpPr>
        <p:spPr>
          <a:xfrm>
            <a:off x="6358950" y="982372"/>
            <a:ext cx="2761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1 строка </a:t>
            </a:r>
            <a:r>
              <a:rPr lang="en" sz="1900"/>
              <a:t>=32*4 байта = 128 байт</a:t>
            </a:r>
            <a:endParaRPr sz="1900"/>
          </a:p>
        </p:txBody>
      </p:sp>
      <p:sp>
        <p:nvSpPr>
          <p:cNvPr id="94" name="Google Shape;94;p19"/>
          <p:cNvSpPr txBox="1"/>
          <p:nvPr/>
        </p:nvSpPr>
        <p:spPr>
          <a:xfrm>
            <a:off x="6355875" y="3334447"/>
            <a:ext cx="27090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Регулируемое соотношение:</a:t>
            </a:r>
            <a:r>
              <a:rPr lang="en" sz="1900"/>
              <a:t> 16K/48K или 48K/16K</a:t>
            </a:r>
            <a:endParaRPr sz="1900"/>
          </a:p>
        </p:txBody>
      </p:sp>
      <p:sp>
        <p:nvSpPr>
          <p:cNvPr id="95" name="Google Shape;95;p19"/>
          <p:cNvSpPr txBox="1"/>
          <p:nvPr/>
        </p:nvSpPr>
        <p:spPr>
          <a:xfrm>
            <a:off x="990600" y="26428"/>
            <a:ext cx="7086600" cy="4641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/>
              <a:t>L1 кэш память</a:t>
            </a:r>
            <a:endParaRPr b="1" i="1"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/>
        </p:nvSpPr>
        <p:spPr>
          <a:xfrm>
            <a:off x="198200" y="317725"/>
            <a:ext cx="8760900" cy="492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cudaDeviceSetCacheConfig(cudaFuncCachePreferL1);</a:t>
            </a:r>
            <a:endParaRPr b="1" sz="2000"/>
          </a:p>
        </p:txBody>
      </p:sp>
      <p:sp>
        <p:nvSpPr>
          <p:cNvPr id="101" name="Google Shape;101;p20"/>
          <p:cNvSpPr txBox="1"/>
          <p:nvPr/>
        </p:nvSpPr>
        <p:spPr>
          <a:xfrm>
            <a:off x="224625" y="951975"/>
            <a:ext cx="8760900" cy="40944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__global__ void gTest(...){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  …...................................................................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  return;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}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int main(){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  cudaFuncSetCacheConfig(gTest, cudaFuncCachePreferL1);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  …............................................................................................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  gTest&lt;&lt;&lt;num_th, num_bl&gt;&gt;&gt;(...);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  return 0;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}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/>
        </p:nvSpPr>
        <p:spPr>
          <a:xfrm>
            <a:off x="138750" y="50264"/>
            <a:ext cx="886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Разделяемая память CUDA – память с низкой латентностью и высокой пропускной способностью.</a:t>
            </a:r>
            <a:endParaRPr b="1" sz="2000"/>
          </a:p>
        </p:txBody>
      </p:sp>
      <p:sp>
        <p:nvSpPr>
          <p:cNvPr id="107" name="Google Shape;107;p21"/>
          <p:cNvSpPr txBox="1"/>
          <p:nvPr/>
        </p:nvSpPr>
        <p:spPr>
          <a:xfrm>
            <a:off x="151528" y="761250"/>
            <a:ext cx="8734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Высокая пропускная способность обеспечивается параллельным выполнением запросов, благодаря разделению памяти на отдельные модули, банки памяти.</a:t>
            </a:r>
            <a:endParaRPr b="1" sz="2000"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631450"/>
            <a:ext cx="4693539" cy="239748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/>
          <p:nvPr/>
        </p:nvSpPr>
        <p:spPr>
          <a:xfrm rot="-5400000">
            <a:off x="2289325" y="68850"/>
            <a:ext cx="449400" cy="45918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 txBox="1"/>
          <p:nvPr/>
        </p:nvSpPr>
        <p:spPr>
          <a:xfrm>
            <a:off x="2735275" y="1876950"/>
            <a:ext cx="183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32 банка</a:t>
            </a:r>
            <a:endParaRPr b="1" sz="2000"/>
          </a:p>
        </p:txBody>
      </p:sp>
      <p:sp>
        <p:nvSpPr>
          <p:cNvPr id="111" name="Google Shape;111;p21"/>
          <p:cNvSpPr txBox="1"/>
          <p:nvPr/>
        </p:nvSpPr>
        <p:spPr>
          <a:xfrm>
            <a:off x="5298775" y="2652175"/>
            <a:ext cx="3765900" cy="2339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Если более одной нити варпа обращаются к одному и тому же банку, то  происходит конфликт, который разрешается сериализацией выполнения запроса.</a:t>
            </a:r>
            <a:endParaRPr b="1" i="1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145350" y="82950"/>
            <a:ext cx="8892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Разделяемая память выделяется (статически или динамически) только на устройстве. Область видимости – нити одного блока. Время жизни – время выполнения ядра.</a:t>
            </a:r>
            <a:endParaRPr b="1" sz="2000"/>
          </a:p>
        </p:txBody>
      </p:sp>
      <p:sp>
        <p:nvSpPr>
          <p:cNvPr id="117" name="Google Shape;117;p22"/>
          <p:cNvSpPr txBox="1"/>
          <p:nvPr/>
        </p:nvSpPr>
        <p:spPr>
          <a:xfrm>
            <a:off x="164739" y="2226250"/>
            <a:ext cx="8615400" cy="20319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#define N 3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#define M 512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__global__ void gTest1(){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__shared__ float s[N][M];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..........................................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}</a:t>
            </a:r>
            <a:endParaRPr/>
          </a:p>
        </p:txBody>
      </p:sp>
      <p:sp>
        <p:nvSpPr>
          <p:cNvPr id="118" name="Google Shape;118;p22"/>
          <p:cNvSpPr txBox="1"/>
          <p:nvPr/>
        </p:nvSpPr>
        <p:spPr>
          <a:xfrm>
            <a:off x="161650" y="1586250"/>
            <a:ext cx="8337900" cy="49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Статическое выделение разделяемой памяти</a:t>
            </a:r>
            <a:endParaRPr b="1" i="1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/>
        </p:nvSpPr>
        <p:spPr>
          <a:xfrm>
            <a:off x="277500" y="877975"/>
            <a:ext cx="8707800" cy="2339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__global__ void gTest2(){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  </a:t>
            </a:r>
            <a:r>
              <a:rPr b="1" lang="en" sz="2000">
                <a:solidFill>
                  <a:schemeClr val="dk1"/>
                </a:solidFill>
              </a:rPr>
              <a:t>extern __shared__ float s[];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float* a=(float*)s;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float* b=(float*)&amp;s[512];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float* c=(float*)&amp;s[1024];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...........................................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}</a:t>
            </a:r>
            <a:endParaRPr b="1" sz="2000"/>
          </a:p>
        </p:txBody>
      </p:sp>
      <p:sp>
        <p:nvSpPr>
          <p:cNvPr id="124" name="Google Shape;124;p23"/>
          <p:cNvSpPr txBox="1"/>
          <p:nvPr/>
        </p:nvSpPr>
        <p:spPr>
          <a:xfrm>
            <a:off x="317125" y="3409750"/>
            <a:ext cx="8707800" cy="492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gT</a:t>
            </a:r>
            <a:r>
              <a:rPr b="1" lang="en" sz="2000"/>
              <a:t>est2&lt;&lt;&lt;100,32,N*M*sizeof(float)&gt;&gt;&gt;();</a:t>
            </a:r>
            <a:endParaRPr b="1" sz="2000"/>
          </a:p>
        </p:txBody>
      </p:sp>
      <p:sp>
        <p:nvSpPr>
          <p:cNvPr id="125" name="Google Shape;125;p23"/>
          <p:cNvSpPr txBox="1"/>
          <p:nvPr/>
        </p:nvSpPr>
        <p:spPr>
          <a:xfrm>
            <a:off x="4869750" y="4186300"/>
            <a:ext cx="3250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3-й параметр – размер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разделяемой памяти.</a:t>
            </a:r>
            <a:endParaRPr b="1" sz="2000"/>
          </a:p>
        </p:txBody>
      </p:sp>
      <p:cxnSp>
        <p:nvCxnSpPr>
          <p:cNvPr id="126" name="Google Shape;126;p23"/>
          <p:cNvCxnSpPr>
            <a:stCxn id="125" idx="1"/>
          </p:cNvCxnSpPr>
          <p:nvPr/>
        </p:nvCxnSpPr>
        <p:spPr>
          <a:xfrm rot="10800000">
            <a:off x="3343050" y="3859000"/>
            <a:ext cx="1526700" cy="72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23"/>
          <p:cNvSpPr txBox="1"/>
          <p:nvPr/>
        </p:nvSpPr>
        <p:spPr>
          <a:xfrm>
            <a:off x="237850" y="214650"/>
            <a:ext cx="8337900" cy="492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Динамическое</a:t>
            </a:r>
            <a:r>
              <a:rPr b="1" i="1" lang="en" sz="2000"/>
              <a:t> выделение разделяемой памяти</a:t>
            </a:r>
            <a:endParaRPr b="1" i="1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/>
        </p:nvSpPr>
        <p:spPr>
          <a:xfrm>
            <a:off x="300825" y="204950"/>
            <a:ext cx="8694900" cy="48024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#define SH_DIM  32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__global__ void gTranspose(int* a, int* b){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highlight>
                  <a:srgbClr val="FFF2CC"/>
                </a:highlight>
              </a:rPr>
              <a:t>  __shared__ int cache[SH_DIM][SH_DIM];</a:t>
            </a:r>
            <a:endParaRPr b="1" sz="2000"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int k=threadIdx.x+blockIdx.x*blockDim.x;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int n=threadIdx.y+blockIdx.y*blockDim.y;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int N=blockDim.x*gridDim.x;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</a:t>
            </a:r>
            <a:r>
              <a:rPr b="1" lang="en" sz="2000">
                <a:highlight>
                  <a:srgbClr val="FFF2CC"/>
                </a:highlight>
              </a:rPr>
              <a:t>cache[threadIdx.y][threadIdx.x]=a[k+n*N];</a:t>
            </a:r>
            <a:endParaRPr b="1" sz="2000"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__syncthreads();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k=threadIdx.x+blockIdx.y*blockDim.x;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n=threadIdx.y+blockIdx.x*blockDim.y;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</a:t>
            </a:r>
            <a:r>
              <a:rPr b="1" lang="en" sz="2000">
                <a:highlight>
                  <a:srgbClr val="FFF2CC"/>
                </a:highlight>
              </a:rPr>
              <a:t>b[k+n*N]=cache[threadIdx.x][threadIdx.y];</a:t>
            </a:r>
            <a:endParaRPr b="1" sz="2000"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}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295400"/>
            <a:ext cx="6399276" cy="356333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5"/>
          <p:cNvSpPr txBox="1"/>
          <p:nvPr/>
        </p:nvSpPr>
        <p:spPr>
          <a:xfrm>
            <a:off x="0" y="172350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Размещение массива cache  в разделяемой  памяти (shared memory):</a:t>
            </a:r>
            <a:endParaRPr b="1" i="1" sz="2000"/>
          </a:p>
        </p:txBody>
      </p:sp>
      <p:sp>
        <p:nvSpPr>
          <p:cNvPr id="139" name="Google Shape;139;p25"/>
          <p:cNvSpPr txBox="1"/>
          <p:nvPr/>
        </p:nvSpPr>
        <p:spPr>
          <a:xfrm>
            <a:off x="105650" y="733875"/>
            <a:ext cx="878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__shared__  float buffer[SH_DIM][SH_DIM+1];</a:t>
            </a:r>
            <a:endParaRPr b="1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/>
        </p:nvSpPr>
        <p:spPr>
          <a:xfrm>
            <a:off x="92500" y="119500"/>
            <a:ext cx="8919300" cy="1416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__global__ void gTransposeWC(int* a, int* b){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   </a:t>
            </a:r>
            <a:r>
              <a:rPr b="1" lang="en" sz="2000">
                <a:highlight>
                  <a:srgbClr val="FFF2CC"/>
                </a:highlight>
              </a:rPr>
              <a:t>__shared__ int cache[SH_DIM][SH_DIM+1];</a:t>
            </a:r>
            <a:endParaRPr b="1" sz="2000"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……………………………………………………………..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}</a:t>
            </a:r>
            <a:endParaRPr b="1" sz="2000"/>
          </a:p>
        </p:txBody>
      </p:sp>
      <p:sp>
        <p:nvSpPr>
          <p:cNvPr id="145" name="Google Shape;145;p26"/>
          <p:cNvSpPr txBox="1"/>
          <p:nvPr/>
        </p:nvSpPr>
        <p:spPr>
          <a:xfrm>
            <a:off x="95575" y="1916600"/>
            <a:ext cx="884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highlight>
                  <a:srgbClr val="C0C3A1"/>
                </a:highlight>
              </a:rPr>
              <a:t>Lab5&gt; nvprof ./lab5d1g 128 128</a:t>
            </a:r>
            <a:endParaRPr/>
          </a:p>
        </p:txBody>
      </p:sp>
      <p:sp>
        <p:nvSpPr>
          <p:cNvPr id="146" name="Google Shape;146;p26"/>
          <p:cNvSpPr txBox="1"/>
          <p:nvPr/>
        </p:nvSpPr>
        <p:spPr>
          <a:xfrm>
            <a:off x="0" y="2524425"/>
            <a:ext cx="9144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C0C3A1"/>
                </a:highlight>
              </a:rPr>
              <a:t>……………………………………………………………………………………………</a:t>
            </a:r>
            <a:endParaRPr sz="20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C0C3A1"/>
                </a:highlight>
              </a:rPr>
              <a:t>20.15%  4.2880us   1  4.2880us  4.2880us  4.2880us  gTranspose(int*, int*)</a:t>
            </a:r>
            <a:endParaRPr sz="20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C0C3A1"/>
                </a:highlight>
              </a:rPr>
              <a:t>12.48%  2.6560us   1  2.6560us  2.6560us  2.6560us  gTransposeWC(int*, int*)</a:t>
            </a:r>
            <a:endParaRPr sz="20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C0C3A1"/>
                </a:highlight>
              </a:rPr>
              <a:t>……………………………………………………………………………………………</a:t>
            </a:r>
            <a:endParaRPr sz="2000">
              <a:solidFill>
                <a:schemeClr val="dk1"/>
              </a:solidFill>
              <a:highlight>
                <a:srgbClr val="C0C3A1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/>
        </p:nvSpPr>
        <p:spPr>
          <a:xfrm>
            <a:off x="158575" y="3675"/>
            <a:ext cx="8906100" cy="51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C0C3A1"/>
                </a:highlight>
              </a:rPr>
              <a:t>0           16        32        48        64        80        96       112</a:t>
            </a:r>
            <a:endParaRPr b="1" sz="19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C0C3A1"/>
                </a:highlight>
              </a:rPr>
              <a:t>2048    2064    2080    2096    2112    2128    2144    2160</a:t>
            </a:r>
            <a:endParaRPr b="1" sz="19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C0C3A1"/>
                </a:highlight>
              </a:rPr>
              <a:t>4096    4112    4128    4144    4160    4176    4192    4208</a:t>
            </a:r>
            <a:endParaRPr b="1" sz="19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C0C3A1"/>
                </a:highlight>
              </a:rPr>
              <a:t>6144    6160    6176    6192    6208    6224    6240    6256</a:t>
            </a:r>
            <a:endParaRPr b="1" sz="19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C0C3A1"/>
                </a:highlight>
              </a:rPr>
              <a:t>8192    8208    8224    8240    8256    8272    8288    8304</a:t>
            </a:r>
            <a:endParaRPr b="1" sz="19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C0C3A1"/>
                </a:highlight>
              </a:rPr>
              <a:t>10240   10256   10272   10288   10304   10320   10336   10352</a:t>
            </a:r>
            <a:endParaRPr b="1" sz="19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C0C3A1"/>
                </a:highlight>
              </a:rPr>
              <a:t>12288   12304   12320   12336   12352   12368   12384   12400</a:t>
            </a:r>
            <a:endParaRPr b="1" sz="19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C0C3A1"/>
                </a:highlight>
              </a:rPr>
              <a:t>14336   14352   14368   14384   14400   14416   14432   14448</a:t>
            </a:r>
            <a:endParaRPr b="1" sz="19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C0C3A1"/>
                </a:highlight>
              </a:rPr>
              <a:t>______________________________________b_______________________</a:t>
            </a:r>
            <a:endParaRPr b="1" sz="19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C0C3A1"/>
                </a:highlight>
              </a:rPr>
              <a:t>0       2048    4096    6144    8192    10240   12288   14336</a:t>
            </a:r>
            <a:endParaRPr b="1" sz="19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C0C3A1"/>
                </a:highlight>
              </a:rPr>
              <a:t>16      2064    4112    6160    8208    10256   12304   14352</a:t>
            </a:r>
            <a:endParaRPr b="1" sz="19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C0C3A1"/>
                </a:highlight>
              </a:rPr>
              <a:t>32      2080    4128    6176    8224    10272   12320   14368</a:t>
            </a:r>
            <a:endParaRPr b="1" sz="19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C0C3A1"/>
                </a:highlight>
              </a:rPr>
              <a:t>48      2096    4144    6192    8240    10288   12336   14384</a:t>
            </a:r>
            <a:endParaRPr b="1" sz="19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C0C3A1"/>
                </a:highlight>
              </a:rPr>
              <a:t>64      2112    4160    6208    8256    10304   12352   14400</a:t>
            </a:r>
            <a:endParaRPr b="1" sz="19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C0C3A1"/>
                </a:highlight>
              </a:rPr>
              <a:t>80      2128    4176    6224    8272    10320   12368   14416</a:t>
            </a:r>
            <a:endParaRPr b="1" sz="19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C0C3A1"/>
                </a:highlight>
              </a:rPr>
              <a:t>96      2144    4192    6240    8288    10336   12384   14432</a:t>
            </a:r>
            <a:endParaRPr b="1" sz="19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C0C3A1"/>
                </a:highlight>
              </a:rPr>
              <a:t>112     2160    4208    6256    8304    10352   12400   14448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