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-bold.fntdata"/><Relationship Id="rId14" Type="http://schemas.openxmlformats.org/officeDocument/2006/relationships/slide" Target="slides/slide8.xml"/><Relationship Id="rId36" Type="http://schemas.openxmlformats.org/officeDocument/2006/relationships/font" Target="fonts/Robot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0500526a99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" name="Google Shape;66;g20500526a99_0_16:notes"/>
          <p:cNvSpPr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20500526a99_0_16:notes"/>
          <p:cNvSpPr txBox="1"/>
          <p:nvPr>
            <p:ph idx="1" type="body"/>
          </p:nvPr>
        </p:nvSpPr>
        <p:spPr>
          <a:xfrm>
            <a:off x="685800" y="4343400"/>
            <a:ext cx="54831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b236e5d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b236e5d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b236e5d9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b236e5d9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08dfe796d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08dfe796d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cce12ebe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cce12ebe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cce12ebe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4cce12ebe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cce12ebe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cce12ebe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cce12ebe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cce12ebe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cce12ebe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cce12ebe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08dfe796d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08dfe796d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41e34832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41e34832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08dfe796d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408dfe796d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4784b9b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4784b9b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4784b9bc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4784b9bc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43e92e45f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43e92e45f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3e92e45f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43e92e45f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3e92e45f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43e92e45f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3e92e45f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3e92e45f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3e92e45f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43e92e45f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43e92e45f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43e92e45f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43e92e45f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43e92e45f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43e92e45f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43e92e45f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3e92e45f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43e92e45f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43e92e45f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43e92e45f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43e92e45f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43e92e45f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43e92e45f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43e92e45f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43e92e45f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43e92e45f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47a2ca035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47a2ca035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43e92e45f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43e92e45f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6800" lIns="90000" spcFirstLastPara="1" rIns="90000" wrap="square" tIns="468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rtl="0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0C3A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C3A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63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6300" cy="3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9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1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tensorflow.org/datasets/keras_example" TargetMode="External"/><Relationship Id="rId4" Type="http://schemas.openxmlformats.org/officeDocument/2006/relationships/hyperlink" Target="http://yann.lecun.com/exdb/mnist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435425" y="119269"/>
            <a:ext cx="8397000" cy="738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Лекция 16</a:t>
            </a:r>
            <a:endParaRPr b="1" sz="3600"/>
          </a:p>
        </p:txBody>
      </p:sp>
      <p:sp>
        <p:nvSpPr>
          <p:cNvPr id="70" name="Google Shape;70;p16"/>
          <p:cNvSpPr txBox="1"/>
          <p:nvPr/>
        </p:nvSpPr>
        <p:spPr>
          <a:xfrm>
            <a:off x="181900" y="1270250"/>
            <a:ext cx="8857500" cy="304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Использование GPU при </a:t>
            </a:r>
            <a:r>
              <a:rPr b="1" i="1" lang="en" sz="2600"/>
              <a:t>глубоком обучении</a:t>
            </a:r>
            <a:r>
              <a:rPr lang="en" sz="2600"/>
              <a:t>.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3937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b="1" lang="en" sz="2600">
                <a:solidFill>
                  <a:schemeClr val="dk1"/>
                </a:solidFill>
              </a:rPr>
              <a:t>Библиотеки </a:t>
            </a:r>
            <a:r>
              <a:rPr b="1" i="1" lang="en" sz="2600">
                <a:solidFill>
                  <a:schemeClr val="dk1"/>
                </a:solidFill>
              </a:rPr>
              <a:t>tensorflow</a:t>
            </a:r>
            <a:r>
              <a:rPr b="1" lang="en" sz="2600">
                <a:solidFill>
                  <a:schemeClr val="dk1"/>
                </a:solidFill>
              </a:rPr>
              <a:t> и </a:t>
            </a:r>
            <a:r>
              <a:rPr b="1" i="1" lang="en" sz="2600">
                <a:solidFill>
                  <a:schemeClr val="dk1"/>
                </a:solidFill>
              </a:rPr>
              <a:t>keras.</a:t>
            </a:r>
            <a:endParaRPr b="1" i="1"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990600" y="26428"/>
            <a:ext cx="7086600" cy="433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200"/>
              <a:t>Тензоры в математике и физике</a:t>
            </a:r>
            <a:endParaRPr b="1" sz="1700"/>
          </a:p>
        </p:txBody>
      </p:sp>
      <p:sp>
        <p:nvSpPr>
          <p:cNvPr id="76" name="Google Shape;76;p17"/>
          <p:cNvSpPr txBox="1"/>
          <p:nvPr/>
        </p:nvSpPr>
        <p:spPr>
          <a:xfrm>
            <a:off x="39225" y="613875"/>
            <a:ext cx="5558100" cy="4370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Тензор</a:t>
            </a:r>
            <a:r>
              <a:rPr lang="en" sz="1800"/>
              <a:t> - геометрический объект, представляемый в  определённой системе координат индексированным набором чисел, меняющих свои значения по определённым правилам при преобразовании системы координат.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Ранг тензора</a:t>
            </a:r>
            <a:r>
              <a:rPr lang="en" sz="1800"/>
              <a:t> - количество индексов.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Каждый индекс пробегает значения от 1 до 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 одинаково (!) для всех индексов и называется </a:t>
            </a:r>
            <a:r>
              <a:rPr b="1" lang="en" sz="1800"/>
              <a:t>размерностью</a:t>
            </a:r>
            <a:r>
              <a:rPr lang="en" sz="1800"/>
              <a:t> тензора. 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Правила преобразования тензора различны для двух типов индексов - </a:t>
            </a:r>
            <a:r>
              <a:rPr b="1" lang="en" sz="1800"/>
              <a:t>ковариантных </a:t>
            </a:r>
            <a:r>
              <a:rPr lang="en" sz="1800"/>
              <a:t>и </a:t>
            </a:r>
            <a:r>
              <a:rPr b="1" lang="en" sz="1800"/>
              <a:t>контравариантных</a:t>
            </a:r>
            <a:r>
              <a:rPr lang="en" sz="1800"/>
              <a:t>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Валентность</a:t>
            </a:r>
            <a:r>
              <a:rPr lang="en" sz="1800"/>
              <a:t> определяет количество</a:t>
            </a:r>
            <a:r>
              <a:rPr lang="en" sz="1800">
                <a:solidFill>
                  <a:schemeClr val="dk1"/>
                </a:solidFill>
              </a:rPr>
              <a:t> ковариантных и контрвариантных</a:t>
            </a:r>
            <a:r>
              <a:rPr lang="en" sz="1800"/>
              <a:t>  индексов.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4794" y="1373596"/>
            <a:ext cx="2867827" cy="114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3395" y="2939275"/>
            <a:ext cx="2400527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5152" y="3976200"/>
            <a:ext cx="1478925" cy="10137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5707125" y="613875"/>
            <a:ext cx="3437100" cy="383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Матричное представление тензоров</a:t>
            </a:r>
            <a:endParaRPr b="1"/>
          </a:p>
        </p:txBody>
      </p:sp>
      <p:sp>
        <p:nvSpPr>
          <p:cNvPr id="81" name="Google Shape;81;p17"/>
          <p:cNvSpPr txBox="1"/>
          <p:nvPr/>
        </p:nvSpPr>
        <p:spPr>
          <a:xfrm>
            <a:off x="5597325" y="1105800"/>
            <a:ext cx="35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2-х валентный ковариантный тензор:</a:t>
            </a:r>
            <a:endParaRPr i="1"/>
          </a:p>
        </p:txBody>
      </p:sp>
      <p:sp>
        <p:nvSpPr>
          <p:cNvPr id="82" name="Google Shape;82;p17"/>
          <p:cNvSpPr txBox="1"/>
          <p:nvPr/>
        </p:nvSpPr>
        <p:spPr>
          <a:xfrm>
            <a:off x="5597325" y="2629800"/>
            <a:ext cx="35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1</a:t>
            </a:r>
            <a:r>
              <a:rPr i="1" lang="en"/>
              <a:t>-валентный ковариантный тензор:</a:t>
            </a:r>
            <a:endParaRPr i="1"/>
          </a:p>
        </p:txBody>
      </p:sp>
      <p:sp>
        <p:nvSpPr>
          <p:cNvPr id="83" name="Google Shape;83;p17"/>
          <p:cNvSpPr txBox="1"/>
          <p:nvPr/>
        </p:nvSpPr>
        <p:spPr>
          <a:xfrm>
            <a:off x="5597325" y="3544200"/>
            <a:ext cx="35466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1-валентный </a:t>
            </a:r>
            <a:r>
              <a:rPr i="1" lang="en"/>
              <a:t>контравариантный</a:t>
            </a:r>
            <a:r>
              <a:rPr i="1" lang="en"/>
              <a:t> тензор:</a:t>
            </a:r>
            <a:endParaRPr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690350" y="2718350"/>
            <a:ext cx="3686700" cy="15918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Свёртка</a:t>
            </a:r>
            <a:endParaRPr b="1" sz="1600"/>
          </a:p>
        </p:txBody>
      </p:sp>
      <p:grpSp>
        <p:nvGrpSpPr>
          <p:cNvPr id="89" name="Google Shape;89;p18"/>
          <p:cNvGrpSpPr/>
          <p:nvPr/>
        </p:nvGrpSpPr>
        <p:grpSpPr>
          <a:xfrm>
            <a:off x="4808450" y="260800"/>
            <a:ext cx="2229000" cy="1964400"/>
            <a:chOff x="3197025" y="1877875"/>
            <a:chExt cx="2229000" cy="1964400"/>
          </a:xfrm>
        </p:grpSpPr>
        <p:sp>
          <p:nvSpPr>
            <p:cNvPr id="90" name="Google Shape;90;p18"/>
            <p:cNvSpPr/>
            <p:nvPr/>
          </p:nvSpPr>
          <p:spPr>
            <a:xfrm>
              <a:off x="3197025" y="1877875"/>
              <a:ext cx="2229000" cy="19644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/>
                <a:t>Умножение</a:t>
              </a:r>
              <a:endParaRPr b="1" sz="1600"/>
            </a:p>
          </p:txBody>
        </p:sp>
        <p:pic>
          <p:nvPicPr>
            <p:cNvPr id="91" name="Google Shape;91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18400" y="2383434"/>
              <a:ext cx="1986250" cy="129947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" name="Google Shape;92;p18"/>
          <p:cNvGrpSpPr/>
          <p:nvPr/>
        </p:nvGrpSpPr>
        <p:grpSpPr>
          <a:xfrm>
            <a:off x="81804" y="73775"/>
            <a:ext cx="1936500" cy="1120500"/>
            <a:chOff x="4286250" y="2472925"/>
            <a:chExt cx="1936500" cy="1120500"/>
          </a:xfrm>
        </p:grpSpPr>
        <p:sp>
          <p:nvSpPr>
            <p:cNvPr id="93" name="Google Shape;93;p18"/>
            <p:cNvSpPr/>
            <p:nvPr/>
          </p:nvSpPr>
          <p:spPr>
            <a:xfrm>
              <a:off x="4286250" y="2472925"/>
              <a:ext cx="1936500" cy="1120500"/>
            </a:xfrm>
            <a:prstGeom prst="rec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/>
                <a:t>Сложение</a:t>
              </a:r>
              <a:endParaRPr b="1" sz="1500"/>
            </a:p>
          </p:txBody>
        </p:sp>
        <p:pic>
          <p:nvPicPr>
            <p:cNvPr id="94" name="Google Shape;94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94610" y="2855000"/>
              <a:ext cx="1719782" cy="599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8"/>
          <p:cNvGrpSpPr/>
          <p:nvPr/>
        </p:nvGrpSpPr>
        <p:grpSpPr>
          <a:xfrm>
            <a:off x="65000" y="1281850"/>
            <a:ext cx="2561700" cy="1358100"/>
            <a:chOff x="5214100" y="738250"/>
            <a:chExt cx="2561700" cy="1358100"/>
          </a:xfrm>
        </p:grpSpPr>
        <p:sp>
          <p:nvSpPr>
            <p:cNvPr id="96" name="Google Shape;96;p18"/>
            <p:cNvSpPr/>
            <p:nvPr/>
          </p:nvSpPr>
          <p:spPr>
            <a:xfrm>
              <a:off x="5214100" y="738250"/>
              <a:ext cx="2561700" cy="13581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/>
                <a:t>Подстановка индексов</a:t>
              </a:r>
              <a:endParaRPr b="1" sz="1600"/>
            </a:p>
          </p:txBody>
        </p:sp>
        <p:pic>
          <p:nvPicPr>
            <p:cNvPr id="97" name="Google Shape;97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635050" y="1319639"/>
              <a:ext cx="1719800" cy="5297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8" name="Google Shape;9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1808" y="2228070"/>
            <a:ext cx="4198842" cy="13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5365" y="4324350"/>
            <a:ext cx="6513551" cy="51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43125" y="3112798"/>
            <a:ext cx="1986250" cy="1054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21478" y="3164194"/>
            <a:ext cx="848752" cy="46788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/>
          <p:nvPr/>
        </p:nvSpPr>
        <p:spPr>
          <a:xfrm>
            <a:off x="2822750" y="646350"/>
            <a:ext cx="1833300" cy="7866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Тензорные операции</a:t>
            </a:r>
            <a:endParaRPr b="1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/>
        </p:nvSpPr>
        <p:spPr>
          <a:xfrm>
            <a:off x="990600" y="26428"/>
            <a:ext cx="7086600" cy="433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200"/>
              <a:t>Тензоры в программировании</a:t>
            </a:r>
            <a:endParaRPr b="1" sz="1700"/>
          </a:p>
        </p:txBody>
      </p:sp>
      <p:grpSp>
        <p:nvGrpSpPr>
          <p:cNvPr id="108" name="Google Shape;108;p19"/>
          <p:cNvGrpSpPr/>
          <p:nvPr/>
        </p:nvGrpSpPr>
        <p:grpSpPr>
          <a:xfrm>
            <a:off x="3204936" y="1272797"/>
            <a:ext cx="5482239" cy="3799553"/>
            <a:chOff x="2753275" y="739188"/>
            <a:chExt cx="6238324" cy="4332937"/>
          </a:xfrm>
        </p:grpSpPr>
        <p:pic>
          <p:nvPicPr>
            <p:cNvPr id="109" name="Google Shape;109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53275" y="2892401"/>
              <a:ext cx="6238324" cy="2179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753275" y="739188"/>
              <a:ext cx="6238324" cy="20452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" name="Google Shape;111;p19"/>
          <p:cNvSpPr txBox="1"/>
          <p:nvPr/>
        </p:nvSpPr>
        <p:spPr>
          <a:xfrm>
            <a:off x="553075" y="694100"/>
            <a:ext cx="7438800" cy="4332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/>
              <a:t>Многомерные массивы</a:t>
            </a:r>
            <a:r>
              <a:rPr b="1" i="1" lang="en" sz="2400"/>
              <a:t> numpy </a:t>
            </a:r>
            <a:r>
              <a:rPr i="1" lang="en" sz="2400"/>
              <a:t>и </a:t>
            </a:r>
            <a:r>
              <a:rPr b="1" i="1" lang="en" sz="2400"/>
              <a:t>tensorflow</a:t>
            </a:r>
            <a:r>
              <a:rPr i="1" lang="en" sz="2400"/>
              <a:t>:</a:t>
            </a:r>
            <a:endParaRPr i="1" sz="2400"/>
          </a:p>
        </p:txBody>
      </p:sp>
      <p:sp>
        <p:nvSpPr>
          <p:cNvPr id="112" name="Google Shape;112;p19"/>
          <p:cNvSpPr txBox="1"/>
          <p:nvPr/>
        </p:nvSpPr>
        <p:spPr>
          <a:xfrm>
            <a:off x="179750" y="1744925"/>
            <a:ext cx="2530200" cy="1161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00"/>
              <a:t>Shape</a:t>
            </a:r>
            <a:r>
              <a:rPr lang="en" sz="2100"/>
              <a:t> (форма).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00"/>
              <a:t>Dimension</a:t>
            </a:r>
            <a:r>
              <a:rPr b="1" i="1" lang="en" sz="2100"/>
              <a:t>s</a:t>
            </a:r>
            <a:r>
              <a:rPr b="1" lang="en" sz="2100"/>
              <a:t> </a:t>
            </a:r>
            <a:r>
              <a:rPr lang="en" sz="2100"/>
              <a:t>(размерност</a:t>
            </a:r>
            <a:r>
              <a:rPr b="1" lang="en" sz="2100"/>
              <a:t>и</a:t>
            </a:r>
            <a:r>
              <a:rPr lang="en" sz="2100"/>
              <a:t>)</a:t>
            </a:r>
            <a:r>
              <a:rPr b="1" lang="en" sz="2100"/>
              <a:t>.</a:t>
            </a:r>
            <a:endParaRPr b="1"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934050" y="3963800"/>
            <a:ext cx="2196300" cy="7866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Массивы </a:t>
            </a:r>
            <a:r>
              <a:rPr b="1" lang="en" sz="2000">
                <a:solidFill>
                  <a:schemeClr val="dk1"/>
                </a:solidFill>
              </a:rPr>
              <a:t> </a:t>
            </a:r>
            <a:r>
              <a:rPr b="1" i="1" lang="en" sz="2000">
                <a:solidFill>
                  <a:schemeClr val="dk1"/>
                </a:solidFill>
              </a:rPr>
              <a:t>numpy</a:t>
            </a:r>
            <a:endParaRPr b="1" i="1" sz="1600"/>
          </a:p>
        </p:txBody>
      </p:sp>
      <p:sp>
        <p:nvSpPr>
          <p:cNvPr id="118" name="Google Shape;118;p20"/>
          <p:cNvSpPr txBox="1"/>
          <p:nvPr/>
        </p:nvSpPr>
        <p:spPr>
          <a:xfrm>
            <a:off x="158250" y="546925"/>
            <a:ext cx="4866900" cy="2958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import numpy as np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a = np.array( [11, 42, 14, 75,32] )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print(a)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a = np.array([  [ [11, 22], [54, 65] ],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                         [ [37, 71], [27, 29] ],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                  		[ [31, 73], [65, 48] ]  ])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print(a)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9" name="Google Shape;119;p20"/>
          <p:cNvSpPr txBox="1"/>
          <p:nvPr/>
        </p:nvSpPr>
        <p:spPr>
          <a:xfrm>
            <a:off x="5627425" y="1316300"/>
            <a:ext cx="3235500" cy="3069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[11 42 14 75 32]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[  [ [11 22]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     [54 65] ]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   [ [37 71]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     [27 29] ]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   [ [31 73]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     [65 48] ]  ]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/>
        </p:nvSpPr>
        <p:spPr>
          <a:xfrm>
            <a:off x="4931798" y="36575"/>
            <a:ext cx="4216500" cy="3539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tf.Tensor([11 42 14 75 32], 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               shape=(5,), dtype=int32)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tf.Tensor(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highlight>
                  <a:srgbClr val="EFEFEF"/>
                </a:highlight>
              </a:rPr>
              <a:t>[  [ [11 22]</a:t>
            </a:r>
            <a:endParaRPr sz="2100"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highlight>
                  <a:srgbClr val="EFEFEF"/>
                </a:highlight>
              </a:rPr>
              <a:t>     [54 65] ]</a:t>
            </a:r>
            <a:endParaRPr sz="2100"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highlight>
                  <a:srgbClr val="EFEFEF"/>
                </a:highlight>
              </a:rPr>
              <a:t>   [ [37 71]</a:t>
            </a:r>
            <a:endParaRPr sz="2100"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highlight>
                  <a:srgbClr val="EFEFEF"/>
                </a:highlight>
              </a:rPr>
              <a:t>     [27 29] ]</a:t>
            </a:r>
            <a:endParaRPr sz="2100"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highlight>
                  <a:srgbClr val="EFEFEF"/>
                </a:highlight>
              </a:rPr>
              <a:t>   [ [31 73]</a:t>
            </a:r>
            <a:endParaRPr sz="2100"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highlight>
                  <a:srgbClr val="EFEFEF"/>
                </a:highlight>
              </a:rPr>
              <a:t>     [65 48] ]</a:t>
            </a:r>
            <a:endParaRPr sz="2100"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], shape=(3, 2, 2), dtype=int32)</a:t>
            </a:r>
            <a:endParaRPr sz="1800"/>
          </a:p>
        </p:txBody>
      </p:sp>
      <p:sp>
        <p:nvSpPr>
          <p:cNvPr id="125" name="Google Shape;125;p21"/>
          <p:cNvSpPr txBox="1"/>
          <p:nvPr/>
        </p:nvSpPr>
        <p:spPr>
          <a:xfrm>
            <a:off x="-14450" y="43950"/>
            <a:ext cx="4894800" cy="2420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import tensorflow as tf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a = tf.constant( [11, 42, 14, 75,32] 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print(a)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a =  tf.constant( [  [ [11, 22], [54, 65] ],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                             [ [37, 71], [27, 29] ],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                  		    [ [31, 73], [65, 48] ]  ])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print(a)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6" name="Google Shape;126;p21"/>
          <p:cNvSpPr txBox="1"/>
          <p:nvPr/>
        </p:nvSpPr>
        <p:spPr>
          <a:xfrm>
            <a:off x="96775" y="2981025"/>
            <a:ext cx="2281500" cy="497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print(a.numpy())</a:t>
            </a:r>
            <a:endParaRPr b="1" sz="2100"/>
          </a:p>
        </p:txBody>
      </p:sp>
      <p:sp>
        <p:nvSpPr>
          <p:cNvPr id="127" name="Google Shape;127;p21"/>
          <p:cNvSpPr txBox="1"/>
          <p:nvPr/>
        </p:nvSpPr>
        <p:spPr>
          <a:xfrm>
            <a:off x="3000675" y="2568075"/>
            <a:ext cx="1723800" cy="2420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highlight>
                  <a:srgbClr val="B6D7A8"/>
                </a:highlight>
              </a:rPr>
              <a:t>[  [ [11 22]</a:t>
            </a:r>
            <a:endParaRPr sz="21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highlight>
                  <a:srgbClr val="B6D7A8"/>
                </a:highlight>
              </a:rPr>
              <a:t>     [54 65] ]</a:t>
            </a:r>
            <a:endParaRPr sz="21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highlight>
                  <a:srgbClr val="B6D7A8"/>
                </a:highlight>
              </a:rPr>
              <a:t>   [ [37 71]</a:t>
            </a:r>
            <a:endParaRPr sz="21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highlight>
                  <a:srgbClr val="B6D7A8"/>
                </a:highlight>
              </a:rPr>
              <a:t>     [27 29] ]</a:t>
            </a:r>
            <a:endParaRPr sz="21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highlight>
                  <a:srgbClr val="B6D7A8"/>
                </a:highlight>
              </a:rPr>
              <a:t>   [ [31 73]</a:t>
            </a:r>
            <a:endParaRPr sz="21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highlight>
                  <a:srgbClr val="B6D7A8"/>
                </a:highlight>
              </a:rPr>
              <a:t>     [65 48] ]</a:t>
            </a:r>
            <a:endParaRPr sz="21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]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/>
        </p:nvSpPr>
        <p:spPr>
          <a:xfrm>
            <a:off x="4114175" y="840350"/>
            <a:ext cx="4714800" cy="2143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tf.Tensor(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[  [ [37 71]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     [27 29] ]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   [ [31 73]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[65 48] ]  ],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shape=(2, 2, 2), dtype=int32)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133" name="Google Shape;133;p22"/>
          <p:cNvSpPr txBox="1"/>
          <p:nvPr/>
        </p:nvSpPr>
        <p:spPr>
          <a:xfrm>
            <a:off x="55300" y="999825"/>
            <a:ext cx="3401400" cy="954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b=a[1:3,0:2,0:2]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print(b)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4" name="Google Shape;134;p22"/>
          <p:cNvSpPr txBox="1"/>
          <p:nvPr/>
        </p:nvSpPr>
        <p:spPr>
          <a:xfrm>
            <a:off x="304175" y="2624900"/>
            <a:ext cx="3249300" cy="8160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b=a[1:3,0:2,0:2]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print(b[1,0,0:2])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5" name="Google Shape;135;p22"/>
          <p:cNvSpPr txBox="1"/>
          <p:nvPr/>
        </p:nvSpPr>
        <p:spPr>
          <a:xfrm>
            <a:off x="2014075" y="3862550"/>
            <a:ext cx="6088200" cy="5655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tf.Tensor([31 73], shape=(2,), dtype=int32)</a:t>
            </a:r>
            <a:endParaRPr b="1" sz="2100"/>
          </a:p>
        </p:txBody>
      </p:sp>
      <p:sp>
        <p:nvSpPr>
          <p:cNvPr id="136" name="Google Shape;136;p22"/>
          <p:cNvSpPr txBox="1"/>
          <p:nvPr/>
        </p:nvSpPr>
        <p:spPr>
          <a:xfrm>
            <a:off x="442750" y="43950"/>
            <a:ext cx="6042300" cy="525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Доступ к элементам тензора. Слайсы.</a:t>
            </a:r>
            <a:endParaRPr b="1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/>
        </p:nvSpPr>
        <p:spPr>
          <a:xfrm>
            <a:off x="83300" y="334925"/>
            <a:ext cx="4000500" cy="4479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a = tf.constant([ [1.0, 2],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                         [3, 4],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                         [5, 6] ])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d=a[0:3,0]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highlight>
                  <a:srgbClr val="FFCC00"/>
                </a:highlight>
              </a:rPr>
              <a:t>print(d)</a:t>
            </a:r>
            <a:endParaRPr sz="2100">
              <a:highlight>
                <a:srgbClr val="FFCC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dt=tf.reshape(d,(3,1))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highlight>
                  <a:srgbClr val="E6B8AF"/>
                </a:highlight>
              </a:rPr>
              <a:t>print(dt)</a:t>
            </a:r>
            <a:endParaRPr sz="2100">
              <a:highlight>
                <a:srgbClr val="E6B8A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e=tf.constant([[1],[2],[3.5]])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highlight>
                  <a:srgbClr val="B6D7A8"/>
                </a:highlight>
              </a:rPr>
              <a:t>print(e)</a:t>
            </a:r>
            <a:endParaRPr sz="2100"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2" name="Google Shape;142;p23"/>
          <p:cNvSpPr/>
          <p:nvPr/>
        </p:nvSpPr>
        <p:spPr>
          <a:xfrm>
            <a:off x="2608325" y="3784750"/>
            <a:ext cx="1975200" cy="786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“</a:t>
            </a:r>
            <a:r>
              <a:rPr b="1" lang="en" sz="2000">
                <a:solidFill>
                  <a:schemeClr val="dk1"/>
                </a:solidFill>
              </a:rPr>
              <a:t>Тензорные” операции</a:t>
            </a:r>
            <a:endParaRPr b="1" sz="1600"/>
          </a:p>
        </p:txBody>
      </p:sp>
      <p:sp>
        <p:nvSpPr>
          <p:cNvPr id="143" name="Google Shape;143;p23"/>
          <p:cNvSpPr txBox="1"/>
          <p:nvPr/>
        </p:nvSpPr>
        <p:spPr>
          <a:xfrm>
            <a:off x="4083800" y="388100"/>
            <a:ext cx="4904400" cy="323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FFCC00"/>
                </a:highlight>
              </a:rPr>
              <a:t>tf.Tensor([1. 3. 5.], shape=(3,), dtype=float32)</a:t>
            </a:r>
            <a:endParaRPr sz="1800">
              <a:highlight>
                <a:srgbClr val="FFCC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6B8A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E6B8AF"/>
                </a:highlight>
              </a:rPr>
              <a:t>tf.Tensor(</a:t>
            </a:r>
            <a:endParaRPr sz="1800">
              <a:highlight>
                <a:srgbClr val="E6B8A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E6B8AF"/>
                </a:highlight>
              </a:rPr>
              <a:t>[[1.]</a:t>
            </a:r>
            <a:endParaRPr sz="1800">
              <a:highlight>
                <a:srgbClr val="E6B8A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E6B8AF"/>
                </a:highlight>
              </a:rPr>
              <a:t> [3.]</a:t>
            </a:r>
            <a:endParaRPr sz="1800">
              <a:highlight>
                <a:srgbClr val="E6B8A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E6B8AF"/>
                </a:highlight>
              </a:rPr>
              <a:t> [5.]], shape=(3, 1), dtype=float32)</a:t>
            </a:r>
            <a:endParaRPr sz="1800">
              <a:highlight>
                <a:srgbClr val="E6B8A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B6D7A8"/>
                </a:highlight>
              </a:rPr>
              <a:t>tf.Tensor(</a:t>
            </a:r>
            <a:endParaRPr sz="1800"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B6D7A8"/>
                </a:highlight>
              </a:rPr>
              <a:t>[[1. ]</a:t>
            </a:r>
            <a:endParaRPr sz="1800"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B6D7A8"/>
                </a:highlight>
              </a:rPr>
              <a:t> [2. ]</a:t>
            </a:r>
            <a:endParaRPr sz="1800"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B6D7A8"/>
                </a:highlight>
              </a:rPr>
              <a:t> [3.5]], shape=(3, 1), dtype=float32)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/>
        </p:nvSpPr>
        <p:spPr>
          <a:xfrm>
            <a:off x="33672" y="178975"/>
            <a:ext cx="4182900" cy="3827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</a:rPr>
              <a:t>print(tf.transpose(dt)@e)</a:t>
            </a:r>
            <a:endParaRPr sz="18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2CC"/>
                </a:highlight>
              </a:rPr>
              <a:t>print(tf.matmul(dt,e,transpose_a=True))</a:t>
            </a:r>
            <a:endParaRPr sz="18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9DAF8"/>
                </a:highlight>
              </a:rPr>
              <a:t>print(tf.transpose(dt)*e)</a:t>
            </a:r>
            <a:endParaRPr sz="1800">
              <a:solidFill>
                <a:schemeClr val="dk1"/>
              </a:solidFill>
              <a:highlight>
                <a:srgbClr val="C9DAF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2E9"/>
                </a:highlight>
              </a:rPr>
              <a:t>print(dt*e)</a:t>
            </a:r>
            <a:endParaRPr sz="1800">
              <a:solidFill>
                <a:schemeClr val="dk1"/>
              </a:solidFill>
              <a:highlight>
                <a:srgbClr val="D9D2E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EAD3"/>
                </a:highlight>
              </a:rPr>
              <a:t>print(tf.multiply(dt, e))</a:t>
            </a:r>
            <a:endParaRPr sz="1800">
              <a:solidFill>
                <a:schemeClr val="dk1"/>
              </a:solidFill>
              <a:highlight>
                <a:srgbClr val="D9EAD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b = tf.constant([[2.0, 2],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            [10, 3],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            [4, 6]])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4CCCC"/>
                </a:highlight>
              </a:rPr>
              <a:t>print(tf.matmul(a,b,transpose_a=True))</a:t>
            </a:r>
            <a:endParaRPr sz="1800">
              <a:solidFill>
                <a:schemeClr val="dk1"/>
              </a:solidFill>
              <a:highlight>
                <a:srgbClr val="F4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9" name="Google Shape;149;p24"/>
          <p:cNvSpPr txBox="1"/>
          <p:nvPr/>
        </p:nvSpPr>
        <p:spPr>
          <a:xfrm>
            <a:off x="4266337" y="149750"/>
            <a:ext cx="4847400" cy="4877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</a:rPr>
              <a:t>tf.Tensor([[24.5]], shape=(1, 1), dtype=float32)</a:t>
            </a:r>
            <a:endParaRPr sz="18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2CC"/>
                </a:highlight>
              </a:rPr>
              <a:t>tf.Tensor([[24.5]], shape=(1, 1), dtype=float32)</a:t>
            </a:r>
            <a:endParaRPr sz="18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9DAF8"/>
                </a:highlight>
              </a:rPr>
              <a:t>tf.Tensor(</a:t>
            </a:r>
            <a:endParaRPr sz="1800">
              <a:solidFill>
                <a:schemeClr val="dk1"/>
              </a:solidFill>
              <a:highlight>
                <a:srgbClr val="C9DAF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9DAF8"/>
                </a:highlight>
              </a:rPr>
              <a:t>[[ 1.   3.   5. ]</a:t>
            </a:r>
            <a:endParaRPr sz="1800">
              <a:solidFill>
                <a:schemeClr val="dk1"/>
              </a:solidFill>
              <a:highlight>
                <a:srgbClr val="C9DAF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9DAF8"/>
                </a:highlight>
              </a:rPr>
              <a:t> [ 2.   6.  10. ]</a:t>
            </a:r>
            <a:endParaRPr sz="1800">
              <a:solidFill>
                <a:schemeClr val="dk1"/>
              </a:solidFill>
              <a:highlight>
                <a:srgbClr val="C9DAF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9DAF8"/>
                </a:highlight>
              </a:rPr>
              <a:t> [ 3.5 10.5 17.5]], shape=(3, 3), dtype=float32)</a:t>
            </a:r>
            <a:endParaRPr sz="1800">
              <a:solidFill>
                <a:schemeClr val="dk1"/>
              </a:solidFill>
              <a:highlight>
                <a:srgbClr val="C9DAF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2E9"/>
                </a:highlight>
              </a:rPr>
              <a:t>tf.Tensor(</a:t>
            </a:r>
            <a:endParaRPr sz="1800">
              <a:solidFill>
                <a:schemeClr val="dk1"/>
              </a:solidFill>
              <a:highlight>
                <a:srgbClr val="D9D2E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2E9"/>
                </a:highlight>
              </a:rPr>
              <a:t>[[ 1. ]</a:t>
            </a:r>
            <a:endParaRPr sz="1800">
              <a:solidFill>
                <a:schemeClr val="dk1"/>
              </a:solidFill>
              <a:highlight>
                <a:srgbClr val="D9D2E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2E9"/>
                </a:highlight>
              </a:rPr>
              <a:t> [ 6. ]</a:t>
            </a:r>
            <a:endParaRPr sz="1800">
              <a:solidFill>
                <a:schemeClr val="dk1"/>
              </a:solidFill>
              <a:highlight>
                <a:srgbClr val="D9D2E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2E9"/>
                </a:highlight>
              </a:rPr>
              <a:t> [17.5]], shape=(3, 1), dtype=float32)</a:t>
            </a:r>
            <a:endParaRPr sz="1800">
              <a:solidFill>
                <a:schemeClr val="dk1"/>
              </a:solidFill>
              <a:highlight>
                <a:srgbClr val="D9D2E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EAD3"/>
                </a:highlight>
              </a:rPr>
              <a:t>tf.Tensor(</a:t>
            </a:r>
            <a:endParaRPr sz="1800">
              <a:solidFill>
                <a:schemeClr val="dk1"/>
              </a:solidFill>
              <a:highlight>
                <a:srgbClr val="D9EAD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EAD3"/>
                </a:highlight>
              </a:rPr>
              <a:t>[[ 1. ]</a:t>
            </a:r>
            <a:endParaRPr sz="1800">
              <a:solidFill>
                <a:schemeClr val="dk1"/>
              </a:solidFill>
              <a:highlight>
                <a:srgbClr val="D9EAD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EAD3"/>
                </a:highlight>
              </a:rPr>
              <a:t> [ 6. ]</a:t>
            </a:r>
            <a:endParaRPr sz="1800">
              <a:solidFill>
                <a:schemeClr val="dk1"/>
              </a:solidFill>
              <a:highlight>
                <a:srgbClr val="D9EAD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EAD3"/>
                </a:highlight>
              </a:rPr>
              <a:t> [17.5]], shape=(3, 1), dtype=float32)</a:t>
            </a:r>
            <a:endParaRPr sz="1800">
              <a:solidFill>
                <a:schemeClr val="dk1"/>
              </a:solidFill>
              <a:highlight>
                <a:srgbClr val="D9EAD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4CCCC"/>
                </a:highlight>
              </a:rPr>
              <a:t>tf.Tensor(</a:t>
            </a:r>
            <a:endParaRPr sz="1800">
              <a:solidFill>
                <a:schemeClr val="dk1"/>
              </a:solidFill>
              <a:highlight>
                <a:srgbClr val="F4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4CCCC"/>
                </a:highlight>
              </a:rPr>
              <a:t>[[52. 41.]</a:t>
            </a:r>
            <a:endParaRPr sz="1800">
              <a:solidFill>
                <a:schemeClr val="dk1"/>
              </a:solidFill>
              <a:highlight>
                <a:srgbClr val="F4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4CCCC"/>
                </a:highlight>
              </a:rPr>
              <a:t> [68. 52.]], shape=(2, 2), dtype=float32)</a:t>
            </a:r>
            <a:endParaRPr sz="1800">
              <a:solidFill>
                <a:schemeClr val="dk1"/>
              </a:solidFill>
              <a:highlight>
                <a:srgbClr val="F4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/>
        </p:nvSpPr>
        <p:spPr>
          <a:xfrm>
            <a:off x="119075" y="878675"/>
            <a:ext cx="8953200" cy="36552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import tensorflow as tf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class Dense(tf.Module):  </a:t>
            </a:r>
            <a:r>
              <a:rPr lang="en" sz="2000">
                <a:highlight>
                  <a:srgbClr val="FFF2CC"/>
                </a:highlight>
              </a:rPr>
              <a:t>#</a:t>
            </a:r>
            <a:r>
              <a:rPr i="1" lang="en" sz="2000">
                <a:highlight>
                  <a:srgbClr val="FFF2CC"/>
                </a:highlight>
              </a:rPr>
              <a:t>наследует </a:t>
            </a:r>
            <a:r>
              <a:rPr i="1" lang="en" sz="2000">
                <a:solidFill>
                  <a:schemeClr val="dk1"/>
                </a:solidFill>
                <a:highlight>
                  <a:srgbClr val="FFF2CC"/>
                </a:highlight>
              </a:rPr>
              <a:t>tf.Module</a:t>
            </a:r>
            <a:endParaRPr i="1" sz="20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def  __init__(self, in_features, out_features, name=None): </a:t>
            </a:r>
            <a:r>
              <a:rPr lang="en" sz="2000">
                <a:highlight>
                  <a:srgbClr val="FFF2CC"/>
                </a:highlight>
              </a:rPr>
              <a:t>#</a:t>
            </a:r>
            <a:r>
              <a:rPr i="1" lang="en" sz="2000">
                <a:highlight>
                  <a:srgbClr val="FFF2CC"/>
                </a:highlight>
              </a:rPr>
              <a:t>конструктор</a:t>
            </a:r>
            <a:endParaRPr i="1" sz="20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super().__init__(name=name)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</a:t>
            </a:r>
            <a:r>
              <a:rPr b="1" lang="en" sz="2000"/>
              <a:t>self.w = tf.Variable</a:t>
            </a:r>
            <a:r>
              <a:rPr lang="en" sz="2000"/>
              <a:t>(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	tf.random.normal([in_features, out_features]), name='w')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</a:t>
            </a:r>
            <a:r>
              <a:rPr b="1" lang="en" sz="2000"/>
              <a:t>self.b = tf.Variable</a:t>
            </a:r>
            <a:r>
              <a:rPr lang="en" sz="2000"/>
              <a:t>(tf.zeros([out_features]), name='b')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def __call__(self, x):  </a:t>
            </a:r>
            <a:r>
              <a:rPr lang="en" sz="2000">
                <a:highlight>
                  <a:srgbClr val="FFF2CC"/>
                </a:highlight>
              </a:rPr>
              <a:t>#</a:t>
            </a:r>
            <a:r>
              <a:rPr i="1" lang="en" sz="2000">
                <a:highlight>
                  <a:srgbClr val="FFF2CC"/>
                </a:highlight>
              </a:rPr>
              <a:t>функтор</a:t>
            </a:r>
            <a:endParaRPr i="1" sz="20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y = tf.matmul(x, self.w) + self.b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return tf.nn.relu(y) </a:t>
            </a:r>
            <a:r>
              <a:rPr lang="en" sz="2000">
                <a:highlight>
                  <a:srgbClr val="FFF2CC"/>
                </a:highlight>
              </a:rPr>
              <a:t>#</a:t>
            </a:r>
            <a:r>
              <a:rPr i="1" lang="en" sz="2000">
                <a:highlight>
                  <a:srgbClr val="FFF2CC"/>
                </a:highlight>
              </a:rPr>
              <a:t>relu(y)=max(0,y)</a:t>
            </a:r>
            <a:endParaRPr i="1" sz="20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5" name="Google Shape;155;p25"/>
          <p:cNvSpPr txBox="1"/>
          <p:nvPr/>
        </p:nvSpPr>
        <p:spPr>
          <a:xfrm>
            <a:off x="6541150" y="1218950"/>
            <a:ext cx="1970400" cy="369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tf-s-models.py</a:t>
            </a:r>
            <a:endParaRPr b="1" i="1" sz="2000"/>
          </a:p>
        </p:txBody>
      </p:sp>
      <p:sp>
        <p:nvSpPr>
          <p:cNvPr id="156" name="Google Shape;156;p25"/>
          <p:cNvSpPr txBox="1"/>
          <p:nvPr/>
        </p:nvSpPr>
        <p:spPr>
          <a:xfrm>
            <a:off x="990600" y="178828"/>
            <a:ext cx="7086600" cy="433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200"/>
              <a:t>Modul(</a:t>
            </a:r>
            <a:r>
              <a:rPr b="1" i="1" lang="en" sz="2200"/>
              <a:t>tf.Module</a:t>
            </a:r>
            <a:r>
              <a:rPr b="1" lang="en" sz="2200"/>
              <a:t>) - контейнер для Variables</a:t>
            </a:r>
            <a:endParaRPr b="1"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/>
        </p:nvSpPr>
        <p:spPr>
          <a:xfrm>
            <a:off x="71850" y="292225"/>
            <a:ext cx="8938800" cy="4351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&gt;&gt;&gt; </a:t>
            </a:r>
            <a:r>
              <a:rPr b="1" lang="en" sz="1900">
                <a:solidFill>
                  <a:schemeClr val="dk1"/>
                </a:solidFill>
                <a:highlight>
                  <a:srgbClr val="D9D9D9"/>
                </a:highlight>
              </a:rPr>
              <a:t>d=Dense(in_features=3, out_features=2)</a:t>
            </a:r>
            <a:endParaRPr b="1"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&gt;&gt;&gt; </a:t>
            </a:r>
            <a:r>
              <a:rPr b="1" lang="en" sz="1900">
                <a:solidFill>
                  <a:schemeClr val="dk1"/>
                </a:solidFill>
                <a:highlight>
                  <a:srgbClr val="D9D9D9"/>
                </a:highlight>
              </a:rPr>
              <a:t>d.w</a:t>
            </a:r>
            <a:endParaRPr b="1"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&lt;tf.Variable 'w:0' shape=(3, 2) dtype=float32, numpy=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array([[ 0.7998288 ,  0.05016818],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      	    [ 0.9616611 , -1.6000011 ],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           [ 0.8098894 ,  0.69114935]], dtype=float32)&gt;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&gt;&gt;&gt; </a:t>
            </a:r>
            <a:r>
              <a:rPr b="1" lang="en" sz="1900">
                <a:solidFill>
                  <a:schemeClr val="dk1"/>
                </a:solidFill>
                <a:highlight>
                  <a:srgbClr val="D9D9D9"/>
                </a:highlight>
              </a:rPr>
              <a:t>d.b</a:t>
            </a:r>
            <a:endParaRPr b="1"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&lt;tf.Variable 'b:0' shape=(2,) dtype=float32, numpy=array([0., 0.], dtype=float32)&gt;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&gt;&gt;&gt; </a:t>
            </a:r>
            <a:r>
              <a:rPr b="1" lang="en" sz="1900">
                <a:solidFill>
                  <a:schemeClr val="dk1"/>
                </a:solidFill>
                <a:highlight>
                  <a:srgbClr val="D9D9D9"/>
                </a:highlight>
              </a:rPr>
              <a:t>d(tf.ones([1,3]))</a:t>
            </a:r>
            <a:endParaRPr b="1"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&lt;tf.Tensor: shape=(1, 2), dtype=float32, numpy=array([[2.5713792, 0.       ]], dtype=float32)&gt;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&gt;&gt;&gt; t</a:t>
            </a:r>
            <a:r>
              <a:rPr b="1" lang="en" sz="1900">
                <a:solidFill>
                  <a:schemeClr val="dk1"/>
                </a:solidFill>
                <a:highlight>
                  <a:srgbClr val="D9D9D9"/>
                </a:highlight>
              </a:rPr>
              <a:t>f.ones([1,3])@d.w</a:t>
            </a:r>
            <a:endParaRPr b="1"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&lt;tf.Tensor: shape=(1, 2), dtype=float32, numpy=array([[ 2.5713792, -0.8586836]], dtype=float32)&gt;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/>
        </p:nvSpPr>
        <p:spPr>
          <a:xfrm>
            <a:off x="226225" y="50000"/>
            <a:ext cx="8715300" cy="48339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class SequentialModule(tf.Module):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def __init__(self, name=None):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super().__init__(name=name)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self.dense_1 = Dense(in_features=3, out_features=3)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self.dense_2 = Dense(in_features=3, out_features=2)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def __call__(self, x):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x = self.dense_1(x)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return self.dense_2(x)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# </a:t>
            </a:r>
            <a:r>
              <a:rPr i="1" lang="en" sz="1800">
                <a:solidFill>
                  <a:schemeClr val="dk1"/>
                </a:solidFill>
              </a:rPr>
              <a:t>Создание модели</a:t>
            </a:r>
            <a:endParaRPr i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my_model = SequentialModule(name="the_model")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# Вызов со случайными параметрами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print("Model results:", my_model(tf.constant([[2.0, 2.0, 2.0]])))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/>
        </p:nvSpPr>
        <p:spPr>
          <a:xfrm>
            <a:off x="990600" y="178828"/>
            <a:ext cx="7086600" cy="433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200"/>
              <a:t>Этапы разработки</a:t>
            </a:r>
            <a:endParaRPr b="1" sz="1700"/>
          </a:p>
        </p:txBody>
      </p:sp>
      <p:sp>
        <p:nvSpPr>
          <p:cNvPr id="172" name="Google Shape;172;p28"/>
          <p:cNvSpPr txBox="1"/>
          <p:nvPr/>
        </p:nvSpPr>
        <p:spPr>
          <a:xfrm>
            <a:off x="231950" y="839100"/>
            <a:ext cx="8673300" cy="3031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Roboto"/>
              <a:buChar char="●"/>
            </a:pPr>
            <a:r>
              <a:rPr b="1" lang="en" sz="2000">
                <a:solidFill>
                  <a:srgbClr val="202124"/>
                </a:solidFill>
                <a:highlight>
                  <a:srgbClr val="EFEFEF"/>
                </a:highlight>
                <a:latin typeface="Roboto"/>
                <a:ea typeface="Roboto"/>
                <a:cs typeface="Roboto"/>
                <a:sym typeface="Roboto"/>
              </a:rPr>
              <a:t>Получение данных для обучения.</a:t>
            </a:r>
            <a:endParaRPr b="1" sz="2000">
              <a:solidFill>
                <a:srgbClr val="202124"/>
              </a:solidFill>
              <a:highlight>
                <a:srgbClr val="EFEFE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Roboto"/>
              <a:buChar char="●"/>
            </a:pPr>
            <a:r>
              <a:rPr b="1" lang="en" sz="2000">
                <a:solidFill>
                  <a:srgbClr val="202124"/>
                </a:solidFill>
                <a:highlight>
                  <a:srgbClr val="EFEFEF"/>
                </a:highlight>
                <a:latin typeface="Roboto"/>
                <a:ea typeface="Roboto"/>
                <a:cs typeface="Roboto"/>
                <a:sym typeface="Roboto"/>
              </a:rPr>
              <a:t>Задание модели.</a:t>
            </a:r>
            <a:endParaRPr b="1" sz="2000">
              <a:solidFill>
                <a:srgbClr val="202124"/>
              </a:solidFill>
              <a:highlight>
                <a:srgbClr val="EFEFE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Roboto"/>
              <a:buChar char="●"/>
            </a:pPr>
            <a:r>
              <a:rPr b="1" lang="en" sz="2000">
                <a:solidFill>
                  <a:srgbClr val="202124"/>
                </a:solidFill>
                <a:highlight>
                  <a:srgbClr val="EFEFEF"/>
                </a:highlight>
                <a:latin typeface="Roboto"/>
                <a:ea typeface="Roboto"/>
                <a:cs typeface="Roboto"/>
                <a:sym typeface="Roboto"/>
              </a:rPr>
              <a:t>Задание функции потерь.</a:t>
            </a:r>
            <a:endParaRPr b="1" sz="2000">
              <a:solidFill>
                <a:srgbClr val="202124"/>
              </a:solidFill>
              <a:highlight>
                <a:srgbClr val="EFEFE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Roboto"/>
              <a:buChar char="●"/>
            </a:pPr>
            <a:r>
              <a:rPr b="1" lang="en" sz="2000">
                <a:solidFill>
                  <a:srgbClr val="202124"/>
                </a:solidFill>
                <a:highlight>
                  <a:srgbClr val="EFEFEF"/>
                </a:highlight>
                <a:latin typeface="Roboto"/>
                <a:ea typeface="Roboto"/>
                <a:cs typeface="Roboto"/>
                <a:sym typeface="Roboto"/>
              </a:rPr>
              <a:t>Прямой проход по обучающим данным, вычисление потерь при сравнении с идеальными выходными значениями.</a:t>
            </a:r>
            <a:endParaRPr b="1" sz="2000">
              <a:solidFill>
                <a:srgbClr val="202124"/>
              </a:solidFill>
              <a:highlight>
                <a:srgbClr val="EFEFE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Roboto"/>
              <a:buChar char="●"/>
            </a:pPr>
            <a:r>
              <a:rPr b="1" lang="en" sz="2000">
                <a:solidFill>
                  <a:srgbClr val="202124"/>
                </a:solidFill>
                <a:highlight>
                  <a:srgbClr val="EFEFEF"/>
                </a:highlight>
                <a:latin typeface="Roboto"/>
                <a:ea typeface="Roboto"/>
                <a:cs typeface="Roboto"/>
                <a:sym typeface="Roboto"/>
              </a:rPr>
              <a:t>Использовать оптимизатор для настройки переменных с целью уменьшения потерь.</a:t>
            </a:r>
            <a:endParaRPr b="1" sz="2000">
              <a:solidFill>
                <a:srgbClr val="202124"/>
              </a:solidFill>
              <a:highlight>
                <a:srgbClr val="EFEFE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Roboto"/>
              <a:buChar char="●"/>
            </a:pPr>
            <a:r>
              <a:rPr b="1" lang="en" sz="2000">
                <a:solidFill>
                  <a:srgbClr val="202124"/>
                </a:solidFill>
                <a:highlight>
                  <a:srgbClr val="EFEFEF"/>
                </a:highlight>
                <a:latin typeface="Roboto"/>
                <a:ea typeface="Roboto"/>
                <a:cs typeface="Roboto"/>
                <a:sym typeface="Roboto"/>
              </a:rPr>
              <a:t>Оценка результата.</a:t>
            </a:r>
            <a:endParaRPr b="1" sz="2000">
              <a:solidFill>
                <a:srgbClr val="202124"/>
              </a:solidFill>
              <a:highlight>
                <a:srgbClr val="EFEFE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/>
        </p:nvSpPr>
        <p:spPr>
          <a:xfrm>
            <a:off x="990600" y="178828"/>
            <a:ext cx="7086600" cy="433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200"/>
              <a:t>Пример: линейная регрессия (tensorflow)</a:t>
            </a:r>
            <a:endParaRPr b="1" sz="1700"/>
          </a:p>
        </p:txBody>
      </p:sp>
      <p:sp>
        <p:nvSpPr>
          <p:cNvPr id="178" name="Google Shape;178;p29"/>
          <p:cNvSpPr txBox="1"/>
          <p:nvPr/>
        </p:nvSpPr>
        <p:spPr>
          <a:xfrm>
            <a:off x="242050" y="1037450"/>
            <a:ext cx="8764200" cy="3348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import tensorflow as tf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import matplotlib.pyplot as plt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colors = plt.rcParams['axes.prop_cycle'].by_key()['color']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FFF2CC"/>
                </a:highlight>
              </a:rPr>
              <a:t>TRUE_W = 3.0</a:t>
            </a:r>
            <a:endParaRPr sz="18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FFF2CC"/>
                </a:highlight>
              </a:rPr>
              <a:t>TRUE_B = 2.0</a:t>
            </a:r>
            <a:endParaRPr sz="18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FFF2CC"/>
                </a:highlight>
              </a:rPr>
              <a:t>NUM_EXAMPLES = 201</a:t>
            </a:r>
            <a:endParaRPr sz="18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FFF2CC"/>
                </a:highlight>
              </a:rPr>
              <a:t>x = tf.linspace(-2,2, NUM_EXAMPLES)</a:t>
            </a:r>
            <a:endParaRPr sz="18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highlight>
                  <a:srgbClr val="FFF2CC"/>
                </a:highlight>
              </a:rPr>
              <a:t>x = tf.cast(x, tf.float32)</a:t>
            </a:r>
            <a:endParaRPr sz="18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9" name="Google Shape;179;p29"/>
          <p:cNvSpPr txBox="1"/>
          <p:nvPr/>
        </p:nvSpPr>
        <p:spPr>
          <a:xfrm>
            <a:off x="6615950" y="1299650"/>
            <a:ext cx="1653900" cy="393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/>
              <a:t>train_loop.py</a:t>
            </a:r>
            <a:endParaRPr b="1" i="1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/>
        </p:nvSpPr>
        <p:spPr>
          <a:xfrm>
            <a:off x="121025" y="52450"/>
            <a:ext cx="8865000" cy="30009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2CC"/>
                </a:highlight>
              </a:rPr>
              <a:t>def f(x):</a:t>
            </a:r>
            <a:endParaRPr sz="18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2CC"/>
                </a:highlight>
              </a:rPr>
              <a:t>  return x * TRUE_W + TRUE_B</a:t>
            </a:r>
            <a:endParaRPr sz="18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2CC"/>
                </a:highlight>
              </a:rPr>
              <a:t>noise = tf.random.normal(shape=[NUM_EXAMPLES])</a:t>
            </a:r>
            <a:endParaRPr sz="18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2CC"/>
                </a:highlight>
              </a:rPr>
              <a:t>y = f(x) + noise</a:t>
            </a:r>
            <a:endParaRPr sz="18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2CC"/>
                </a:highlight>
              </a:rPr>
              <a:t>plt.plot(x, y, '.')</a:t>
            </a:r>
            <a:endParaRPr sz="18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2CC"/>
                </a:highlight>
              </a:rPr>
              <a:t>plt.show()</a:t>
            </a:r>
            <a:endParaRPr sz="18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85" name="Google Shape;1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520" y="1899720"/>
            <a:ext cx="4403300" cy="300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/>
        </p:nvSpPr>
        <p:spPr>
          <a:xfrm>
            <a:off x="90775" y="732650"/>
            <a:ext cx="8915400" cy="30861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class MyModel(tf.Module):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def __init__(self, **kwargs):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super().__init__(**kwargs)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self.w = tf.Variable(5.0)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self.b = tf.Variable(0.0)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def __call__(self, x):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return self.w * x + self.b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/>
        </p:nvSpPr>
        <p:spPr>
          <a:xfrm>
            <a:off x="171450" y="808850"/>
            <a:ext cx="8844900" cy="2924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model = MyModel()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assert   model(3.0).numpy() == 15.0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print("Variables:", model.variables)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def loss(target_y, predicted_y):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return tf.reduce_mean(tf.square(target_y - predicted_y))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6" name="Google Shape;196;p32"/>
          <p:cNvSpPr txBox="1"/>
          <p:nvPr/>
        </p:nvSpPr>
        <p:spPr>
          <a:xfrm>
            <a:off x="3923175" y="1685129"/>
            <a:ext cx="4992300" cy="942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Variables: (&lt;tf.Variable 'Variable:0' shape=() dtype=float32, numpy=0.0&gt;, &lt;tf.Variable 'Variable:0' shape=() dtype=float32, numpy=5.0&gt;)</a:t>
            </a:r>
            <a:endParaRPr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/>
        </p:nvSpPr>
        <p:spPr>
          <a:xfrm>
            <a:off x="70600" y="102875"/>
            <a:ext cx="8985900" cy="46797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plt.plot(x, y, '.', label="Data")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plt.plot(x, f(x), label="Ground truth")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plt.plot(x, model(x), label="Predictions")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plt.legend()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plt.show()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print("Current loss: %1.6f" % \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      </a:t>
            </a:r>
            <a:r>
              <a:rPr b="1" lang="en" sz="1800"/>
              <a:t>loss(y, model(x)).numpy()</a:t>
            </a:r>
            <a:r>
              <a:rPr lang="en" sz="1800"/>
              <a:t>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02" name="Google Shape;20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2962" y="1039675"/>
            <a:ext cx="5326776" cy="347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3"/>
          <p:cNvSpPr txBox="1"/>
          <p:nvPr/>
        </p:nvSpPr>
        <p:spPr>
          <a:xfrm>
            <a:off x="211800" y="2321625"/>
            <a:ext cx="3348300" cy="494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Current loss: </a:t>
            </a:r>
            <a:r>
              <a:rPr b="1" lang="en" sz="1800"/>
              <a:t>10.328803</a:t>
            </a:r>
            <a:endParaRPr b="1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/>
        </p:nvSpPr>
        <p:spPr>
          <a:xfrm>
            <a:off x="0" y="738225"/>
            <a:ext cx="8955900" cy="2316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def train(model, x, y, learning_rate):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with tf.GradientTape() as t: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current_loss = loss(y, model(x))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dw, db = t.gradient(current_loss, [model.w, model.b])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model.w.assign_sub(learning_rate * dw)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model.b.assign_sub(learning_rate * db)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/>
        </p:nvSpPr>
        <p:spPr>
          <a:xfrm>
            <a:off x="131100" y="133125"/>
            <a:ext cx="8925600" cy="46290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weights = []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biases = []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epochs = range(10)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def report(model, loss):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return f"W = {model.w.numpy():1.2f}, b = {model.b.numpy():1.2f}, loss={loss:2.5f}"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def training_loop(model, x, y):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for epoch in epochs: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train(model, x, y, learning_rate=0.1)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weights.append(model.w.numpy())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biases.append(model.b.numpy())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current_loss = loss(y, model(x))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print(f"Epoch {epoch:2d}:")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print("    ", report(model, current_loss))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/>
        </p:nvSpPr>
        <p:spPr>
          <a:xfrm>
            <a:off x="121025" y="36751"/>
            <a:ext cx="8824500" cy="18861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current_loss = loss(y, model(x))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print("Starting:")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print("    ", report(model, current_loss))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training_loop(model, x, y)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9" name="Google Shape;219;p36"/>
          <p:cNvSpPr txBox="1"/>
          <p:nvPr/>
        </p:nvSpPr>
        <p:spPr>
          <a:xfrm>
            <a:off x="171450" y="2029150"/>
            <a:ext cx="8774100" cy="2874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Starting: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 W = 5.00, b = 0.00, loss=10.32880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Epoch  0: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 W = 4.46, b = 0.39, loss=6.47470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Epoch  1: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 W = 4.07, b = 0.69, loss=4.27498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………………………………………………………..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Epoch  8: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 W = 3.12, b = 1.67, loss=1.29955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Epoch  9: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 W = 3.09, b = 1.72, loss=1.2665</a:t>
            </a:r>
            <a:r>
              <a:rPr lang="en" sz="1600"/>
              <a:t>7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/>
        </p:nvSpPr>
        <p:spPr>
          <a:xfrm>
            <a:off x="60500" y="291125"/>
            <a:ext cx="9006300" cy="4629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plt.plot(epochs, weights, label='Weights', color=colors[0])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plt.plot(epochs, [TRUE_W] * len(epochs), '--',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label = "True weight", color=colors[0])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plt.plot(epochs, biases, label='bias', color=colors[1])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plt.plot(epochs, [TRUE_B] * len(epochs), "--",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label="True bias", color=colors[1])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plt.legend()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plt.show()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plt.plot(x, y, '.', label="Data")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plt.plot(x, f(x), label="Ground truth")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plt.plot(x, model(x), label="Predictions")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plt.legend()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plt.show()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000" y="929171"/>
            <a:ext cx="4010601" cy="2722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8600" y="914400"/>
            <a:ext cx="4010600" cy="273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/>
        </p:nvSpPr>
        <p:spPr>
          <a:xfrm>
            <a:off x="990600" y="102628"/>
            <a:ext cx="7086600" cy="433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200"/>
              <a:t>Пример: линейная регрессия (keras)</a:t>
            </a:r>
            <a:endParaRPr b="1" sz="1700"/>
          </a:p>
        </p:txBody>
      </p:sp>
      <p:sp>
        <p:nvSpPr>
          <p:cNvPr id="236" name="Google Shape;236;p39"/>
          <p:cNvSpPr txBox="1"/>
          <p:nvPr/>
        </p:nvSpPr>
        <p:spPr>
          <a:xfrm>
            <a:off x="292475" y="636275"/>
            <a:ext cx="8602800" cy="43389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from keras.models import Sequential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from keras.layers import Dense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model = Sequential()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model.add(Dense(units=1, input_shape=(1,)))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model.summary()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model.compile(optimizer=tf.keras.optimizers.SGD(learning_rate=0.05),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  loss='mse')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history=model.fit(x, y, epochs=20 )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y = model.predict(x)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plt.plot(x, y, color='black', label='Model Predictions')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plt.plot(x, f(x), color='red', label='True curve')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plt.show()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7" name="Google Shape;237;p39"/>
          <p:cNvSpPr txBox="1"/>
          <p:nvPr/>
        </p:nvSpPr>
        <p:spPr>
          <a:xfrm>
            <a:off x="5306025" y="1134600"/>
            <a:ext cx="2233500" cy="534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/>
              <a:t>keras-regr-my.py</a:t>
            </a:r>
            <a:endParaRPr b="1" i="1"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25" y="159000"/>
            <a:ext cx="4342375" cy="295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0"/>
          <p:cNvSpPr txBox="1"/>
          <p:nvPr/>
        </p:nvSpPr>
        <p:spPr>
          <a:xfrm>
            <a:off x="5274600" y="133125"/>
            <a:ext cx="3610500" cy="4780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Epoch 1/20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7/7 ━ 0s 6ms/step - loss: </a:t>
            </a:r>
            <a:r>
              <a:rPr b="1" lang="en" sz="1600"/>
              <a:t>10.9441 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Epoch 2/20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7/7 ━  0s 811us/step - loss: </a:t>
            </a:r>
            <a:r>
              <a:rPr b="1" lang="en" sz="1600"/>
              <a:t>2.7223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Epoch 3/20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7/7 ━ 0s 735us/step - loss: </a:t>
            </a:r>
            <a:r>
              <a:rPr b="1" lang="en" sz="1600"/>
              <a:t>1.3325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,,,,,,,,,,,,,,,,,,,,,,,,,,,,,,,,,,,,,,,,,,,,,,,,,,,,,,,,,,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Epoch 19/20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7/7</a:t>
            </a:r>
            <a:r>
              <a:rPr lang="en" sz="1600">
                <a:solidFill>
                  <a:schemeClr val="dk1"/>
                </a:solidFill>
              </a:rPr>
              <a:t>━</a:t>
            </a:r>
            <a:r>
              <a:rPr lang="en" sz="1600"/>
              <a:t> 0s 956us/step - loss: </a:t>
            </a:r>
            <a:r>
              <a:rPr b="1" lang="en" sz="1600"/>
              <a:t>1.0176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Epoch 20/20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7/7━ 0s 723us/step - loss: </a:t>
            </a:r>
            <a:r>
              <a:rPr b="1" lang="en" sz="1600"/>
              <a:t>1.0076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/>
          <p:nvPr/>
        </p:nvSpPr>
        <p:spPr>
          <a:xfrm>
            <a:off x="241175" y="178825"/>
            <a:ext cx="8221200" cy="433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200"/>
              <a:t>Пример: распознавание цифр (tensorflow-keras)</a:t>
            </a:r>
            <a:endParaRPr b="1" sz="1700"/>
          </a:p>
        </p:txBody>
      </p:sp>
      <p:sp>
        <p:nvSpPr>
          <p:cNvPr id="249" name="Google Shape;249;p41"/>
          <p:cNvSpPr txBox="1"/>
          <p:nvPr/>
        </p:nvSpPr>
        <p:spPr>
          <a:xfrm>
            <a:off x="241175" y="2039225"/>
            <a:ext cx="8347200" cy="2936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import tensorflow as tf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import tensorflow_datasets as tfds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(ds_train, ds_test), ds_info = </a:t>
            </a:r>
            <a:r>
              <a:rPr b="1" lang="en" sz="1800"/>
              <a:t>tfds.load</a:t>
            </a:r>
            <a:r>
              <a:rPr lang="en" sz="1800"/>
              <a:t>('</a:t>
            </a:r>
            <a:r>
              <a:rPr i="1" lang="en" sz="1800"/>
              <a:t>mnist</a:t>
            </a:r>
            <a:r>
              <a:rPr lang="en" sz="1800"/>
              <a:t>',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split=['train', 'test'],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shuffle_files=True,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as_supervised=True,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with_info=True,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0" name="Google Shape;250;p41"/>
          <p:cNvSpPr txBox="1"/>
          <p:nvPr/>
        </p:nvSpPr>
        <p:spPr>
          <a:xfrm>
            <a:off x="241175" y="741025"/>
            <a:ext cx="8305200" cy="5454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https://www.tensorflow.org/datasets/keras_example</a:t>
            </a:r>
            <a:endParaRPr sz="1800">
              <a:solidFill>
                <a:schemeClr val="accent2"/>
              </a:solidFill>
              <a:highlight>
                <a:srgbClr val="FFF2CC"/>
              </a:highlight>
            </a:endParaRPr>
          </a:p>
        </p:txBody>
      </p:sp>
      <p:sp>
        <p:nvSpPr>
          <p:cNvPr id="251" name="Google Shape;251;p41"/>
          <p:cNvSpPr txBox="1"/>
          <p:nvPr/>
        </p:nvSpPr>
        <p:spPr>
          <a:xfrm>
            <a:off x="5945700" y="2204200"/>
            <a:ext cx="1824600" cy="367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/>
              <a:t>keras-mnist.py</a:t>
            </a:r>
            <a:endParaRPr b="1" i="1" sz="1800"/>
          </a:p>
        </p:txBody>
      </p:sp>
      <p:sp>
        <p:nvSpPr>
          <p:cNvPr id="252" name="Google Shape;252;p41"/>
          <p:cNvSpPr txBox="1"/>
          <p:nvPr/>
        </p:nvSpPr>
        <p:spPr>
          <a:xfrm>
            <a:off x="241100" y="1362500"/>
            <a:ext cx="8347200" cy="5454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http://yann.lecun.com/exdb/mnist</a:t>
            </a:r>
            <a:endParaRPr sz="18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/>
        </p:nvSpPr>
        <p:spPr>
          <a:xfrm>
            <a:off x="157300" y="75500"/>
            <a:ext cx="8881800" cy="467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def normalize_img(image, label):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return tf.cast(image, tf.float32) / 255., label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ds_train = ds_train.map(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normalize_img, num_parallel_calls=tf.data.AUTOTUNE)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ds_train = ds_train.cache()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ds_train = ds_train.shuffle(ds_info.splits['train'].num_examples)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ds_train = ds_train.batch(128)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ds_train = ds_train.prefetch(tf.data.AUTOTUNE)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ds_test = ds_test.map(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normalize_img, num_parallel_calls=tf.data.AUTOTUNE)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ds_test = ds_test.batch(128)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ds_test = ds_test.cache()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ds_test = ds_test.prefetch(tf.data.AUTOTUNE)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/>
        </p:nvSpPr>
        <p:spPr>
          <a:xfrm>
            <a:off x="157300" y="75500"/>
            <a:ext cx="8881800" cy="4844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model = tf.keras.models.Sequential([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tf.keras.layers.Flatten(input_shape=(28, 28)),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tf.keras.layers.Dense(128, activation='relu'),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tf.keras.layers.Dense(10)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])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model.compile(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optimizer=tf.keras.optimizers.Adam(0.001),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loss=tf.keras.losses.SparseCategoricalCrossentropy(from_logits=True),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metrics=[tf.keras.metrics.SparseCategoricalAccuracy()],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model.fit(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ds_train,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epochs=2,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validation_data=ds_test,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4"/>
          <p:cNvSpPr txBox="1"/>
          <p:nvPr/>
        </p:nvSpPr>
        <p:spPr>
          <a:xfrm>
            <a:off x="62925" y="148900"/>
            <a:ext cx="8944800" cy="4901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Epoch 1/10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469/469 ━━━━━━━━━━━━━━━━━━━━ 3s 2ms/step - loss: </a:t>
            </a:r>
            <a:r>
              <a:rPr b="1" lang="en"/>
              <a:t>0.6337 </a:t>
            </a:r>
            <a:r>
              <a:rPr lang="en"/>
              <a:t>- sparse_categorical_accuracy: 0.8203 - val_loss: 0.1982 - val_sparse_categorical_accuracy: 0.9439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Epoch 2/10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469/469 ━━━━━━━━━━━━━━━━━━━━ 0s 874us/step - loss: 0.1778 - sparse_categorical_accuracy: 0.9502 - val_loss: 0.1395 - val_sparse_categorical_accuracy: 0.9604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Epoch 3/10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469/469 ━━━━━━━━━━━━━━━━━━━━ 0s 867us/step - loss: 0.1241 - sparse_categorical_accuracy: 0.9638 - val_loss: 0.1091 - val_sparse_categorical_accuracy: 0.9671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Epoch 4/10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469/469 ━━━━━━━━━━━━━━━━━━━━ 0s 862us/step - loss: 0.0934 - sparse_categorical_accuracy: 0.9725 - val_loss: 0.0994 - val_sparse_categorical_accuracy: 0.9690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Epoch 5/10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469/469 ━━━━━━━━━━━━━━━━━━━━ 0s 871us/step - loss: 0.0734 - </a:t>
            </a:r>
            <a:r>
              <a:rPr lang="en"/>
              <a:t>sparse_categorical_accuracy: 0.9796 - val_loss: 0.0877 - val_sparse_categorical_accuracy: 0.9731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—-------------------------------------------------------------------------------------------------------------------------------------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Epoch 9/10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469/469 ━━━━━━━━━━━━━━━━━━━━ 0s 871us/step - loss: 0.0325 - sparse_categorical_accuracy: 0.9906 - val_loss: 0.0722 - val_sparse_categorical_accuracy: 0.9773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Epoch 10/10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469/469 ━━━━━━━━━━━━━━━━━━━━ 0s 875us/step - loss: 0</a:t>
            </a:r>
            <a:r>
              <a:rPr b="1" lang="en"/>
              <a:t>.0270</a:t>
            </a:r>
            <a:r>
              <a:rPr lang="en"/>
              <a:t> - sparse_categorical_accuracy: 0.9933 - val_loss: 0.0746 - val_sparse_categorical_accuracy: 0.9774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