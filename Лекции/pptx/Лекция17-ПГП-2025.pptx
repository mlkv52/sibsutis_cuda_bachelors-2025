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632D01-FB55-45E5-BBB3-FC5F5B15393C}">
  <a:tblStyle styleId="{BE632D01-FB55-45E5-BBB3-FC5F5B15393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0500526a99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6" name="Google Shape;66;g20500526a99_0_16:notes"/>
          <p:cNvSpPr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20500526a99_0_16:notes"/>
          <p:cNvSpPr txBox="1"/>
          <p:nvPr>
            <p:ph idx="1" type="body"/>
          </p:nvPr>
        </p:nvSpPr>
        <p:spPr>
          <a:xfrm>
            <a:off x="685800" y="4343400"/>
            <a:ext cx="54831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1df71f3c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1df71f3c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195ef99db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195ef99db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195ef99db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195ef99db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95ef99db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95ef99db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95ef99db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195ef99db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95ef99db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195ef99db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95ef99db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195ef99db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95ef99db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95ef99db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1943344b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1943344b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943344b7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1943344b7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943344b7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1943344b7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1943344b7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1943344b7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195ef99db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195ef99db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195ef99db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195ef99db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195ef99db2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195ef99db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195ef99db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195ef99db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1943344b7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1943344b7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943344b7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1943344b7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1943344b7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1943344b7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1943344b7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1943344b7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1943344b7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1943344b7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1943344b7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1943344b7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1943344b7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1943344b7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1943344b7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1943344b7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683919"/>
            <a:ext cx="2892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6800" lIns="90000" spcFirstLastPara="1" rIns="90000" wrap="square" tIns="468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rtl="0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C0C3A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C3A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63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6300" cy="3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683919"/>
            <a:ext cx="2892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435425" y="119269"/>
            <a:ext cx="8397000" cy="738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Лекция 17</a:t>
            </a:r>
            <a:endParaRPr b="1" sz="3600"/>
          </a:p>
        </p:txBody>
      </p:sp>
      <p:sp>
        <p:nvSpPr>
          <p:cNvPr id="70" name="Google Shape;70;p16"/>
          <p:cNvSpPr txBox="1"/>
          <p:nvPr/>
        </p:nvSpPr>
        <p:spPr>
          <a:xfrm>
            <a:off x="181900" y="1270250"/>
            <a:ext cx="8857500" cy="738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600"/>
              <a:t> Warp Matrix Functions (wmma)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990600" y="178828"/>
            <a:ext cx="7086600" cy="7719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/>
              <a:t>Матричное произведение тензоров Произведение матриц</a:t>
            </a:r>
            <a:endParaRPr b="1" sz="2200"/>
          </a:p>
        </p:txBody>
      </p:sp>
      <p:sp>
        <p:nvSpPr>
          <p:cNvPr id="76" name="Google Shape;76;p17"/>
          <p:cNvSpPr txBox="1"/>
          <p:nvPr/>
        </p:nvSpPr>
        <p:spPr>
          <a:xfrm>
            <a:off x="311700" y="1207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rgbClr val="000000"/>
                </a:solidFill>
              </a:rPr>
              <a:t>Умножение матриц C</a:t>
            </a:r>
            <a:r>
              <a:rPr baseline="-25000" lang="en" sz="8000">
                <a:solidFill>
                  <a:srgbClr val="000000"/>
                </a:solidFill>
              </a:rPr>
              <a:t>mn </a:t>
            </a:r>
            <a:r>
              <a:rPr lang="en" sz="8000">
                <a:solidFill>
                  <a:srgbClr val="000000"/>
                </a:solidFill>
              </a:rPr>
              <a:t>= ∑A</a:t>
            </a:r>
            <a:r>
              <a:rPr baseline="-25000" lang="en" sz="8000">
                <a:solidFill>
                  <a:srgbClr val="000000"/>
                </a:solidFill>
              </a:rPr>
              <a:t>mk</a:t>
            </a:r>
            <a:r>
              <a:rPr lang="en" sz="8000">
                <a:solidFill>
                  <a:srgbClr val="000000"/>
                </a:solidFill>
              </a:rPr>
              <a:t> B</a:t>
            </a:r>
            <a:r>
              <a:rPr baseline="-25000" lang="en" sz="8000">
                <a:solidFill>
                  <a:srgbClr val="000000"/>
                </a:solidFill>
              </a:rPr>
              <a:t>kn  </a:t>
            </a:r>
            <a:endParaRPr sz="8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                                                                                                                            </a:t>
            </a:r>
            <a:r>
              <a:rPr lang="en" sz="6446"/>
              <a:t>k</a:t>
            </a:r>
            <a:endParaRPr sz="6446"/>
          </a:p>
        </p:txBody>
      </p:sp>
      <p:graphicFrame>
        <p:nvGraphicFramePr>
          <p:cNvPr id="77" name="Google Shape;77;p17"/>
          <p:cNvGraphicFramePr/>
          <p:nvPr/>
        </p:nvGraphicFramePr>
        <p:xfrm>
          <a:off x="1607400" y="242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{BE632D01-FB55-45E5-BBB3-FC5F5B15393C}</a:tableStyleId>
              </a:tblPr>
              <a:tblGrid>
                <a:gridCol w="725800"/>
                <a:gridCol w="725800"/>
                <a:gridCol w="725800"/>
                <a:gridCol w="725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A</a:t>
                      </a:r>
                      <a:r>
                        <a:rPr baseline="-25000" lang="en" sz="2000"/>
                        <a:t>00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01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02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03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A</a:t>
                      </a:r>
                      <a:r>
                        <a:rPr baseline="-25000" lang="en" sz="2000"/>
                        <a:t>1</a:t>
                      </a:r>
                      <a:r>
                        <a:rPr baseline="-25000" lang="en" sz="2000"/>
                        <a:t>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A</a:t>
                      </a:r>
                      <a:r>
                        <a:rPr baseline="-25000" lang="en" sz="2000"/>
                        <a:t>2</a:t>
                      </a:r>
                      <a:r>
                        <a:rPr baseline="-25000" lang="en" sz="2000"/>
                        <a:t>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A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8" name="Google Shape;78;p17"/>
          <p:cNvSpPr/>
          <p:nvPr/>
        </p:nvSpPr>
        <p:spPr>
          <a:xfrm>
            <a:off x="1581600" y="2402100"/>
            <a:ext cx="82800" cy="1489500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4272575" y="2402100"/>
            <a:ext cx="82800" cy="1489500"/>
          </a:xfrm>
          <a:prstGeom prst="righ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0" name="Google Shape;80;p17"/>
          <p:cNvGraphicFramePr/>
          <p:nvPr/>
        </p:nvGraphicFramePr>
        <p:xfrm>
          <a:off x="4960200" y="220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{BE632D01-FB55-45E5-BBB3-FC5F5B15393C}</a:tableStyleId>
              </a:tblPr>
              <a:tblGrid>
                <a:gridCol w="725800"/>
                <a:gridCol w="725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B</a:t>
                      </a:r>
                      <a:r>
                        <a:rPr baseline="-25000" lang="en" sz="2000"/>
                        <a:t>00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01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B</a:t>
                      </a:r>
                      <a:r>
                        <a:rPr baseline="-25000" lang="en" sz="2000"/>
                        <a:t>10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B</a:t>
                      </a:r>
                      <a:r>
                        <a:rPr baseline="-25000" lang="en" sz="2000"/>
                        <a:t>20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21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B</a:t>
                      </a:r>
                      <a:r>
                        <a:rPr baseline="-25000" lang="en" sz="2000"/>
                        <a:t>3</a:t>
                      </a:r>
                      <a:r>
                        <a:rPr baseline="-25000" lang="en" sz="2000"/>
                        <a:t>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B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" name="Google Shape;81;p17"/>
          <p:cNvSpPr/>
          <p:nvPr/>
        </p:nvSpPr>
        <p:spPr>
          <a:xfrm>
            <a:off x="4934400" y="2249700"/>
            <a:ext cx="82800" cy="1868400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6253775" y="2249700"/>
            <a:ext cx="82800" cy="18684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3" name="Google Shape;83;p17"/>
          <p:cNvGraphicFramePr/>
          <p:nvPr/>
        </p:nvGraphicFramePr>
        <p:xfrm>
          <a:off x="6967994" y="24387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{BE632D01-FB55-45E5-BBB3-FC5F5B15393C}</a:tableStyleId>
              </a:tblPr>
              <a:tblGrid>
                <a:gridCol w="725800"/>
                <a:gridCol w="725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C</a:t>
                      </a:r>
                      <a:r>
                        <a:rPr baseline="-25000" lang="en" sz="2000"/>
                        <a:t>00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C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01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C</a:t>
                      </a:r>
                      <a:r>
                        <a:rPr baseline="-25000" lang="en" sz="2000"/>
                        <a:t>10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C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C</a:t>
                      </a:r>
                      <a:r>
                        <a:rPr baseline="-25000" lang="en" sz="2000"/>
                        <a:t>20</a:t>
                      </a:r>
                      <a:endParaRPr baseline="-25000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C</a:t>
                      </a:r>
                      <a:r>
                        <a:rPr baseline="-25000" lang="en" sz="2000">
                          <a:solidFill>
                            <a:schemeClr val="dk1"/>
                          </a:solidFill>
                        </a:rPr>
                        <a:t>21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0C3A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4" name="Google Shape;84;p17"/>
          <p:cNvSpPr/>
          <p:nvPr/>
        </p:nvSpPr>
        <p:spPr>
          <a:xfrm>
            <a:off x="6935713" y="2584004"/>
            <a:ext cx="82800" cy="1317600"/>
          </a:xfrm>
          <a:prstGeom prst="leftBracket">
            <a:avLst>
              <a:gd fmla="val 8333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8211963" y="2617229"/>
            <a:ext cx="82800" cy="13176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4451979" y="2928175"/>
            <a:ext cx="41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⤬</a:t>
            </a:r>
            <a:endParaRPr sz="2000"/>
          </a:p>
        </p:txBody>
      </p:sp>
      <p:sp>
        <p:nvSpPr>
          <p:cNvPr id="87" name="Google Shape;87;p17"/>
          <p:cNvSpPr txBox="1"/>
          <p:nvPr/>
        </p:nvSpPr>
        <p:spPr>
          <a:xfrm>
            <a:off x="6466246" y="2922015"/>
            <a:ext cx="41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=</a:t>
            </a:r>
            <a:endParaRPr sz="2000"/>
          </a:p>
        </p:txBody>
      </p:sp>
      <p:sp>
        <p:nvSpPr>
          <p:cNvPr id="88" name="Google Shape;88;p17"/>
          <p:cNvSpPr txBox="1"/>
          <p:nvPr/>
        </p:nvSpPr>
        <p:spPr>
          <a:xfrm rot="-5400000">
            <a:off x="314175" y="2895971"/>
            <a:ext cx="117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M</a:t>
            </a:r>
            <a:r>
              <a:rPr lang="en" sz="2000"/>
              <a:t> строк</a:t>
            </a:r>
            <a:endParaRPr sz="2000"/>
          </a:p>
        </p:txBody>
      </p:sp>
      <p:sp>
        <p:nvSpPr>
          <p:cNvPr id="89" name="Google Shape;89;p17"/>
          <p:cNvSpPr txBox="1"/>
          <p:nvPr/>
        </p:nvSpPr>
        <p:spPr>
          <a:xfrm>
            <a:off x="2295375" y="4251035"/>
            <a:ext cx="165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K</a:t>
            </a:r>
            <a:r>
              <a:rPr lang="en" sz="2000"/>
              <a:t> столцов</a:t>
            </a:r>
            <a:endParaRPr sz="2000"/>
          </a:p>
        </p:txBody>
      </p:sp>
      <p:sp>
        <p:nvSpPr>
          <p:cNvPr id="90" name="Google Shape;90;p17"/>
          <p:cNvSpPr txBox="1"/>
          <p:nvPr/>
        </p:nvSpPr>
        <p:spPr>
          <a:xfrm>
            <a:off x="4962375" y="4310700"/>
            <a:ext cx="152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N</a:t>
            </a:r>
            <a:r>
              <a:rPr lang="en" sz="2000"/>
              <a:t> столцов</a:t>
            </a:r>
            <a:endParaRPr sz="2000"/>
          </a:p>
        </p:txBody>
      </p:sp>
      <p:sp>
        <p:nvSpPr>
          <p:cNvPr id="91" name="Google Shape;91;p17"/>
          <p:cNvSpPr/>
          <p:nvPr/>
        </p:nvSpPr>
        <p:spPr>
          <a:xfrm>
            <a:off x="6250325" y="1356125"/>
            <a:ext cx="1451700" cy="492600"/>
          </a:xfrm>
          <a:prstGeom prst="wedgeRectCallout">
            <a:avLst>
              <a:gd fmla="val -38610" name="adj1"/>
              <a:gd fmla="val 278959" name="adj2"/>
            </a:avLst>
          </a:prstGeom>
          <a:solidFill>
            <a:srgbClr val="C0C3A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K</a:t>
            </a:r>
            <a:r>
              <a:rPr lang="en" sz="2000"/>
              <a:t> строк</a:t>
            </a:r>
            <a:endParaRPr sz="2000"/>
          </a:p>
        </p:txBody>
      </p:sp>
      <p:sp>
        <p:nvSpPr>
          <p:cNvPr id="92" name="Google Shape;92;p17"/>
          <p:cNvSpPr txBox="1"/>
          <p:nvPr/>
        </p:nvSpPr>
        <p:spPr>
          <a:xfrm>
            <a:off x="6943575" y="4310700"/>
            <a:ext cx="152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N</a:t>
            </a:r>
            <a:r>
              <a:rPr lang="en" sz="2000"/>
              <a:t> столцов</a:t>
            </a:r>
            <a:endParaRPr sz="2000"/>
          </a:p>
        </p:txBody>
      </p:sp>
      <p:sp>
        <p:nvSpPr>
          <p:cNvPr id="93" name="Google Shape;93;p17"/>
          <p:cNvSpPr txBox="1"/>
          <p:nvPr/>
        </p:nvSpPr>
        <p:spPr>
          <a:xfrm rot="-5400000">
            <a:off x="8086575" y="2939100"/>
            <a:ext cx="117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M</a:t>
            </a:r>
            <a:r>
              <a:rPr lang="en" sz="2000"/>
              <a:t> </a:t>
            </a:r>
            <a:r>
              <a:rPr lang="en" sz="2000"/>
              <a:t>строк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/>
        </p:nvSpPr>
        <p:spPr>
          <a:xfrm>
            <a:off x="131950" y="45900"/>
            <a:ext cx="8880300" cy="4626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#include &lt;mma.h&gt;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using namespace nvcuda;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__global__ void wmma_ker(half *a, half *b, float *c) 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wmma::fragment&lt;wmma::matrix_a, 16, 16, 16, half, wmma::col_major&gt; a_frag;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wmma::fragment&lt;wmma::matrix_b, 16, 16, 16, half, wmma::row_major&gt; b_frag;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wmma::fragment&lt;wmma::accumulator, 16, 16, 16, float&gt; c_frag;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wmma::fill_fragment(c_frag, 0.0f);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wmma::load_matrix_sync(a_frag, a, 16);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wmma::load_matrix_sync(b_frag, b, 16);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wmma::mma_sync(c_frag, a_frag, b_frag, c_frag);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wmma::store_matrix_sync(c, c_frag, 16, wmma::mem_row_major);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/>
        </p:nvSpPr>
        <p:spPr>
          <a:xfrm>
            <a:off x="131950" y="111125"/>
            <a:ext cx="8825400" cy="4934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#include &lt;stdio.h&gt;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#include &lt;malloc.h&gt;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#include &lt;mma.h&gt;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using namespace nvcuda;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#define M 16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#define K 16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#define N 16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void hInit(half* A, half* B){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for(int m=0;m&lt;M;m++)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for(int k=0;k&lt;K;k++)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A[k+m*K]=(half)((m+k*M)*0.01);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for(int k=0;k&lt;K;k++)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for(int n=0;n&lt;N;n++)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B[n+k*N]=(half)1.0;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4" name="Google Shape;104;p19"/>
          <p:cNvSpPr txBox="1"/>
          <p:nvPr/>
        </p:nvSpPr>
        <p:spPr>
          <a:xfrm>
            <a:off x="5945850" y="638650"/>
            <a:ext cx="1296900" cy="3738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test_mm-0.cu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/>
        </p:nvSpPr>
        <p:spPr>
          <a:xfrm>
            <a:off x="87975" y="524350"/>
            <a:ext cx="8924100" cy="3978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__global__ void wMMult(half *a, half *b, float *c) 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wmma::fragment&lt;wmma::matrix_a, 16, 16, 16, half, wmma::col_major&gt; a_frag;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wmma::fragment&lt;wmma::matrix_b, 16, 16, 16, half, wmma::row_major&gt; b_frag;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wmma::fragment&lt;wmma::accumulator, 16, 16, 16, float&gt; c_frag;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wmma::fill_fragment(c_frag, 0.0f);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wmma::load_matrix_sync(a_frag, a, 16);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wmma::load_matrix_sync(b_frag, b, 16);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wmma::mma_sync(c_frag, a_frag, b_frag, c_frag);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wmma::store_matrix_sync(c, c_frag, 16, wmma::mem_row_major);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/>
        </p:nvSpPr>
        <p:spPr>
          <a:xfrm>
            <a:off x="274825" y="188050"/>
            <a:ext cx="8748300" cy="3857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int main(){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half* A=(half*)calloc(M*K, sizeof(half));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half* B=(half*)calloc(K*N, sizeof(half));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float* C=(float*)calloc(M*N, sizeof(float));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hInit(A,B);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half *Ad, *Bd;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float *Cd;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cudaMalloc((void**)&amp;Ad,  M*K*sizeof(half));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cudaMalloc((void**)&amp;Bd,  K*N*sizeof(half));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cudaMalloc((void**)&amp;Cd,  M*N*sizeof(float));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/>
        </p:nvSpPr>
        <p:spPr>
          <a:xfrm>
            <a:off x="175900" y="851150"/>
            <a:ext cx="8803200" cy="24825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cudaMemcpy(Ad, A, M*K*sizeof(half), cudaMemcpyHostToDevice);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cudaMemcpy(Bd, B, M*K*sizeof(half), cudaMemcpyHostToDevice);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cudaMemcpy(Cd, C, M*K*sizeof(float), cudaMemcpyHostToDevice);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cudaMemset(Cd, 0, M*N*sizeof(float));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wMMult&lt;&lt;&lt;1,32&gt;&gt;&gt;(Ad,Bd,Cd);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cudaDeviceSynchronize();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/>
        </p:nvSpPr>
        <p:spPr>
          <a:xfrm>
            <a:off x="142950" y="111125"/>
            <a:ext cx="8770200" cy="4978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cudaMemcpy(C, Cd, M*K*sizeof(float), cudaMemcpyDeviceToHost);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for(int m=0;m&lt;M;m+=M/8){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for(int n=0;n&lt;N;n+=N/8)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printf("%g\t", C[n+m*N]);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printf("\n");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free(A);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free(B);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free(C);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cudaFree(Ad);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cudaFree(Bd);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cudaFree(Cd);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return 0;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/>
        </p:nvSpPr>
        <p:spPr>
          <a:xfrm>
            <a:off x="142950" y="470150"/>
            <a:ext cx="8847300" cy="352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Lecture6/Lab6&gt; nvcc</a:t>
            </a:r>
            <a:r>
              <a:rPr lang="en" sz="1800">
                <a:solidFill>
                  <a:srgbClr val="FF0000"/>
                </a:solidFill>
                <a:highlight>
                  <a:srgbClr val="C0C3A1"/>
                </a:highlight>
              </a:rPr>
              <a:t>  </a:t>
            </a:r>
            <a:r>
              <a:rPr b="1" lang="en" sz="1800">
                <a:solidFill>
                  <a:srgbClr val="FF0000"/>
                </a:solidFill>
                <a:highlight>
                  <a:srgbClr val="C0C3A1"/>
                </a:highlight>
              </a:rPr>
              <a:t>-arch=sm_75</a:t>
            </a:r>
            <a:r>
              <a:rPr lang="en" sz="1800">
                <a:solidFill>
                  <a:srgbClr val="FF0000"/>
                </a:solidFill>
                <a:highlight>
                  <a:srgbClr val="C0C3A1"/>
                </a:highlight>
              </a:rPr>
              <a:t>   </a:t>
            </a: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test_mm-0.cu  -o test_mm-0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Lecture6/Lab6&gt; test_mm-0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1.20005 1.20005 1.20005 1.20005 1.20005 1.20005 1.20005 1.20005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6.31982 6.31982 6.31982 6.31982 6.31982 6.31982 6.31982 6.31982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11.4404 11.4404 11.4404 11.4404 11.4404 11.4404 11.4404 11.4404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16.5596 16.5596 16.5596 16.5596 16.5596 16.5596 16.5596 16.5596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21.6797 21.6797 21.6797 21.6797 21.6797 21.6797 21.6797 21.6797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26.8008 26.8008 26.8008 26.8008 26.8008 26.8008 26.8008 26.8008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31.9199 31.9199 31.9199 31.9199 31.9199 31.9199 31.9199 31.9199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37.0391 37.0391 37.0391 37.0391 37.0391 37.0391 37.0391 37.0391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C0C3A1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/>
        </p:nvSpPr>
        <p:spPr>
          <a:xfrm>
            <a:off x="109975" y="89150"/>
            <a:ext cx="8924100" cy="47589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#include &lt;stdio.h&gt;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#include &lt;malloc.h&gt;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#define M 32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#define K 32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#define N 32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#define Kb 16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void hInit(float* A, float* B){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for(int m=0;m&lt;M;m++)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for(int k=0;k&lt;K;k++)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A[k+m*K]=(float)(k+m*K);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for(int k=0;k&lt;K;k++)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for(int n=0;n&lt;N;n++)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B[n+k*N]=(float)1.0;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5" name="Google Shape;135;p25"/>
          <p:cNvSpPr txBox="1"/>
          <p:nvPr/>
        </p:nvSpPr>
        <p:spPr>
          <a:xfrm>
            <a:off x="5572200" y="539725"/>
            <a:ext cx="1406700" cy="4506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/>
              <a:t>test_mm.cu</a:t>
            </a:r>
            <a:endParaRPr i="1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/>
        </p:nvSpPr>
        <p:spPr>
          <a:xfrm>
            <a:off x="87975" y="1155950"/>
            <a:ext cx="8748300" cy="3055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void hMMult(float* A, float* B, float* C){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for(int m=0;m&lt;M;m++)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for(int n=0;n&lt;N;n++){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float acc=0.0;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for(int tk=0;tk&lt;K/Kb;tk++)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for(int kb=0; kb&lt;Kb; kb++)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 acc+=A[kb+tk*Kb+m*K]*B[n+(kb+tk*Kb)*N];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C[n+m*N]=acc;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/>
        </p:nvSpPr>
        <p:spPr>
          <a:xfrm>
            <a:off x="109975" y="78150"/>
            <a:ext cx="8946300" cy="49536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int main(){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float* A=(float*)calloc(M*K, sizeof(float));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float* B=(float*)calloc(K*N, sizeof(float));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float* C=(float*)calloc(M*N, sizeof(float));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hInit(A,B);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hMMult(A, B, C);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for(int m=0;m&lt;M;m+=M/8){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for(int n=0;n&lt;N;n+=N/8)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printf("%g\t", C[n+m*N]);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printf("\n");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free(A);  free(B); free(C);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return 0;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/>
        </p:nvSpPr>
        <p:spPr>
          <a:xfrm>
            <a:off x="87975" y="111125"/>
            <a:ext cx="8924100" cy="458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/Lecture6/Lab6&gt; nvcc test_mm.cu -o test_mm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/Lecture6/Lab6&gt; ./test_mm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496      496      496      496      496      496      496      496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4592    4592    4592    4592    4592    4592    4592    4592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8688    8688    8688    8688    8688    8688    8688    8688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12784   12784   12784   12784   12784   12784   12784   12784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16880   16880   16880   16880   16880   16880   16880   16880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20976   20976   20976   20976   20976   20976   20976   20976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25072   25072   25072   25072   25072   25072   25072   25072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29168   29168   29168   29168   29168   29168   29168   29168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/>
        </p:nvSpPr>
        <p:spPr>
          <a:xfrm>
            <a:off x="142950" y="89150"/>
            <a:ext cx="8869200" cy="3648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void hMMult(float* A, float* B, float* C){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for(int tm=0;tm&lt;M/Mb;tm++)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for(int tn=0;tn&lt;N/Nb;tn++)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for(int tk=0;tk&lt;K/Kb;tk++){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for(int mb=0;mb&lt;Mb;mb++)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for(int nb=0;nb&lt;Nb;nb++)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for(int kb=0; kb&lt;Kb; kb++)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    C[nb+tn*Nb+(mb+tm*Mb)*N]+=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    A[kb+tk*Kb+(mb+tm*Mb)*K]*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B[nb+tn*Nb+(kb+tk*Kb)*N];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6" name="Google Shape;156;p29"/>
          <p:cNvSpPr txBox="1"/>
          <p:nvPr/>
        </p:nvSpPr>
        <p:spPr>
          <a:xfrm>
            <a:off x="6110725" y="517775"/>
            <a:ext cx="2385000" cy="4176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/>
              <a:t>Из  test_mm-1.cu</a:t>
            </a:r>
            <a:endParaRPr i="1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/>
        </p:nvSpPr>
        <p:spPr>
          <a:xfrm>
            <a:off x="120950" y="89150"/>
            <a:ext cx="8825400" cy="37368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void hMMult(float* A, float* B, float* C){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for(int tm=0;tm&lt;M/Mb;tm++)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for(int tn=0;tn&lt;N/Nb;tn++)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for(int tk=0;tk&lt;K/Kb;tk++){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for(int mb=0;mb&lt;Mb;mb++)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for(int nb=0;nb&lt;Nb;nb++)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for(int kb=0; kb&lt;Kb; kb++)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(C+tn*Nb+tm*Mb*N)[nb+mb*N]+=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(A+tk*Kb+tm*Mb*K)[kb+mb*K]*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(B+tn*Nb+tk*Kb*N)[nb+kb*N];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2" name="Google Shape;162;p30"/>
          <p:cNvSpPr txBox="1"/>
          <p:nvPr/>
        </p:nvSpPr>
        <p:spPr>
          <a:xfrm>
            <a:off x="6110725" y="517775"/>
            <a:ext cx="2385000" cy="4176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/>
              <a:t>Из  test_mm-2.cu</a:t>
            </a:r>
            <a:endParaRPr i="1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/>
        </p:nvSpPr>
        <p:spPr>
          <a:xfrm>
            <a:off x="120950" y="481125"/>
            <a:ext cx="8847300" cy="41652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void hMMult(float* A, float* B, float* C){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for(int mb=0;mb&lt;Mb;mb++)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for(int nb=0;nb&lt;Nb;nb++)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for(int kb=0; kb&lt;Kb; kb++)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C[nb+mb*N]+= A[kb+mb*K]*B[nb+kb*N];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Int main(){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…………………………………………………….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for(int tm=0;tm&lt;M/Mb;tm++)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for(int tn=0;tn&lt;N/Nb;tn++)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for(int tk=0;tk&lt;K/Kb;tk++)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hMMult(A+tk*Kb+tm*Mb*K,  B+tn*Nb+tk*Kb*N,  C+tn*Nb+tm*Mb*N);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………………………………………………………..</a:t>
            </a:r>
            <a:endParaRPr sz="1800"/>
          </a:p>
        </p:txBody>
      </p:sp>
      <p:sp>
        <p:nvSpPr>
          <p:cNvPr id="168" name="Google Shape;168;p31"/>
          <p:cNvSpPr txBox="1"/>
          <p:nvPr/>
        </p:nvSpPr>
        <p:spPr>
          <a:xfrm>
            <a:off x="6110725" y="746375"/>
            <a:ext cx="2385000" cy="4176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/>
              <a:t>Из  test_mm-3.cu</a:t>
            </a:r>
            <a:endParaRPr i="1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/>
        </p:nvSpPr>
        <p:spPr>
          <a:xfrm>
            <a:off x="186900" y="144100"/>
            <a:ext cx="8638500" cy="352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Lecture6/Lab6&gt; nvcc  test_mm-3.cu  -o test_mm-3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Lecture6/Lab6&gt; ./test_mm-3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496      496      496      496      496      496      496      496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4592    4592    4592    4592    4592    4592    4592    4592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8688    8688    8688    8688    8688    8688    8688    8688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12784   12784   12784   12784   12784   12784   12784   12784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16880   16880   16880   16880   16880   16880   16880   16880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20976   20976   20976   20976   20976   20976   20976   20976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25072   25072   25072   25072   25072   25072   25072   25072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29168   29168   29168   29168   29168   29168   29168   29168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/>
        </p:nvSpPr>
        <p:spPr>
          <a:xfrm>
            <a:off x="175900" y="1090725"/>
            <a:ext cx="8858400" cy="36489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#include &lt;stdio.h&gt;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#include &lt;malloc.h&gt;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#include &lt;mma.h&gt;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using namespace nvcuda;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#define M 32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#define K 32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#define N 32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#define Kb 16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#define Mb 16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#define Nb 16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9" name="Google Shape;179;p33"/>
          <p:cNvSpPr txBox="1"/>
          <p:nvPr/>
        </p:nvSpPr>
        <p:spPr>
          <a:xfrm>
            <a:off x="5264450" y="1618275"/>
            <a:ext cx="1637700" cy="450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/>
              <a:t>test_mm-6.cu</a:t>
            </a:r>
            <a:endParaRPr i="1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/>
          <p:nvPr/>
        </p:nvSpPr>
        <p:spPr>
          <a:xfrm>
            <a:off x="120950" y="611550"/>
            <a:ext cx="8825400" cy="27696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void hInit(half* A, half* B){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for(int m=0;m&lt;M;m++)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for(int k=0;k&lt;K;k++)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A[k+m*K]=(half)((m+k*M)*0.01);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for(int k=0;k&lt;K;k++)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for(int n=0;n&lt;N;n++)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B[n+k*N]=(half)1.0;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/>
        </p:nvSpPr>
        <p:spPr>
          <a:xfrm>
            <a:off x="109975" y="1079750"/>
            <a:ext cx="8847300" cy="2945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__global__ void wMMult(half *a, half *b, float *c) {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int Mw = (blockIdx.x * blockDim.x + threadIdx.x)/warpSize;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int Nw = (blockIdx.y * blockDim.y + threadIdx.y);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wmma::fragment&lt;wmma::matrix_a, Mb, Nb, Kb, half, wmma::col_major&gt; a_frag;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wmma::fragment&lt;wmma::matrix_b, Mb, Nb, Kb, half, wmma::col_major&gt; b_frag;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wmma::fragment&lt;wmma::accumulator, Mb, Nb, Kb, float&gt; c_frag;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wmma::fill_fragment(c_frag, 0.0f);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/>
          <p:nvPr/>
        </p:nvSpPr>
        <p:spPr>
          <a:xfrm>
            <a:off x="98975" y="89150"/>
            <a:ext cx="8858400" cy="47478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//////////////////////////////////////////////////////////////////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for(int tk=0; tk&lt;K; tk+=Kb){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int a_row=Mw*Mb;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int a_col=tk;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int b_row =tk;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int b_col=Nw*Nb;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wmma::load_matrix_sync(a_frag, a+a_row+a_col*M, M);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wmma::load_matrix_sync(b_frag, b+b_row+b_col*K, K);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wmma::mma_sync(c_frag, a_frag, b_frag, c_frag);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int c_row=Mw*Mb;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int c_col=Nw*Nb;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wmma::store_matrix_sync(c+c_row+c_col*M, c_frag, M, wmma::mem_col_major);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/////////////////////////////////////////////////////////////////////////////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/>
          <p:nvPr/>
        </p:nvSpPr>
        <p:spPr>
          <a:xfrm>
            <a:off x="109975" y="122100"/>
            <a:ext cx="8935200" cy="49128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int main(){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half* A=(half*)calloc(M*K, sizeof(half));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half* B=(half*)calloc(K*N, sizeof(half));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float* C=(float*)calloc(M*N, sizeof(float));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hInit(A,B);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half *Ad, *Bd;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float *Cd;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cudaMalloc((void**)&amp;Ad,  M*K*sizeof(half));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cudaMalloc((void**)&amp;Bd,  K*N*sizeof(half));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cudaMalloc((void**)&amp;Cd,  M*N*sizeof(float));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cudaMemcpy(Ad, A, M*K*sizeof(half), cudaMemcpyHostToDevice);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cudaMemcpy(Bd, B, M*K*sizeof(half), cudaMemcpyHostToDevice);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cudaMemset(Cd, 0, M*N*sizeof(float));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/>
          <p:nvPr/>
        </p:nvSpPr>
        <p:spPr>
          <a:xfrm>
            <a:off x="142950" y="1221150"/>
            <a:ext cx="8660400" cy="3033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wMMult&lt;&lt;&lt;dim3(2,2),dim3(32,1)&gt;&gt;&gt;(Ad,Bd,Cd);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cudaDeviceSynchronize();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cudaMemcpy(C, Cd, M*K*sizeof(float), cudaMemcpyDeviceToHost);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for(int m=0;m&lt;M;m+=M/8){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for(int n=0;n&lt;N;n+=N/8)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printf("%g\t", C[n+m*N]);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printf("\n");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 txBox="1"/>
          <p:nvPr/>
        </p:nvSpPr>
        <p:spPr>
          <a:xfrm>
            <a:off x="131950" y="1112700"/>
            <a:ext cx="8935200" cy="31434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free(A);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free(B);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free(C);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cudaFree(Ad);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cudaFree(Bd);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cudaFree(Cd);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return 0;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}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0"/>
          <p:cNvSpPr txBox="1"/>
          <p:nvPr/>
        </p:nvSpPr>
        <p:spPr>
          <a:xfrm>
            <a:off x="120950" y="622550"/>
            <a:ext cx="8935200" cy="356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Lecture6/Lab6&gt; nvcc  -arch=sm_75   test_mm-6.cu   -o test_mm-6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Lecture6/Lab6&gt; ./test_mm-6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4.96018 45.9199 86.8789 127.84  168.801 209.762 250.719 291.68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4.96018 45.9199 86.8789 127.84  168.801 209.762 250.719 291.68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4.96018 45.9199 86.8789 127.84  168.801 209.762 250.719 291.68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4.96018 45.9199 86.8789 127.84  168.801 209.762 250.719 291.68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4.96018 45.9199 86.8789 127.84  168.801 209.762 250.719 291.68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4.96018 45.9199 86.8789 127.84  168.801 209.762 250.719 291.68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4.96018 45.9199 86.8789 127.84  168.801 209.762 250.719 291.68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0C3A1"/>
                </a:highlight>
              </a:rPr>
              <a:t>4.96018 45.9199 86.8789 127.84  168.801 209.762 250.719 291.68</a:t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C0C3A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