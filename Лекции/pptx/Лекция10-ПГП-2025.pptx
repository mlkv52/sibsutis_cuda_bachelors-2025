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1" r:id="rId5"/>
    <p:sldMasterId id="214748366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65912C6-7A2B-4274-8E4C-CFBD94822C2C}">
  <a:tblStyle styleId="{565912C6-7A2B-4274-8E4C-CFBD94822C2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21" Type="http://schemas.openxmlformats.org/officeDocument/2006/relationships/slide" Target="slides/slide14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2.xml"/><Relationship Id="rId6" Type="http://schemas.openxmlformats.org/officeDocument/2006/relationships/slideMaster" Target="slideMasters/slideMaster2.xml"/><Relationship Id="rId18" Type="http://schemas.openxmlformats.org/officeDocument/2006/relationships/slide" Target="slides/slide1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0500526a99_0_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6" name="Google Shape;66;g20500526a99_0_16:notes"/>
          <p:cNvSpPr/>
          <p:nvPr/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g20500526a99_0_16:notes"/>
          <p:cNvSpPr txBox="1"/>
          <p:nvPr>
            <p:ph idx="1" type="body"/>
          </p:nvPr>
        </p:nvSpPr>
        <p:spPr>
          <a:xfrm>
            <a:off x="685800" y="4343400"/>
            <a:ext cx="54831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29f76a6c23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29f76a6c23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229f76a6c23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229f76a6c23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29f76a6c23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229f76a6c23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29f76a6c23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29f76a6c23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29f76a6c23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229f76a6c23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29f76a6c23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29f76a6c23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29f76a6c23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229f76a6c23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29f76a6c23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29f76a6c23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c807a2ddd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2c807a2ddd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c807a2ddd4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2c807a2ddd4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c807a2ddd4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2c807a2ddd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29f76a6c23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229f76a6c23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2a1e164a49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22a1e164a49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457200" y="4683919"/>
            <a:ext cx="21303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3124200" y="4683919"/>
            <a:ext cx="28923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6553200" y="4683919"/>
            <a:ext cx="21303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indent="0" lvl="1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indent="0" lvl="2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indent="0" lvl="3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indent="0" lvl="4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indent="0" lvl="5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indent="0" lvl="6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indent="0" lvl="7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indent="0" lvl="8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46800" lIns="90000" spcFirstLastPara="1" rIns="90000" wrap="square" tIns="468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rtl="0"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rtl="0">
              <a:spcBef>
                <a:spcPts val="7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rtl="0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rtl="0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rtl="0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rtl="0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rtl="0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rtl="0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rtl="0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46800" lIns="90000" spcFirstLastPara="1" rIns="90000" wrap="square" tIns="4680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C0C3A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0C3A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205978"/>
            <a:ext cx="8226300" cy="85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1200150"/>
            <a:ext cx="8226300" cy="33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457200" y="4683919"/>
            <a:ext cx="21303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124200" y="4683919"/>
            <a:ext cx="28923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553200" y="4683919"/>
            <a:ext cx="21303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/>
        </p:nvSpPr>
        <p:spPr>
          <a:xfrm>
            <a:off x="435425" y="119269"/>
            <a:ext cx="8397000" cy="7389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/>
              <a:t>Лекция 10</a:t>
            </a:r>
            <a:endParaRPr b="1" sz="3600"/>
          </a:p>
        </p:txBody>
      </p:sp>
      <p:sp>
        <p:nvSpPr>
          <p:cNvPr id="70" name="Google Shape;70;p16"/>
          <p:cNvSpPr txBox="1"/>
          <p:nvPr/>
        </p:nvSpPr>
        <p:spPr>
          <a:xfrm>
            <a:off x="181900" y="1270250"/>
            <a:ext cx="8857500" cy="28590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/>
              <a:t>Python+CUDA</a:t>
            </a:r>
            <a:endParaRPr b="1"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/>
              <a:t>● CUDA Python:</a:t>
            </a:r>
            <a:endParaRPr b="1" sz="2400"/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/>
              <a:t>https://developer.nvidia.com/how-to-cuda-python</a:t>
            </a:r>
            <a:endParaRPr b="1"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/>
              <a:t>● [PyCUDA: https://documen.tician.de/pycuda]</a:t>
            </a:r>
            <a:endParaRPr b="1"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/>
        </p:nvSpPr>
        <p:spPr>
          <a:xfrm>
            <a:off x="221225" y="813467"/>
            <a:ext cx="8701800" cy="3879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import numpy as np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from pylab import imshow, show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from time import  perf_counter_ns  as timer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def mandel(x, y, max_iters):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c = complex(x, y)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z = 0.0j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for i in range(max_iters):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  z = z*z + c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  if (z.real*z.real + z.imag*z.imag) &gt;= 4: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    return i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 return max_iters</a:t>
            </a:r>
            <a:r>
              <a:rPr lang="en"/>
              <a:t> </a:t>
            </a:r>
            <a:endParaRPr/>
          </a:p>
        </p:txBody>
      </p:sp>
      <p:sp>
        <p:nvSpPr>
          <p:cNvPr id="76" name="Google Shape;76;p17"/>
          <p:cNvSpPr txBox="1"/>
          <p:nvPr/>
        </p:nvSpPr>
        <p:spPr>
          <a:xfrm>
            <a:off x="1471200" y="4695608"/>
            <a:ext cx="6169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http://nbviewer.jupyter.org/gist/harrism/f5707335f40af9463c43</a:t>
            </a:r>
            <a:endParaRPr sz="1600"/>
          </a:p>
        </p:txBody>
      </p:sp>
      <p:sp>
        <p:nvSpPr>
          <p:cNvPr id="77" name="Google Shape;77;p17"/>
          <p:cNvSpPr txBox="1"/>
          <p:nvPr/>
        </p:nvSpPr>
        <p:spPr>
          <a:xfrm>
            <a:off x="221225" y="26425"/>
            <a:ext cx="8701800" cy="7101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</a:rPr>
              <a:t>Сравненние производительности кодов, генерируемых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</a:rPr>
              <a:t>компилятором Numba</a:t>
            </a:r>
            <a:endParaRPr b="1" sz="2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/>
        </p:nvSpPr>
        <p:spPr>
          <a:xfrm>
            <a:off x="140850" y="405600"/>
            <a:ext cx="8762100" cy="41868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def create_fractal(min_x, max_x, min_y, max_y, image, iters):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  height = image.shape[0]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#размерности двумерного массива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  width = image.shape[1]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  pixel_size_x = (max_x - min_x) / width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  pixel_size_y = (max_y - min_y) / height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#задание размеров пикселя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  for x in range(width):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    real = min_x + x * pixel_size_x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    for y in range(height):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      imag = min_y + y * pixel_size_y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      color = mandel(real, imag, iters)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      image[y, x] = color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9"/>
          <p:cNvSpPr txBox="1"/>
          <p:nvPr/>
        </p:nvSpPr>
        <p:spPr>
          <a:xfrm>
            <a:off x="120750" y="594025"/>
            <a:ext cx="8902800" cy="35709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#задание цвета пикселя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image = np.zeros((1024, 1536), dtype = np.uint8)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start = timer()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create_fractal(-2.0, 1.0, -1.0, 1.0, image, 20)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dt = timer() - start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dt/=1000000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print ("Mandelbrot created in %f ms" % dt)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imshow(image)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show()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7800" y="1066800"/>
            <a:ext cx="5629275" cy="393382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20"/>
          <p:cNvSpPr txBox="1"/>
          <p:nvPr/>
        </p:nvSpPr>
        <p:spPr>
          <a:xfrm>
            <a:off x="100800" y="100800"/>
            <a:ext cx="8925900" cy="8004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highlight>
                  <a:srgbClr val="D9D9D9"/>
                </a:highlight>
              </a:rPr>
              <a:t>/Lab10&gt; python mandel.py</a:t>
            </a:r>
            <a:endParaRPr sz="2000">
              <a:solidFill>
                <a:schemeClr val="dk1"/>
              </a:solidFill>
              <a:highlight>
                <a:srgbClr val="D9D9D9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highlight>
                  <a:srgbClr val="D9D9D9"/>
                </a:highlight>
              </a:rPr>
              <a:t>Mandelbrot created in 3332.904220 ms</a:t>
            </a:r>
            <a:endParaRPr sz="2300">
              <a:highlight>
                <a:srgbClr val="D9D9D9"/>
              </a:highligh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1"/>
          <p:cNvSpPr txBox="1"/>
          <p:nvPr/>
        </p:nvSpPr>
        <p:spPr>
          <a:xfrm>
            <a:off x="184700" y="117575"/>
            <a:ext cx="8825100" cy="47724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/>
              <a:t>import numpy as np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/>
              <a:t>from pylab import imshow, show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/>
              <a:t>from time import  perf_counter_ns  as timer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/>
              <a:t>from numba import jit</a:t>
            </a:r>
            <a:endParaRPr b="1" sz="1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/>
              <a:t>@jit</a:t>
            </a:r>
            <a:endParaRPr b="1" sz="1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/>
              <a:t>def mandel(x, y, max_iters):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/>
              <a:t>  c = complex(x, y)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/>
              <a:t>  z = 0.0j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/>
              <a:t>  for i in range(max_iters):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/>
              <a:t> z = z*z + c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/>
              <a:t> if (z.real*z.real + z.imag*z.imag) &gt;= 4: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/>
              <a:t>   return i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/>
              <a:t>return max_iters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2"/>
          <p:cNvSpPr txBox="1"/>
          <p:nvPr/>
        </p:nvSpPr>
        <p:spPr>
          <a:xfrm>
            <a:off x="100800" y="67250"/>
            <a:ext cx="8959500" cy="44361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chemeClr val="dk1"/>
                </a:solidFill>
              </a:rPr>
              <a:t>@jit</a:t>
            </a:r>
            <a:endParaRPr b="1"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</a:rPr>
              <a:t>def create_fractal(min_x, max_x, min_y, max_y, image, iters):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</a:rPr>
              <a:t>  height = image.shape[0]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</a:rPr>
              <a:t>  width = image.shape[1]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</a:rPr>
              <a:t>  pixel_size_x = (max_x - min_x) / width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</a:rPr>
              <a:t>  pixel_size_y = (max_y - min_y) / height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</a:rPr>
              <a:t>  for x in range(width):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</a:rPr>
              <a:t>    real = min_x + x * pixel_size_x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</a:rPr>
              <a:t>    for y in range(height):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</a:rPr>
              <a:t>      imag = min_y + y * pixel_size_y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</a:rPr>
              <a:t>      color = mandel(real, imag, iters)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</a:rPr>
              <a:t>      image[y, x] = color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3"/>
          <p:cNvSpPr txBox="1"/>
          <p:nvPr/>
        </p:nvSpPr>
        <p:spPr>
          <a:xfrm>
            <a:off x="100800" y="465025"/>
            <a:ext cx="8925900" cy="40998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</a:rPr>
              <a:t>image = np.zeros((1024, 1536), dtype = np.uint8)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</a:rPr>
              <a:t>start = timer()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</a:rPr>
              <a:t>create_fractal(-2.0, 1.0, -1.0, 1.0, image, 20)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</a:rPr>
              <a:t>dt = timer() - start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</a:rPr>
              <a:t>dt/=1000000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</a:rPr>
              <a:t>print ("Mandelbrot created in %f ms" % dt)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</a:rPr>
              <a:t>imshow(image)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</a:rPr>
              <a:t>show()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4"/>
          <p:cNvSpPr txBox="1"/>
          <p:nvPr/>
        </p:nvSpPr>
        <p:spPr>
          <a:xfrm>
            <a:off x="100800" y="1251500"/>
            <a:ext cx="8808600" cy="8004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highlight>
                  <a:srgbClr val="D9D9D9"/>
                </a:highlight>
              </a:rPr>
              <a:t>Lab10&gt; python mandel_numba.py</a:t>
            </a:r>
            <a:endParaRPr sz="2000">
              <a:solidFill>
                <a:schemeClr val="dk1"/>
              </a:solidFill>
              <a:highlight>
                <a:srgbClr val="D9D9D9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highlight>
                  <a:srgbClr val="D9D9D9"/>
                </a:highlight>
              </a:rPr>
              <a:t>Mandelbrot created in 250.150089 ms</a:t>
            </a:r>
            <a:endParaRPr sz="2300">
              <a:highlight>
                <a:srgbClr val="D9D9D9"/>
              </a:highlight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5"/>
          <p:cNvSpPr txBox="1"/>
          <p:nvPr/>
        </p:nvSpPr>
        <p:spPr>
          <a:xfrm>
            <a:off x="94075" y="94125"/>
            <a:ext cx="8956200" cy="48696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import numpy as np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from pylab import imshow, show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#from timeit import default_timer as timer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from time import  perf_counter_ns  as timer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from numba import cuda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from numba import *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@cuda.jit('f8, f8, uint32', device=True)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def mandel(x, y, max_iters):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c = complex(x, y)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z = 0.0j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for i in range(max_iters):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z = z*z + c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if (z.real*z.real + z.imag*z.imag) &gt;= 4: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return i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return max_iters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6"/>
          <p:cNvSpPr txBox="1"/>
          <p:nvPr/>
        </p:nvSpPr>
        <p:spPr>
          <a:xfrm>
            <a:off x="141050" y="94025"/>
            <a:ext cx="8909100" cy="48381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@cuda.jit('f8, f8, f8, f8, uint8[:,:], uint32')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def create_fractal(min_x, max_x, min_y, max_y, image, iters):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height = image.shape[0]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#размерности двумерного массива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width = image.shape[1]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pixel_size_x = (max_x - min_x) / width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pixel_size_y = (max_y - min_y) / height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startX, startY = cuda.grid(2) #threadIdx.x+blockDim.x*blockIdx.x,...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gridX = cuda.gridDim.x * cuda.blockDim.x;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gridY = cuda.gridDim.y * cuda.blockDim.y;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for x in range(startX, width, gridX): #если width&gt;gridX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real = min_x + x * pixel_size_x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for y in range(startY, height, gridY):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  imag = min_y + y * pixel_size_y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  image[y, x] = mandel(real, imag, iters)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7"/>
          <p:cNvSpPr txBox="1"/>
          <p:nvPr/>
        </p:nvSpPr>
        <p:spPr>
          <a:xfrm>
            <a:off x="167475" y="30475"/>
            <a:ext cx="8733300" cy="50361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image = np.zeros((1024, 1536), dtype = np.uint8)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blockdim = (32, 8)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griddim = (32,16)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d_image = cuda.to_device(image)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create_fractal[griddim, blockdim](-2.0, 1.0, -1.0, 1.0, d_image, 20)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cuda.synchronize()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start = timer()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d_image = cuda.to_device(image)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create_fractal[griddim, blockdim](-2.0, 1.0, -1.0, 1.0, d_image, 20)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cuda.synchronize()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dt = timer() - start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dt/=1000000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print ("Mandelbrot created in %f ms" % dt)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imshow(d_image)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show()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8"/>
          <p:cNvSpPr txBox="1"/>
          <p:nvPr/>
        </p:nvSpPr>
        <p:spPr>
          <a:xfrm>
            <a:off x="184700" y="100800"/>
            <a:ext cx="8875500" cy="10158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/Lab10&gt; python mandel_cuda.py</a:t>
            </a:r>
            <a:endParaRPr sz="2000">
              <a:solidFill>
                <a:schemeClr val="dk1"/>
              </a:solidFill>
              <a:highlight>
                <a:srgbClr val="D9D9D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Mandelbrot created in 2.216281 ms</a:t>
            </a:r>
            <a:endParaRPr sz="2000">
              <a:solidFill>
                <a:schemeClr val="dk1"/>
              </a:solidFill>
              <a:highlight>
                <a:srgbClr val="D9D9D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8"/>
          <p:cNvSpPr txBox="1"/>
          <p:nvPr/>
        </p:nvSpPr>
        <p:spPr>
          <a:xfrm>
            <a:off x="218250" y="1191375"/>
            <a:ext cx="8875500" cy="23241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D9D9D9"/>
                </a:highlight>
              </a:rPr>
              <a:t>/Lab10&gt; nvprof python mandel_cuda.py </a:t>
            </a:r>
            <a:endParaRPr sz="1900">
              <a:solidFill>
                <a:schemeClr val="dk1"/>
              </a:solidFill>
              <a:highlight>
                <a:srgbClr val="D9D9D9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FFFFFF"/>
                </a:highlight>
              </a:rPr>
              <a:t>     Type  Time(%)      Time     Calls       Avg       Min       Max  Name</a:t>
            </a:r>
            <a:endParaRPr sz="19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</a:rPr>
              <a:t>GPU activities:   93.77%  4.3107ms         2  2.1554ms  2.1450ms  2.1657ms  cudapy::__main__::</a:t>
            </a:r>
            <a:r>
              <a:rPr b="1" lang="en" sz="1900">
                <a:solidFill>
                  <a:srgbClr val="FF0000"/>
                </a:solidFill>
              </a:rPr>
              <a:t>create_fractal</a:t>
            </a:r>
            <a:r>
              <a:rPr lang="en" sz="1900">
                <a:solidFill>
                  <a:schemeClr val="dk1"/>
                </a:solidFill>
              </a:rPr>
              <a:t>$242(double, double, double, double, Array&lt;unsigned char, int=2, A, mutable, aligned&gt;, unsigned int)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dk1"/>
              </a:solidFill>
              <a:highlight>
                <a:srgbClr val="D9D9D9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9" name="Google Shape;139;p29"/>
          <p:cNvGraphicFramePr/>
          <p:nvPr/>
        </p:nvGraphicFramePr>
        <p:xfrm>
          <a:off x="345250" y="1276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{565912C6-7A2B-4274-8E4C-CFBD94822C2C}</a:tableStyleId>
              </a:tblPr>
              <a:tblGrid>
                <a:gridCol w="2716775"/>
                <a:gridCol w="3250025"/>
                <a:gridCol w="2542950"/>
              </a:tblGrid>
              <a:tr h="572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100"/>
                        <a:t>Технология</a:t>
                      </a:r>
                      <a:endParaRPr b="1" sz="2100"/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100"/>
                        <a:t>Время выполнения </a:t>
                      </a:r>
                      <a:r>
                        <a:rPr b="1" i="1" lang="en" sz="2100"/>
                        <a:t>мс</a:t>
                      </a:r>
                      <a:endParaRPr b="1" i="1" sz="2100"/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100"/>
                        <a:t>Ускорение</a:t>
                      </a:r>
                      <a:endParaRPr b="1" sz="2100"/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</a:tr>
              <a:tr h="472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Python интерпретатор</a:t>
                      </a:r>
                      <a:endParaRPr sz="1900"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  <a:highlight>
                            <a:srgbClr val="D9D9D9"/>
                          </a:highlight>
                        </a:rPr>
                        <a:t>3332.90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1</a:t>
                      </a:r>
                      <a:endParaRPr sz="1900"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</a:tr>
              <a:tr h="472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highlight>
                            <a:srgbClr val="B7B7B7"/>
                          </a:highlight>
                        </a:rPr>
                        <a:t>Numba jit</a:t>
                      </a:r>
                      <a:endParaRPr sz="1900">
                        <a:highlight>
                          <a:srgbClr val="B7B7B7"/>
                        </a:highlight>
                      </a:endParaRPr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  <a:highlight>
                            <a:srgbClr val="B7B7B7"/>
                          </a:highlight>
                        </a:rPr>
                        <a:t>250.15</a:t>
                      </a:r>
                      <a:endParaRPr>
                        <a:highlight>
                          <a:srgbClr val="B7B7B7"/>
                        </a:highlight>
                      </a:endParaRPr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13.32</a:t>
                      </a:r>
                      <a:endParaRPr sz="1900"/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</a:tr>
              <a:tr h="472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/>
                        <a:t>CUDA</a:t>
                      </a:r>
                      <a:endParaRPr sz="1900"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900">
                          <a:solidFill>
                            <a:schemeClr val="dk1"/>
                          </a:solidFill>
                        </a:rPr>
                        <a:t>2.16</a:t>
                      </a:r>
                      <a:endParaRPr sz="1900"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/>
                        <a:t>1543.01</a:t>
                      </a:r>
                      <a:endParaRPr b="1" sz="1900"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OI_THEME_TEMPLATE_DESIGN">
  <a:themeElements>
    <a:clrScheme name="POI_THEME_TEMPLATE_DESIGN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CC99"/>
      </a:accent4>
      <a:accent5>
        <a:srgbClr val="3333CC"/>
      </a:accent5>
      <a:accent6>
        <a:srgbClr val="FFFFFF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