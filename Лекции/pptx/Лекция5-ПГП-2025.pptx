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f3b9f2b1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f3b9f2b1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0f3b9f2b1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0f3b9f2b1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0f3b9f2b1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0f3b9f2b1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f3b9f2b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f3b9f2b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8dbbb56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8dbbb56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b63e3ecc9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b63e3ecc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0f3b9f2b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0f3b9f2b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f3b9f2b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0f3b9f2b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8dbbb56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8dbbb56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0f3b9f2b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0f3b9f2b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f3b9f2b1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0f3b9f2b1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f3b9f2b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f3b9f2b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b63e3ecc9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b63e3ecc9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b63e3ecc9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b63e3ecc9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0f3b9f2b1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0f3b9f2b1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f3b9f2b1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0f3b9f2b1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f3b9f2b1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f3b9f2b1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f3b9f2b1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0f3b9f2b1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0f3b9f2b1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0f3b9f2b1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bd3c8bfa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3bd3c8bfa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bd3c8bfa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3bd3c8bfa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docs.nvidia.com/cuda/archive/11.2.0/cuda-c-programming-guide/" TargetMode="External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5</a:t>
            </a:r>
            <a:endParaRPr b="1" sz="3600"/>
          </a:p>
        </p:txBody>
      </p:sp>
      <p:sp>
        <p:nvSpPr>
          <p:cNvPr id="66" name="Google Shape;66;p15"/>
          <p:cNvSpPr txBox="1"/>
          <p:nvPr/>
        </p:nvSpPr>
        <p:spPr>
          <a:xfrm>
            <a:off x="323700" y="1498850"/>
            <a:ext cx="8715600" cy="142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Объединение нитей в блоки и варпы.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Оптимальная конфигурация нитей.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Иерархия памяти.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52400"/>
            <a:ext cx="758498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54425" y="995225"/>
            <a:ext cx="9013500" cy="2955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1800">
              <a:solidFill>
                <a:srgbClr val="B21818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1800">
              <a:solidFill>
                <a:srgbClr val="B21818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gShowIdx() {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idx = </a:t>
            </a:r>
            <a:r>
              <a:rPr lang="en" sz="18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blockIdx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 * </a:t>
            </a:r>
            <a:r>
              <a:rPr lang="en" sz="18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blockDim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 + </a:t>
            </a:r>
            <a:r>
              <a:rPr lang="en" sz="18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warp_idx = </a:t>
            </a:r>
            <a:r>
              <a:rPr lang="en" sz="18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 / warpSize;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lane_idx = </a:t>
            </a:r>
            <a:r>
              <a:rPr lang="en" sz="18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 % warpSize;</a:t>
            </a:r>
            <a:endParaRPr sz="1800">
              <a:solidFill>
                <a:srgbClr val="1818B2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printf(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" sz="18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%5d\t%5d\t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%2d\t%2d\n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idx, </a:t>
            </a:r>
            <a:r>
              <a:rPr lang="en" sz="18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blockIdx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.x, warp_idx, lane_idx);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140675" y="151175"/>
            <a:ext cx="8852700" cy="4340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main(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argc,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** argv){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AF5F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(argc &lt; 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fprintf(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     "USAGE: &lt;prog&gt; &lt;threads_per_block&gt; &lt;num_of_blocks&gt;</a:t>
            </a:r>
            <a:r>
              <a:rPr lang="en" sz="18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AF5F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threads_per_block=atoi(argv[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num_of_blocks=atoi(argv[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gShowIdx&lt;&lt;&lt;num_of_blocks, threads_per_block&gt;&gt;&gt;();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cudaDeviceSynchronize();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AF5F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261250" y="363850"/>
            <a:ext cx="19293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   Idx   blk  wrp  lane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9900"/>
                </a:solidFill>
              </a:rPr>
              <a:t>   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b="1" lang="en">
                <a:solidFill>
                  <a:srgbClr val="0000FF"/>
                </a:solidFill>
              </a:rPr>
              <a:t> 0	    0	  0	 0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     1	    0	  0	 1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     2	    0	  0	 2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 ………………………     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    30	    0	  0	30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    31	    0	  0	31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    32	    0	  1	 0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    33	    0	  1	 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    34	    0	  1	 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   ……………………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    62	    0	  1	30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    63	    0	  1	31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6D7A8"/>
                </a:solidFill>
              </a:rPr>
              <a:t> </a:t>
            </a:r>
            <a:r>
              <a:rPr b="1" lang="en">
                <a:solidFill>
                  <a:srgbClr val="6AA84F"/>
                </a:solidFill>
              </a:rPr>
              <a:t>   64	    1	  0	 0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    65	    1	  0	 1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    ……………………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    95	    1	  0	31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90000"/>
                </a:solidFill>
              </a:rPr>
              <a:t>    96	    1	  1	 0</a:t>
            </a:r>
            <a:endParaRPr b="1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90000"/>
                </a:solidFill>
              </a:rPr>
              <a:t>    97	    1	  1	 1</a:t>
            </a:r>
            <a:endParaRPr b="1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00"/>
                </a:solidFill>
              </a:rPr>
              <a:t>………………………..</a:t>
            </a:r>
            <a:endParaRPr b="1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00"/>
                </a:solidFill>
              </a:rPr>
              <a:t>   127	    1	  1	31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3275775" y="93400"/>
            <a:ext cx="5707500" cy="76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./lab4a 64 2 | sort -g -k1,1 -k2,2 -k4,4 &gt; stat.txt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171200" y="352850"/>
            <a:ext cx="888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667450"/>
            <a:ext cx="8003355" cy="171823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135350" y="3850675"/>
            <a:ext cx="8768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Кол-во варпов % 32 ==0 &amp;&amp;   Кол-во варпов / 32  &gt; 1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Кол-во блоков &gt;= Кол-во мультипроцессоров</a:t>
            </a:r>
            <a:endParaRPr/>
          </a:p>
        </p:txBody>
      </p:sp>
      <p:sp>
        <p:nvSpPr>
          <p:cNvPr id="95" name="Google Shape;95;p20"/>
          <p:cNvSpPr txBox="1"/>
          <p:nvPr/>
        </p:nvSpPr>
        <p:spPr>
          <a:xfrm>
            <a:off x="990600" y="76200"/>
            <a:ext cx="7086600" cy="78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/>
              <a:t>Оптимальное количество нитей в блоках</a:t>
            </a:r>
            <a:endParaRPr b="1"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" sz="2100"/>
              <a:t>(сокрытие латентности)</a:t>
            </a:r>
            <a:endParaRPr b="1" i="1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228600"/>
            <a:ext cx="721795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140675" y="433"/>
            <a:ext cx="89130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Detected 1 CUDA Capable device(s)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Device 0: "NVIDIA GeForce RTX 2060"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CUDA Driver Version / Runtime Version          12.0 / 11.1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CUDA Capability Major/Minor version number:    7.5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) Multiprocessors, (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) CUDA Cores/MP:     1920 CUDA Cores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…………………………………………………………………………………………………………………………….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Memory Clock rate:                             7001 Mhz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Memory Bus Width:                              192-bit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L2 Cache Size:                                 3145728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Total amount of constant memory:               65536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Total amount of shared memory per block:       49152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Total shared memory per multiprocessor:        65536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Total number of registers available per block: 65536</a:t>
            </a:r>
            <a:endParaRPr sz="1800">
              <a:solidFill>
                <a:schemeClr val="dk1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Warp size:                                     32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Maximum number of threads per multiprocessor:  1024</a:t>
            </a:r>
            <a:endParaRPr sz="1800">
              <a:solidFill>
                <a:schemeClr val="dk1"/>
              </a:solidFill>
              <a:highlight>
                <a:srgbClr val="D9EA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Maximum number of threads per block:           1024</a:t>
            </a:r>
            <a:endParaRPr sz="2100">
              <a:highlight>
                <a:srgbClr val="C0C3A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140680" y="8818"/>
            <a:ext cx="8842500" cy="5171700"/>
          </a:xfrm>
          <a:prstGeom prst="rect">
            <a:avLst/>
          </a:prstGeom>
          <a:noFill/>
          <a:ln cap="flat" cmpd="sng" w="9525">
            <a:solidFill>
              <a:srgbClr val="C0C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Detected 2 CUDA Capable device(s)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Device 0: "GeForce GTX 1050"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CUDA Driver Version / Runtime Version          9.1 / 9.1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CUDA Capability Major/Minor version number:    6.1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(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) Multiprocessors, (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) CUDA Cores/MP:     640 CUDA Cores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Memory Clock rate:                             3504 Mhz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Memory Bus Width:                              128-bit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L2 Cache Size:                                 1048576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………………………………………………………………………………………………………………………………………………………………………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Total amount of constant memory:               65536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Total amount of shared memory per block:       49152 bytes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Total number of registers available per block: 65536</a:t>
            </a:r>
            <a:endParaRPr sz="1800">
              <a:solidFill>
                <a:schemeClr val="dk1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Warp size:                                     32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Maximum number of threads per multiprocessor:  2048</a:t>
            </a:r>
            <a:endParaRPr sz="1800">
              <a:solidFill>
                <a:schemeClr val="dk1"/>
              </a:solidFill>
              <a:highlight>
                <a:srgbClr val="D9EA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Maximum number of threads per block:           1024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………………………………………………………………………………………………………………………………………………………………….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86000"/>
            <a:ext cx="8839201" cy="26737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/>
          <p:nvPr/>
        </p:nvSpPr>
        <p:spPr>
          <a:xfrm>
            <a:off x="175850" y="103900"/>
            <a:ext cx="881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https://docs.nvidia.com/cuda/archive/11.2.0/cuda-c-programming-guide/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highlight>
                  <a:srgbClr val="C0C3A1"/>
                </a:highlight>
              </a:rPr>
              <a:t>index.html#compute-capabilities</a:t>
            </a:r>
            <a:endParaRPr sz="2000">
              <a:highlight>
                <a:srgbClr val="C0C3A1"/>
              </a:highlight>
            </a:endParaRPr>
          </a:p>
        </p:txBody>
      </p:sp>
      <p:pic>
        <p:nvPicPr>
          <p:cNvPr id="117" name="Google Shape;11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19200"/>
            <a:ext cx="8839201" cy="80142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/>
        </p:nvSpPr>
        <p:spPr>
          <a:xfrm>
            <a:off x="7406225" y="1707200"/>
            <a:ext cx="496500" cy="2761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/>
        </p:nvSpPr>
        <p:spPr>
          <a:xfrm>
            <a:off x="200975" y="110975"/>
            <a:ext cx="8721900" cy="1416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gSum(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* a,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*b){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i=</a:t>
            </a:r>
            <a:r>
              <a:rPr lang="en" sz="20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.x+</a:t>
            </a:r>
            <a:r>
              <a:rPr lang="en" sz="20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blockIdx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.x*</a:t>
            </a:r>
            <a:r>
              <a:rPr lang="en" sz="20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blockDim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a[i]+=b[i];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251200" y="1767275"/>
            <a:ext cx="8671800" cy="1631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N=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&lt;&lt;atoi(argv[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num_threads=atoi(argv[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num_blocks=N/num_threads;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5"/>
          <p:cNvSpPr txBox="1"/>
          <p:nvPr/>
        </p:nvSpPr>
        <p:spPr>
          <a:xfrm>
            <a:off x="261250" y="3597750"/>
            <a:ext cx="8671800" cy="1108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gSum&lt;&lt;&lt;num_blocks, num_threads&gt;&gt;&gt;(a,b);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cudaDeviceSynchronize();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CUDA_CHECK_RETURN(cudaGetLastError());</a:t>
            </a:r>
            <a:endParaRPr sz="23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>
          <a:xfrm>
            <a:off x="130625" y="3275375"/>
            <a:ext cx="8792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Section: Occupancy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----------------------------------------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Theoretical Occupancy  %              50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Achieved Occupancy     %           33.63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221075" y="1426475"/>
            <a:ext cx="875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gSum(int *, int *), 2023-Feb-20 17:05:19, Context 1, Stream 7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Section: GPU Speed Of Light Throughput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--------------------------------------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Duration          usecond         69.38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--------------------------------------</a:t>
            </a:r>
            <a:endParaRPr sz="2100">
              <a:highlight>
                <a:srgbClr val="C0C3A1"/>
              </a:highlight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261250" y="261700"/>
            <a:ext cx="85209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5454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/Lab4 #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ncu --target-processes all -k gSum ./lab4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20  32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130625" y="3275375"/>
            <a:ext cx="8792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Section: Occupancy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----------------------------------------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Theoretical Occupancy  %             100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Achieved Occupancy     %           79.17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221075" y="1426475"/>
            <a:ext cx="875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gSum(int *, int *), 2023-Feb-20 17:05:19, Context 1, Stream 7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Section: GPU Speed Of Light Throughput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--------------------------------------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Duration          usecond         42.78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--------------------------------------</a:t>
            </a:r>
            <a:endParaRPr sz="2100">
              <a:highlight>
                <a:srgbClr val="C0C3A1"/>
              </a:highlight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261250" y="261700"/>
            <a:ext cx="85209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5454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/Lab4 #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ncu --target-processes all -k gSum ./lab4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20  64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200" y="586775"/>
            <a:ext cx="517207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926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190925" y="161225"/>
            <a:ext cx="8802300" cy="395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#define DUMMY_LENGTH 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102</a:t>
            </a:r>
            <a:r>
              <a:rPr lang="en" sz="20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gInit(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* a,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* b){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i=</a:t>
            </a:r>
            <a:r>
              <a:rPr lang="en" sz="20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.x+</a:t>
            </a:r>
            <a:r>
              <a:rPr lang="en" sz="20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blockIdx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.x*</a:t>
            </a:r>
            <a:r>
              <a:rPr lang="en" sz="2000">
                <a:solidFill>
                  <a:srgbClr val="18B2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blockDim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.x;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dummy[DUMMY_LENGTH];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AF5F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2000">
                <a:solidFill>
                  <a:srgbClr val="18B2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j=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;j&lt;DUMMY_LENGTH;j++)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dummy[j]=j%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a[i]=dummy[DUMMY_LENGTH-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]*i;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b[i]=dummy[DUMMY_LENGTH-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]*i+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/>
        </p:nvSpPr>
        <p:spPr>
          <a:xfrm>
            <a:off x="6209875" y="1668475"/>
            <a:ext cx="1497300" cy="738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быдло-код</a:t>
            </a:r>
            <a:r>
              <a:rPr b="1" lang="en" sz="1800"/>
              <a:t>😜</a:t>
            </a:r>
            <a:endParaRPr b="1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170825" y="1578875"/>
            <a:ext cx="8852700" cy="267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Invocations  Metric Name  Metric Description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Min       Max       Avg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Device "GeForce GTX 1050 (0)"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Kernel: gInit(int*,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     local_memory_overhead  Local Memory Overhead   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										  98.11%    98.11%    98.11%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Kernel: gSum(int*,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 1    local_memory_overhead  Local Memory Overhead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0.00%     0.00%    0.00%</a:t>
            </a:r>
            <a:endParaRPr/>
          </a:p>
        </p:txBody>
      </p:sp>
      <p:sp>
        <p:nvSpPr>
          <p:cNvPr id="161" name="Google Shape;161;p31"/>
          <p:cNvSpPr txBox="1"/>
          <p:nvPr/>
        </p:nvSpPr>
        <p:spPr>
          <a:xfrm>
            <a:off x="170800" y="723925"/>
            <a:ext cx="88527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/PGP-2023&gt;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nvprof -m local_memory_overhead ./lab4 20 32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/>
        </p:nvSpPr>
        <p:spPr>
          <a:xfrm>
            <a:off x="190925" y="402375"/>
            <a:ext cx="8802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Type            Time(%)    Time  Calls  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Avg      Min       Max   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6400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GPU activities:   83.15%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4.3196ms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1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4.3196ms  4.3196ms  4.3196ms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5486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gInit(int*,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4.67%  242.60us  1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242.60us   242.60us  242.60us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5486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gSum(int*,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/>
        </p:nvSpPr>
        <p:spPr>
          <a:xfrm>
            <a:off x="170825" y="1578875"/>
            <a:ext cx="8852700" cy="267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Invocations  Metric Name  Metric Description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Min       Max       Avg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Device "GeForce GTX 1050 (0)"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Kernel: gInit(int*,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     local_memory_overhead  Local Memory Overhead   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										  0.00%    0.00%    0.00%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Kernel: gSum(int*,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 1    local_memory_overhead  Local Memory Overhead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0.00%     0.00%    0.00%</a:t>
            </a:r>
            <a:endParaRPr/>
          </a:p>
        </p:txBody>
      </p:sp>
      <p:sp>
        <p:nvSpPr>
          <p:cNvPr id="172" name="Google Shape;172;p33"/>
          <p:cNvSpPr txBox="1"/>
          <p:nvPr/>
        </p:nvSpPr>
        <p:spPr>
          <a:xfrm>
            <a:off x="170800" y="723925"/>
            <a:ext cx="88527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/PGP-2023&gt;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nvprof -m local_memory_overhead ./lab4 20 32</a:t>
            </a:r>
            <a:endParaRPr b="1"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73" name="Google Shape;173;p33"/>
          <p:cNvSpPr txBox="1"/>
          <p:nvPr/>
        </p:nvSpPr>
        <p:spPr>
          <a:xfrm>
            <a:off x="144875" y="110975"/>
            <a:ext cx="675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B218B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#define DUMMY_LENGTH </a:t>
            </a:r>
            <a:r>
              <a:rPr lang="en" sz="2000">
                <a:solidFill>
                  <a:srgbClr val="B2181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101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/>
        </p:nvSpPr>
        <p:spPr>
          <a:xfrm>
            <a:off x="190925" y="402375"/>
            <a:ext cx="8802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Type            Time(%)    Time  Calls  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Avg      Min       Max   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6400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GPU activities:   16.67%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173.67us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1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173.67u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s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173.67us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173.67us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5486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gInit(int*,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23.26%  </a:t>
            </a: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242.25us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1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242.25us   242.25us  242.25us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5486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  <a:latin typeface="Courier New"/>
                <a:ea typeface="Courier New"/>
                <a:cs typeface="Courier New"/>
                <a:sym typeface="Courier New"/>
              </a:rPr>
              <a:t>gSum(int*, int*)</a:t>
            </a:r>
            <a:endParaRPr sz="1800">
              <a:solidFill>
                <a:schemeClr val="dk1"/>
              </a:solidFill>
              <a:highlight>
                <a:srgbClr val="C0C3A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35"/>
          <p:cNvGrpSpPr/>
          <p:nvPr/>
        </p:nvGrpSpPr>
        <p:grpSpPr>
          <a:xfrm>
            <a:off x="936875" y="2489200"/>
            <a:ext cx="6735900" cy="475800"/>
            <a:chOff x="251075" y="965200"/>
            <a:chExt cx="6735900" cy="475800"/>
          </a:xfrm>
        </p:grpSpPr>
        <p:grpSp>
          <p:nvGrpSpPr>
            <p:cNvPr id="184" name="Google Shape;184;p35"/>
            <p:cNvGrpSpPr/>
            <p:nvPr/>
          </p:nvGrpSpPr>
          <p:grpSpPr>
            <a:xfrm>
              <a:off x="251075" y="965200"/>
              <a:ext cx="2168400" cy="475800"/>
              <a:chOff x="251075" y="965200"/>
              <a:chExt cx="2168400" cy="475800"/>
            </a:xfrm>
          </p:grpSpPr>
          <p:sp>
            <p:nvSpPr>
              <p:cNvPr id="185" name="Google Shape;185;p35"/>
              <p:cNvSpPr/>
              <p:nvPr/>
            </p:nvSpPr>
            <p:spPr>
              <a:xfrm>
                <a:off x="2510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0</a:t>
                </a:r>
                <a:endParaRPr baseline="-25000" sz="1800"/>
              </a:p>
            </p:txBody>
          </p:sp>
          <p:sp>
            <p:nvSpPr>
              <p:cNvPr id="186" name="Google Shape;186;p35"/>
              <p:cNvSpPr/>
              <p:nvPr/>
            </p:nvSpPr>
            <p:spPr>
              <a:xfrm>
                <a:off x="7844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1</a:t>
                </a:r>
                <a:endParaRPr baseline="-25000" sz="1800"/>
              </a:p>
            </p:txBody>
          </p:sp>
          <p:sp>
            <p:nvSpPr>
              <p:cNvPr id="187" name="Google Shape;187;p35"/>
              <p:cNvSpPr/>
              <p:nvPr/>
            </p:nvSpPr>
            <p:spPr>
              <a:xfrm>
                <a:off x="13178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2</a:t>
                </a:r>
                <a:endParaRPr baseline="-25000" sz="1800"/>
              </a:p>
            </p:txBody>
          </p:sp>
          <p:sp>
            <p:nvSpPr>
              <p:cNvPr id="188" name="Google Shape;188;p35"/>
              <p:cNvSpPr/>
              <p:nvPr/>
            </p:nvSpPr>
            <p:spPr>
              <a:xfrm>
                <a:off x="18512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3</a:t>
                </a:r>
                <a:endParaRPr baseline="-25000" sz="1800"/>
              </a:p>
            </p:txBody>
          </p:sp>
        </p:grpSp>
        <p:grpSp>
          <p:nvGrpSpPr>
            <p:cNvPr id="189" name="Google Shape;189;p35"/>
            <p:cNvGrpSpPr/>
            <p:nvPr/>
          </p:nvGrpSpPr>
          <p:grpSpPr>
            <a:xfrm>
              <a:off x="2460875" y="965200"/>
              <a:ext cx="2168400" cy="475800"/>
              <a:chOff x="251075" y="965200"/>
              <a:chExt cx="2168400" cy="475800"/>
            </a:xfrm>
          </p:grpSpPr>
          <p:sp>
            <p:nvSpPr>
              <p:cNvPr id="190" name="Google Shape;190;p35"/>
              <p:cNvSpPr/>
              <p:nvPr/>
            </p:nvSpPr>
            <p:spPr>
              <a:xfrm>
                <a:off x="2510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4</a:t>
                </a:r>
                <a:endParaRPr baseline="-25000" sz="1800"/>
              </a:p>
            </p:txBody>
          </p:sp>
          <p:sp>
            <p:nvSpPr>
              <p:cNvPr id="191" name="Google Shape;191;p35"/>
              <p:cNvSpPr/>
              <p:nvPr/>
            </p:nvSpPr>
            <p:spPr>
              <a:xfrm>
                <a:off x="7844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5</a:t>
                </a:r>
                <a:endParaRPr baseline="-25000" sz="1800"/>
              </a:p>
            </p:txBody>
          </p:sp>
          <p:sp>
            <p:nvSpPr>
              <p:cNvPr id="192" name="Google Shape;192;p35"/>
              <p:cNvSpPr/>
              <p:nvPr/>
            </p:nvSpPr>
            <p:spPr>
              <a:xfrm>
                <a:off x="13178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6</a:t>
                </a:r>
                <a:endParaRPr baseline="-25000" sz="1800"/>
              </a:p>
            </p:txBody>
          </p:sp>
          <p:sp>
            <p:nvSpPr>
              <p:cNvPr id="193" name="Google Shape;193;p35"/>
              <p:cNvSpPr/>
              <p:nvPr/>
            </p:nvSpPr>
            <p:spPr>
              <a:xfrm>
                <a:off x="1851275" y="965200"/>
                <a:ext cx="568200" cy="475800"/>
              </a:xfrm>
              <a:prstGeom prst="rect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  a</a:t>
                </a:r>
                <a:r>
                  <a:rPr baseline="-25000" lang="en" sz="1800"/>
                  <a:t>7</a:t>
                </a:r>
                <a:endParaRPr baseline="-25000" sz="1800"/>
              </a:p>
            </p:txBody>
          </p:sp>
        </p:grpSp>
        <p:sp>
          <p:nvSpPr>
            <p:cNvPr id="194" name="Google Shape;194;p35"/>
            <p:cNvSpPr/>
            <p:nvPr/>
          </p:nvSpPr>
          <p:spPr>
            <a:xfrm>
              <a:off x="4670675" y="9652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8</a:t>
              </a:r>
              <a:endParaRPr baseline="-25000" sz="1800"/>
            </a:p>
          </p:txBody>
        </p:sp>
        <p:sp>
          <p:nvSpPr>
            <p:cNvPr id="195" name="Google Shape;195;p35"/>
            <p:cNvSpPr/>
            <p:nvPr/>
          </p:nvSpPr>
          <p:spPr>
            <a:xfrm>
              <a:off x="5204075" y="9652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9</a:t>
              </a:r>
              <a:endParaRPr baseline="-25000" sz="1800"/>
            </a:p>
          </p:txBody>
        </p:sp>
        <p:sp>
          <p:nvSpPr>
            <p:cNvPr id="196" name="Google Shape;196;p35"/>
            <p:cNvSpPr/>
            <p:nvPr/>
          </p:nvSpPr>
          <p:spPr>
            <a:xfrm>
              <a:off x="5737475" y="965200"/>
              <a:ext cx="6399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10</a:t>
              </a:r>
              <a:endParaRPr baseline="-25000" sz="1800"/>
            </a:p>
          </p:txBody>
        </p:sp>
        <p:sp>
          <p:nvSpPr>
            <p:cNvPr id="197" name="Google Shape;197;p35"/>
            <p:cNvSpPr/>
            <p:nvPr/>
          </p:nvSpPr>
          <p:spPr>
            <a:xfrm>
              <a:off x="6347075" y="965200"/>
              <a:ext cx="6399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11</a:t>
              </a:r>
              <a:endParaRPr baseline="-25000" sz="1800"/>
            </a:p>
          </p:txBody>
        </p:sp>
      </p:grpSp>
      <p:grpSp>
        <p:nvGrpSpPr>
          <p:cNvPr id="198" name="Google Shape;198;p35"/>
          <p:cNvGrpSpPr/>
          <p:nvPr/>
        </p:nvGrpSpPr>
        <p:grpSpPr>
          <a:xfrm>
            <a:off x="936875" y="3632200"/>
            <a:ext cx="6888300" cy="475800"/>
            <a:chOff x="251075" y="1955800"/>
            <a:chExt cx="6888300" cy="475800"/>
          </a:xfrm>
        </p:grpSpPr>
        <p:sp>
          <p:nvSpPr>
            <p:cNvPr id="199" name="Google Shape;199;p35"/>
            <p:cNvSpPr/>
            <p:nvPr/>
          </p:nvSpPr>
          <p:spPr>
            <a:xfrm>
              <a:off x="2510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0</a:t>
              </a:r>
              <a:endParaRPr baseline="-25000" sz="1800"/>
            </a:p>
          </p:txBody>
        </p:sp>
        <p:sp>
          <p:nvSpPr>
            <p:cNvPr id="200" name="Google Shape;200;p35"/>
            <p:cNvSpPr/>
            <p:nvPr/>
          </p:nvSpPr>
          <p:spPr>
            <a:xfrm>
              <a:off x="7844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4</a:t>
              </a:r>
              <a:endParaRPr baseline="-25000" sz="1800"/>
            </a:p>
          </p:txBody>
        </p:sp>
        <p:sp>
          <p:nvSpPr>
            <p:cNvPr id="201" name="Google Shape;201;p35"/>
            <p:cNvSpPr/>
            <p:nvPr/>
          </p:nvSpPr>
          <p:spPr>
            <a:xfrm>
              <a:off x="13178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8</a:t>
              </a:r>
              <a:endParaRPr baseline="-25000" sz="1800"/>
            </a:p>
          </p:txBody>
        </p:sp>
        <p:sp>
          <p:nvSpPr>
            <p:cNvPr id="202" name="Google Shape;202;p35"/>
            <p:cNvSpPr/>
            <p:nvPr/>
          </p:nvSpPr>
          <p:spPr>
            <a:xfrm>
              <a:off x="19274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</a:t>
              </a:r>
              <a:endParaRPr baseline="-25000" sz="1800"/>
            </a:p>
          </p:txBody>
        </p:sp>
        <p:sp>
          <p:nvSpPr>
            <p:cNvPr id="203" name="Google Shape;203;p35"/>
            <p:cNvSpPr/>
            <p:nvPr/>
          </p:nvSpPr>
          <p:spPr>
            <a:xfrm>
              <a:off x="24608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5</a:t>
              </a:r>
              <a:endParaRPr baseline="-25000" sz="1800"/>
            </a:p>
          </p:txBody>
        </p:sp>
        <p:sp>
          <p:nvSpPr>
            <p:cNvPr id="204" name="Google Shape;204;p35"/>
            <p:cNvSpPr/>
            <p:nvPr/>
          </p:nvSpPr>
          <p:spPr>
            <a:xfrm>
              <a:off x="29942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9</a:t>
              </a:r>
              <a:endParaRPr baseline="-25000" sz="1800"/>
            </a:p>
          </p:txBody>
        </p:sp>
        <p:sp>
          <p:nvSpPr>
            <p:cNvPr id="205" name="Google Shape;205;p35"/>
            <p:cNvSpPr/>
            <p:nvPr/>
          </p:nvSpPr>
          <p:spPr>
            <a:xfrm>
              <a:off x="36038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2</a:t>
              </a:r>
              <a:endParaRPr baseline="-25000" sz="1800"/>
            </a:p>
          </p:txBody>
        </p:sp>
        <p:sp>
          <p:nvSpPr>
            <p:cNvPr id="206" name="Google Shape;206;p35"/>
            <p:cNvSpPr/>
            <p:nvPr/>
          </p:nvSpPr>
          <p:spPr>
            <a:xfrm>
              <a:off x="41372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6</a:t>
              </a:r>
              <a:endParaRPr baseline="-25000" sz="1800"/>
            </a:p>
          </p:txBody>
        </p:sp>
        <p:sp>
          <p:nvSpPr>
            <p:cNvPr id="207" name="Google Shape;207;p35"/>
            <p:cNvSpPr/>
            <p:nvPr/>
          </p:nvSpPr>
          <p:spPr>
            <a:xfrm>
              <a:off x="4670675" y="1955800"/>
              <a:ext cx="6399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10</a:t>
              </a:r>
              <a:endParaRPr baseline="-25000" sz="1800"/>
            </a:p>
          </p:txBody>
        </p:sp>
        <p:sp>
          <p:nvSpPr>
            <p:cNvPr id="208" name="Google Shape;208;p35"/>
            <p:cNvSpPr/>
            <p:nvPr/>
          </p:nvSpPr>
          <p:spPr>
            <a:xfrm>
              <a:off x="5356475" y="19558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3</a:t>
              </a:r>
              <a:endParaRPr baseline="-25000" sz="1800"/>
            </a:p>
          </p:txBody>
        </p:sp>
        <p:sp>
          <p:nvSpPr>
            <p:cNvPr id="209" name="Google Shape;209;p35"/>
            <p:cNvSpPr/>
            <p:nvPr/>
          </p:nvSpPr>
          <p:spPr>
            <a:xfrm>
              <a:off x="5889875" y="1955800"/>
              <a:ext cx="6399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7</a:t>
              </a:r>
              <a:endParaRPr baseline="-25000" sz="1800"/>
            </a:p>
          </p:txBody>
        </p:sp>
        <p:sp>
          <p:nvSpPr>
            <p:cNvPr id="210" name="Google Shape;210;p35"/>
            <p:cNvSpPr/>
            <p:nvPr/>
          </p:nvSpPr>
          <p:spPr>
            <a:xfrm>
              <a:off x="6499475" y="1955800"/>
              <a:ext cx="6399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11</a:t>
              </a:r>
              <a:endParaRPr baseline="-25000" sz="1800"/>
            </a:p>
          </p:txBody>
        </p:sp>
      </p:grpSp>
      <p:cxnSp>
        <p:nvCxnSpPr>
          <p:cNvPr id="211" name="Google Shape;211;p35"/>
          <p:cNvCxnSpPr>
            <a:stCxn id="185" idx="2"/>
            <a:endCxn id="199" idx="0"/>
          </p:cNvCxnSpPr>
          <p:nvPr/>
        </p:nvCxnSpPr>
        <p:spPr>
          <a:xfrm>
            <a:off x="1220975" y="2965000"/>
            <a:ext cx="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35"/>
          <p:cNvCxnSpPr>
            <a:endCxn id="202" idx="0"/>
          </p:cNvCxnSpPr>
          <p:nvPr/>
        </p:nvCxnSpPr>
        <p:spPr>
          <a:xfrm>
            <a:off x="1678175" y="2965000"/>
            <a:ext cx="12192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5"/>
          <p:cNvCxnSpPr>
            <a:stCxn id="187" idx="2"/>
            <a:endCxn id="205" idx="0"/>
          </p:cNvCxnSpPr>
          <p:nvPr/>
        </p:nvCxnSpPr>
        <p:spPr>
          <a:xfrm>
            <a:off x="2287775" y="2965000"/>
            <a:ext cx="22860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5"/>
          <p:cNvCxnSpPr>
            <a:endCxn id="208" idx="0"/>
          </p:cNvCxnSpPr>
          <p:nvPr/>
        </p:nvCxnSpPr>
        <p:spPr>
          <a:xfrm>
            <a:off x="2821175" y="2965000"/>
            <a:ext cx="35052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5"/>
          <p:cNvCxnSpPr>
            <a:stCxn id="190" idx="2"/>
            <a:endCxn id="200" idx="0"/>
          </p:cNvCxnSpPr>
          <p:nvPr/>
        </p:nvCxnSpPr>
        <p:spPr>
          <a:xfrm flipH="1">
            <a:off x="1754375" y="2965000"/>
            <a:ext cx="16764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5"/>
          <p:cNvCxnSpPr>
            <a:stCxn id="191" idx="2"/>
            <a:endCxn id="203" idx="0"/>
          </p:cNvCxnSpPr>
          <p:nvPr/>
        </p:nvCxnSpPr>
        <p:spPr>
          <a:xfrm flipH="1">
            <a:off x="3430775" y="2965000"/>
            <a:ext cx="5334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5"/>
          <p:cNvCxnSpPr>
            <a:stCxn id="196" idx="2"/>
            <a:endCxn id="207" idx="0"/>
          </p:cNvCxnSpPr>
          <p:nvPr/>
        </p:nvCxnSpPr>
        <p:spPr>
          <a:xfrm flipH="1">
            <a:off x="5676425" y="2965000"/>
            <a:ext cx="10668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35"/>
          <p:cNvCxnSpPr>
            <a:stCxn id="197" idx="2"/>
            <a:endCxn id="210" idx="0"/>
          </p:cNvCxnSpPr>
          <p:nvPr/>
        </p:nvCxnSpPr>
        <p:spPr>
          <a:xfrm>
            <a:off x="7352825" y="2965000"/>
            <a:ext cx="1524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5"/>
          <p:cNvCxnSpPr>
            <a:stCxn id="192" idx="2"/>
            <a:endCxn id="206" idx="0"/>
          </p:cNvCxnSpPr>
          <p:nvPr/>
        </p:nvCxnSpPr>
        <p:spPr>
          <a:xfrm>
            <a:off x="4497575" y="2965000"/>
            <a:ext cx="6096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5"/>
          <p:cNvCxnSpPr>
            <a:stCxn id="193" idx="2"/>
            <a:endCxn id="209" idx="0"/>
          </p:cNvCxnSpPr>
          <p:nvPr/>
        </p:nvCxnSpPr>
        <p:spPr>
          <a:xfrm>
            <a:off x="5030975" y="2965000"/>
            <a:ext cx="18648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5"/>
          <p:cNvCxnSpPr>
            <a:stCxn id="194" idx="2"/>
            <a:endCxn id="201" idx="0"/>
          </p:cNvCxnSpPr>
          <p:nvPr/>
        </p:nvCxnSpPr>
        <p:spPr>
          <a:xfrm flipH="1">
            <a:off x="2287775" y="2965000"/>
            <a:ext cx="33528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5"/>
          <p:cNvCxnSpPr>
            <a:stCxn id="195" idx="2"/>
            <a:endCxn id="204" idx="0"/>
          </p:cNvCxnSpPr>
          <p:nvPr/>
        </p:nvCxnSpPr>
        <p:spPr>
          <a:xfrm flipH="1">
            <a:off x="3964175" y="2965000"/>
            <a:ext cx="22098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35"/>
          <p:cNvSpPr txBox="1"/>
          <p:nvPr/>
        </p:nvSpPr>
        <p:spPr>
          <a:xfrm>
            <a:off x="366900" y="2503725"/>
            <a:ext cx="29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a</a:t>
            </a:r>
            <a:endParaRPr b="1" sz="2200"/>
          </a:p>
        </p:txBody>
      </p:sp>
      <p:sp>
        <p:nvSpPr>
          <p:cNvPr id="224" name="Google Shape;224;p35"/>
          <p:cNvSpPr txBox="1"/>
          <p:nvPr/>
        </p:nvSpPr>
        <p:spPr>
          <a:xfrm>
            <a:off x="366900" y="3646725"/>
            <a:ext cx="29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b</a:t>
            </a:r>
            <a:endParaRPr b="1" sz="2200"/>
          </a:p>
        </p:txBody>
      </p:sp>
      <p:sp>
        <p:nvSpPr>
          <p:cNvPr id="225" name="Google Shape;225;p35"/>
          <p:cNvSpPr txBox="1"/>
          <p:nvPr/>
        </p:nvSpPr>
        <p:spPr>
          <a:xfrm>
            <a:off x="330350" y="1159000"/>
            <a:ext cx="82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Провести копирование массива </a:t>
            </a:r>
            <a:r>
              <a:rPr b="1" i="1" lang="en" sz="2000"/>
              <a:t>a</a:t>
            </a:r>
            <a:r>
              <a:rPr b="1" lang="en" sz="2000"/>
              <a:t>, включающего </a:t>
            </a:r>
            <a:r>
              <a:rPr b="1" i="1" lang="en" sz="2000"/>
              <a:t>N </a:t>
            </a:r>
            <a:r>
              <a:rPr b="1" lang="en" sz="2000"/>
              <a:t>векторов длины </a:t>
            </a:r>
            <a:r>
              <a:rPr b="1" i="1" lang="en" sz="2000"/>
              <a:t>K</a:t>
            </a:r>
            <a:r>
              <a:rPr b="1" lang="en" sz="2000"/>
              <a:t> по образцу, приведенному на диаграмме:</a:t>
            </a:r>
            <a:endParaRPr b="1" sz="2000"/>
          </a:p>
        </p:txBody>
      </p:sp>
      <p:sp>
        <p:nvSpPr>
          <p:cNvPr id="226" name="Google Shape;226;p35"/>
          <p:cNvSpPr txBox="1"/>
          <p:nvPr/>
        </p:nvSpPr>
        <p:spPr>
          <a:xfrm>
            <a:off x="332825" y="274325"/>
            <a:ext cx="2360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Лабораторная 5</a:t>
            </a:r>
            <a:endParaRPr b="1" i="1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36"/>
          <p:cNvGrpSpPr/>
          <p:nvPr/>
        </p:nvGrpSpPr>
        <p:grpSpPr>
          <a:xfrm>
            <a:off x="6208775" y="684625"/>
            <a:ext cx="1782900" cy="1847400"/>
            <a:chOff x="6818375" y="2513425"/>
            <a:chExt cx="1782900" cy="1847400"/>
          </a:xfrm>
        </p:grpSpPr>
        <p:sp>
          <p:nvSpPr>
            <p:cNvPr id="232" name="Google Shape;232;p36"/>
            <p:cNvSpPr/>
            <p:nvPr/>
          </p:nvSpPr>
          <p:spPr>
            <a:xfrm>
              <a:off x="6818375" y="25134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0</a:t>
              </a:r>
              <a:endParaRPr baseline="-25000" sz="180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7351775" y="25134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4</a:t>
              </a:r>
              <a:endParaRPr baseline="-25000" sz="180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7885175" y="2513425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8</a:t>
              </a:r>
              <a:endParaRPr baseline="-25000" sz="1800"/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6818375" y="29706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</a:t>
              </a:r>
              <a:endParaRPr baseline="-25000" sz="1800"/>
            </a:p>
          </p:txBody>
        </p:sp>
        <p:sp>
          <p:nvSpPr>
            <p:cNvPr id="236" name="Google Shape;236;p36"/>
            <p:cNvSpPr/>
            <p:nvPr/>
          </p:nvSpPr>
          <p:spPr>
            <a:xfrm>
              <a:off x="7351775" y="29706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5</a:t>
              </a:r>
              <a:endParaRPr baseline="-25000" sz="180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7885175" y="2970625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9</a:t>
              </a:r>
              <a:endParaRPr baseline="-25000" sz="180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6818375" y="34278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2</a:t>
              </a:r>
              <a:endParaRPr baseline="-25000" sz="180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7351775" y="34278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6</a:t>
              </a:r>
              <a:endParaRPr baseline="-25000" sz="1800"/>
            </a:p>
          </p:txBody>
        </p:sp>
        <p:sp>
          <p:nvSpPr>
            <p:cNvPr id="240" name="Google Shape;240;p36"/>
            <p:cNvSpPr/>
            <p:nvPr/>
          </p:nvSpPr>
          <p:spPr>
            <a:xfrm>
              <a:off x="7885175" y="3427825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10</a:t>
              </a:r>
              <a:endParaRPr baseline="-25000" sz="1800"/>
            </a:p>
          </p:txBody>
        </p:sp>
        <p:sp>
          <p:nvSpPr>
            <p:cNvPr id="241" name="Google Shape;241;p36"/>
            <p:cNvSpPr/>
            <p:nvPr/>
          </p:nvSpPr>
          <p:spPr>
            <a:xfrm>
              <a:off x="6818375" y="3885025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3</a:t>
              </a:r>
              <a:endParaRPr baseline="-25000" sz="180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7351775" y="3885025"/>
              <a:ext cx="5334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7</a:t>
              </a:r>
              <a:endParaRPr baseline="-25000" sz="180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7885175" y="3885025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11</a:t>
              </a:r>
              <a:endParaRPr baseline="-25000" sz="1800"/>
            </a:p>
          </p:txBody>
        </p:sp>
      </p:grpSp>
      <p:grpSp>
        <p:nvGrpSpPr>
          <p:cNvPr id="244" name="Google Shape;244;p36"/>
          <p:cNvGrpSpPr/>
          <p:nvPr/>
        </p:nvGrpSpPr>
        <p:grpSpPr>
          <a:xfrm>
            <a:off x="708275" y="812800"/>
            <a:ext cx="2320800" cy="1390200"/>
            <a:chOff x="251075" y="965200"/>
            <a:chExt cx="2320800" cy="1390200"/>
          </a:xfrm>
        </p:grpSpPr>
        <p:sp>
          <p:nvSpPr>
            <p:cNvPr id="245" name="Google Shape;245;p36"/>
            <p:cNvSpPr/>
            <p:nvPr/>
          </p:nvSpPr>
          <p:spPr>
            <a:xfrm>
              <a:off x="251075" y="9652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0</a:t>
              </a:r>
              <a:endParaRPr baseline="-25000" sz="1800"/>
            </a:p>
          </p:txBody>
        </p:sp>
        <p:sp>
          <p:nvSpPr>
            <p:cNvPr id="246" name="Google Shape;246;p36"/>
            <p:cNvSpPr/>
            <p:nvPr/>
          </p:nvSpPr>
          <p:spPr>
            <a:xfrm>
              <a:off x="784475" y="9652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</a:t>
              </a:r>
              <a:endParaRPr baseline="-25000" sz="180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1317875" y="9652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2</a:t>
              </a:r>
              <a:endParaRPr baseline="-25000" sz="180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1851275" y="965200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3</a:t>
              </a:r>
              <a:endParaRPr baseline="-25000" sz="180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251075" y="14224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4</a:t>
              </a:r>
              <a:endParaRPr baseline="-25000" sz="1800"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784475" y="14224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5</a:t>
              </a:r>
              <a:endParaRPr baseline="-25000" sz="1800"/>
            </a:p>
          </p:txBody>
        </p:sp>
        <p:sp>
          <p:nvSpPr>
            <p:cNvPr id="251" name="Google Shape;251;p36"/>
            <p:cNvSpPr/>
            <p:nvPr/>
          </p:nvSpPr>
          <p:spPr>
            <a:xfrm>
              <a:off x="1317875" y="1422400"/>
              <a:ext cx="5334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6</a:t>
              </a:r>
              <a:endParaRPr baseline="-25000" sz="180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1855775" y="1422400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7</a:t>
              </a:r>
              <a:endParaRPr baseline="-25000" sz="180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251075" y="18796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8</a:t>
              </a:r>
              <a:endParaRPr baseline="-25000" sz="180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784475" y="1879600"/>
              <a:ext cx="5682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9</a:t>
              </a:r>
              <a:endParaRPr baseline="-25000" sz="1800"/>
            </a:p>
          </p:txBody>
        </p:sp>
        <p:sp>
          <p:nvSpPr>
            <p:cNvPr id="255" name="Google Shape;255;p36"/>
            <p:cNvSpPr/>
            <p:nvPr/>
          </p:nvSpPr>
          <p:spPr>
            <a:xfrm>
              <a:off x="1317875" y="1879600"/>
              <a:ext cx="6399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10</a:t>
              </a:r>
              <a:endParaRPr baseline="-25000" sz="1800"/>
            </a:p>
          </p:txBody>
        </p:sp>
        <p:sp>
          <p:nvSpPr>
            <p:cNvPr id="256" name="Google Shape;256;p36"/>
            <p:cNvSpPr/>
            <p:nvPr/>
          </p:nvSpPr>
          <p:spPr>
            <a:xfrm>
              <a:off x="1851275" y="1879600"/>
              <a:ext cx="716100" cy="4758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a</a:t>
              </a:r>
              <a:r>
                <a:rPr baseline="-25000" lang="en" sz="1800"/>
                <a:t>11</a:t>
              </a:r>
              <a:endParaRPr baseline="-25000" sz="1800"/>
            </a:p>
          </p:txBody>
        </p:sp>
      </p:grpSp>
      <p:sp>
        <p:nvSpPr>
          <p:cNvPr id="257" name="Google Shape;257;p36"/>
          <p:cNvSpPr/>
          <p:nvPr/>
        </p:nvSpPr>
        <p:spPr>
          <a:xfrm>
            <a:off x="3564675" y="1421075"/>
            <a:ext cx="1995300" cy="19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3323913" y="849800"/>
            <a:ext cx="259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Транспонирование</a:t>
            </a:r>
            <a:endParaRPr b="1" sz="2000"/>
          </a:p>
        </p:txBody>
      </p:sp>
      <p:sp>
        <p:nvSpPr>
          <p:cNvPr id="259" name="Google Shape;259;p36"/>
          <p:cNvSpPr txBox="1"/>
          <p:nvPr/>
        </p:nvSpPr>
        <p:spPr>
          <a:xfrm>
            <a:off x="1101675" y="2907650"/>
            <a:ext cx="6921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n=i/K,    k=i%N - двумерная индексация, матрица.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 a[k+n*K]  =&gt; a[n+k*N]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